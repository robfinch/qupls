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7" r:id="rId4"/>
    <p:sldId id="259" r:id="rId5"/>
    <p:sldId id="260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71E6C-3DAB-47EA-86FD-1D8E1661B80E}" v="6" dt="2025-11-08T01:38:28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custSel modSld">
      <pc:chgData name="Robert Finch" userId="360118edfabb5ba6" providerId="LiveId" clId="{940D50E2-FEDC-434C-83CF-A13052851249}" dt="2025-11-08T01:43:03.758" v="138" actId="167"/>
      <pc:docMkLst>
        <pc:docMk/>
      </pc:docMkLst>
      <pc:sldChg chg="addSp modSp mod">
        <pc:chgData name="Robert Finch" userId="360118edfabb5ba6" providerId="LiveId" clId="{940D50E2-FEDC-434C-83CF-A13052851249}" dt="2025-11-08T01:43:03.758" v="138" actId="167"/>
        <pc:sldMkLst>
          <pc:docMk/>
          <pc:sldMk cId="3493996368" sldId="256"/>
        </pc:sldMkLst>
        <pc:spChg chg="mod">
          <ac:chgData name="Robert Finch" userId="360118edfabb5ba6" providerId="LiveId" clId="{940D50E2-FEDC-434C-83CF-A13052851249}" dt="2025-11-08T01:36:43.557" v="115" actId="20577"/>
          <ac:spMkLst>
            <pc:docMk/>
            <pc:sldMk cId="3493996368" sldId="256"/>
            <ac:spMk id="2" creationId="{7730D39D-FAB4-71A0-50A9-AAFD49CFD457}"/>
          </ac:spMkLst>
        </pc:spChg>
        <pc:spChg chg="add mod ord">
          <ac:chgData name="Robert Finch" userId="360118edfabb5ba6" providerId="LiveId" clId="{940D50E2-FEDC-434C-83CF-A13052851249}" dt="2025-11-08T01:43:00.440" v="137" actId="167"/>
          <ac:spMkLst>
            <pc:docMk/>
            <pc:sldMk cId="3493996368" sldId="256"/>
            <ac:spMk id="3" creationId="{A96E320B-18AF-E5BE-A9B7-C628FE8AAB67}"/>
          </ac:spMkLst>
        </pc:spChg>
        <pc:spChg chg="mod">
          <ac:chgData name="Robert Finch" userId="360118edfabb5ba6" providerId="LiveId" clId="{940D50E2-FEDC-434C-83CF-A13052851249}" dt="2025-11-08T01:40:01.858" v="136" actId="1076"/>
          <ac:spMkLst>
            <pc:docMk/>
            <pc:sldMk cId="3493996368" sldId="256"/>
            <ac:spMk id="20" creationId="{33814D67-A90E-DB11-36FA-64E81BB2218A}"/>
          </ac:spMkLst>
        </pc:spChg>
        <pc:spChg chg="add mod ord">
          <ac:chgData name="Robert Finch" userId="360118edfabb5ba6" providerId="LiveId" clId="{940D50E2-FEDC-434C-83CF-A13052851249}" dt="2025-11-08T01:43:03.758" v="138" actId="167"/>
          <ac:spMkLst>
            <pc:docMk/>
            <pc:sldMk cId="3493996368" sldId="256"/>
            <ac:spMk id="21" creationId="{68E9CFA1-3825-4851-2C50-2193AC6FE028}"/>
          </ac:spMkLst>
        </pc:spChg>
        <pc:spChg chg="mod">
          <ac:chgData name="Robert Finch" userId="360118edfabb5ba6" providerId="LiveId" clId="{940D50E2-FEDC-434C-83CF-A13052851249}" dt="2025-11-08T01:38:48.685" v="134" actId="14100"/>
          <ac:spMkLst>
            <pc:docMk/>
            <pc:sldMk cId="3493996368" sldId="256"/>
            <ac:spMk id="67" creationId="{DAF83E3C-C7F5-1498-7118-082DC5426720}"/>
          </ac:spMkLst>
        </pc:spChg>
        <pc:spChg chg="mod">
          <ac:chgData name="Robert Finch" userId="360118edfabb5ba6" providerId="LiveId" clId="{940D50E2-FEDC-434C-83CF-A13052851249}" dt="2025-11-08T01:38:53.077" v="135" actId="1076"/>
          <ac:spMkLst>
            <pc:docMk/>
            <pc:sldMk cId="3493996368" sldId="256"/>
            <ac:spMk id="90" creationId="{3E8870B3-430D-D283-D86C-4C514A5BF941}"/>
          </ac:spMkLst>
        </pc:spChg>
      </pc:sldChg>
      <pc:sldChg chg="modSp mod">
        <pc:chgData name="Robert Finch" userId="360118edfabb5ba6" providerId="LiveId" clId="{940D50E2-FEDC-434C-83CF-A13052851249}" dt="2025-11-08T01:29:30.020" v="76" actId="20577"/>
        <pc:sldMkLst>
          <pc:docMk/>
          <pc:sldMk cId="2594290601" sldId="257"/>
        </pc:sldMkLst>
        <pc:spChg chg="mod">
          <ac:chgData name="Robert Finch" userId="360118edfabb5ba6" providerId="LiveId" clId="{940D50E2-FEDC-434C-83CF-A13052851249}" dt="2025-11-08T01:29:30.020" v="76" actId="20577"/>
          <ac:spMkLst>
            <pc:docMk/>
            <pc:sldMk cId="2594290601" sldId="257"/>
            <ac:spMk id="2" creationId="{922B9395-D48D-D2C9-3B68-4D26BC937E22}"/>
          </ac:spMkLst>
        </pc:spChg>
      </pc:sldChg>
      <pc:sldChg chg="addSp delSp modSp mod">
        <pc:chgData name="Robert Finch" userId="360118edfabb5ba6" providerId="LiveId" clId="{940D50E2-FEDC-434C-83CF-A13052851249}" dt="2025-11-08T01:34:54.717" v="95" actId="478"/>
        <pc:sldMkLst>
          <pc:docMk/>
          <pc:sldMk cId="2650679018" sldId="258"/>
        </pc:sldMkLst>
        <pc:spChg chg="mod">
          <ac:chgData name="Robert Finch" userId="360118edfabb5ba6" providerId="LiveId" clId="{940D50E2-FEDC-434C-83CF-A13052851249}" dt="2025-11-08T01:23:51.326" v="10" actId="20577"/>
          <ac:spMkLst>
            <pc:docMk/>
            <pc:sldMk cId="2650679018" sldId="258"/>
            <ac:spMk id="2" creationId="{589C157B-1C51-0E6E-C43E-CBBA43BA6BE8}"/>
          </ac:spMkLst>
        </pc:spChg>
        <pc:spChg chg="add del mod">
          <ac:chgData name="Robert Finch" userId="360118edfabb5ba6" providerId="LiveId" clId="{940D50E2-FEDC-434C-83CF-A13052851249}" dt="2025-11-08T01:34:53.212" v="94" actId="478"/>
          <ac:spMkLst>
            <pc:docMk/>
            <pc:sldMk cId="2650679018" sldId="258"/>
            <ac:spMk id="3" creationId="{D02FEEB8-26B9-D329-34CE-617076D7DA45}"/>
          </ac:spMkLst>
        </pc:spChg>
        <pc:spChg chg="mod">
          <ac:chgData name="Robert Finch" userId="360118edfabb5ba6" providerId="LiveId" clId="{940D50E2-FEDC-434C-83CF-A13052851249}" dt="2025-11-08T01:25:22.113" v="25" actId="14100"/>
          <ac:spMkLst>
            <pc:docMk/>
            <pc:sldMk cId="2650679018" sldId="258"/>
            <ac:spMk id="4" creationId="{ED9E9027-BDD8-40F6-C371-8BC28F2C3BAD}"/>
          </ac:spMkLst>
        </pc:spChg>
        <pc:spChg chg="mod">
          <ac:chgData name="Robert Finch" userId="360118edfabb5ba6" providerId="LiveId" clId="{940D50E2-FEDC-434C-83CF-A13052851249}" dt="2025-11-08T01:25:14.893" v="23" actId="1076"/>
          <ac:spMkLst>
            <pc:docMk/>
            <pc:sldMk cId="2650679018" sldId="258"/>
            <ac:spMk id="5" creationId="{C672087E-2142-B630-8F6A-5BC9C7EBB006}"/>
          </ac:spMkLst>
        </pc:spChg>
        <pc:spChg chg="mod">
          <ac:chgData name="Robert Finch" userId="360118edfabb5ba6" providerId="LiveId" clId="{940D50E2-FEDC-434C-83CF-A13052851249}" dt="2025-11-08T01:25:18.794" v="24" actId="1076"/>
          <ac:spMkLst>
            <pc:docMk/>
            <pc:sldMk cId="2650679018" sldId="258"/>
            <ac:spMk id="6" creationId="{449EF98E-5C8D-4F68-896A-FA1451A87E8F}"/>
          </ac:spMkLst>
        </pc:spChg>
        <pc:spChg chg="mod">
          <ac:chgData name="Robert Finch" userId="360118edfabb5ba6" providerId="LiveId" clId="{940D50E2-FEDC-434C-83CF-A13052851249}" dt="2025-11-08T01:28:32.679" v="49" actId="1076"/>
          <ac:spMkLst>
            <pc:docMk/>
            <pc:sldMk cId="2650679018" sldId="258"/>
            <ac:spMk id="7" creationId="{D2ED940B-FECC-5AFE-06CF-9E5B830F4097}"/>
          </ac:spMkLst>
        </pc:spChg>
        <pc:spChg chg="mod">
          <ac:chgData name="Robert Finch" userId="360118edfabb5ba6" providerId="LiveId" clId="{940D50E2-FEDC-434C-83CF-A13052851249}" dt="2025-11-08T01:23:59.573" v="12" actId="20577"/>
          <ac:spMkLst>
            <pc:docMk/>
            <pc:sldMk cId="2650679018" sldId="258"/>
            <ac:spMk id="12" creationId="{6F5C0FF4-A309-FD98-0F3D-7343E3539E19}"/>
          </ac:spMkLst>
        </pc:spChg>
        <pc:spChg chg="mod">
          <ac:chgData name="Robert Finch" userId="360118edfabb5ba6" providerId="LiveId" clId="{940D50E2-FEDC-434C-83CF-A13052851249}" dt="2025-11-08T01:24:06.452" v="14" actId="20577"/>
          <ac:spMkLst>
            <pc:docMk/>
            <pc:sldMk cId="2650679018" sldId="258"/>
            <ac:spMk id="13" creationId="{72840A09-4AC9-B5D4-618A-A9F35B8DDFDA}"/>
          </ac:spMkLst>
        </pc:spChg>
        <pc:spChg chg="mod">
          <ac:chgData name="Robert Finch" userId="360118edfabb5ba6" providerId="LiveId" clId="{940D50E2-FEDC-434C-83CF-A13052851249}" dt="2025-11-08T01:24:10.745" v="16" actId="20577"/>
          <ac:spMkLst>
            <pc:docMk/>
            <pc:sldMk cId="2650679018" sldId="258"/>
            <ac:spMk id="14" creationId="{F4F39427-84A3-4D39-9505-6877F7B36440}"/>
          </ac:spMkLst>
        </pc:spChg>
        <pc:spChg chg="mod">
          <ac:chgData name="Robert Finch" userId="360118edfabb5ba6" providerId="LiveId" clId="{940D50E2-FEDC-434C-83CF-A13052851249}" dt="2025-11-08T01:24:14.404" v="18" actId="20577"/>
          <ac:spMkLst>
            <pc:docMk/>
            <pc:sldMk cId="2650679018" sldId="258"/>
            <ac:spMk id="15" creationId="{BDAECFD9-FE9C-E2C7-8D42-FB8DDBD7BCDF}"/>
          </ac:spMkLst>
        </pc:spChg>
        <pc:spChg chg="add del mod">
          <ac:chgData name="Robert Finch" userId="360118edfabb5ba6" providerId="LiveId" clId="{940D50E2-FEDC-434C-83CF-A13052851249}" dt="2025-11-08T01:34:54.717" v="95" actId="478"/>
          <ac:spMkLst>
            <pc:docMk/>
            <pc:sldMk cId="2650679018" sldId="258"/>
            <ac:spMk id="39" creationId="{F04C13D4-2BB9-E3BC-D9C4-1789BABE8F84}"/>
          </ac:spMkLst>
        </pc:spChg>
        <pc:spChg chg="mod">
          <ac:chgData name="Robert Finch" userId="360118edfabb5ba6" providerId="LiveId" clId="{940D50E2-FEDC-434C-83CF-A13052851249}" dt="2025-11-08T01:28:45.458" v="59" actId="20577"/>
          <ac:spMkLst>
            <pc:docMk/>
            <pc:sldMk cId="2650679018" sldId="258"/>
            <ac:spMk id="42" creationId="{03CE8FF0-7A85-E9A2-3D8D-2E0A8C026A36}"/>
          </ac:spMkLst>
        </pc:spChg>
        <pc:spChg chg="add del mod">
          <ac:chgData name="Robert Finch" userId="360118edfabb5ba6" providerId="LiveId" clId="{940D50E2-FEDC-434C-83CF-A13052851249}" dt="2025-11-08T01:34:51.820" v="93" actId="478"/>
          <ac:spMkLst>
            <pc:docMk/>
            <pc:sldMk cId="2650679018" sldId="258"/>
            <ac:spMk id="43" creationId="{9C1F6D9A-F2F8-DAB7-C7B6-9DC8B7A78856}"/>
          </ac:spMkLst>
        </pc:spChg>
        <pc:spChg chg="add del mod">
          <ac:chgData name="Robert Finch" userId="360118edfabb5ba6" providerId="LiveId" clId="{940D50E2-FEDC-434C-83CF-A13052851249}" dt="2025-11-08T01:34:50.317" v="92" actId="478"/>
          <ac:spMkLst>
            <pc:docMk/>
            <pc:sldMk cId="2650679018" sldId="258"/>
            <ac:spMk id="44" creationId="{F6B80966-A70A-77ED-63D9-A6C3B6EC7A7B}"/>
          </ac:spMkLst>
        </pc:spChg>
      </pc:sldChg>
      <pc:sldChg chg="modSp mod">
        <pc:chgData name="Robert Finch" userId="360118edfabb5ba6" providerId="LiveId" clId="{940D50E2-FEDC-434C-83CF-A13052851249}" dt="2025-11-08T01:30:23.150" v="85" actId="20577"/>
        <pc:sldMkLst>
          <pc:docMk/>
          <pc:sldMk cId="2694914445" sldId="259"/>
        </pc:sldMkLst>
        <pc:spChg chg="mod">
          <ac:chgData name="Robert Finch" userId="360118edfabb5ba6" providerId="LiveId" clId="{940D50E2-FEDC-434C-83CF-A13052851249}" dt="2025-11-08T01:30:23.150" v="85" actId="20577"/>
          <ac:spMkLst>
            <pc:docMk/>
            <pc:sldMk cId="2694914445" sldId="259"/>
            <ac:spMk id="2" creationId="{8C0E7671-DA3D-5C66-D0DC-22B672A22041}"/>
          </ac:spMkLst>
        </pc:spChg>
      </pc:sldChg>
      <pc:sldChg chg="modSp mod">
        <pc:chgData name="Robert Finch" userId="360118edfabb5ba6" providerId="LiveId" clId="{940D50E2-FEDC-434C-83CF-A13052851249}" dt="2025-11-08T01:35:15.750" v="106" actId="20577"/>
        <pc:sldMkLst>
          <pc:docMk/>
          <pc:sldMk cId="522921597" sldId="260"/>
        </pc:sldMkLst>
        <pc:spChg chg="mod">
          <ac:chgData name="Robert Finch" userId="360118edfabb5ba6" providerId="LiveId" clId="{940D50E2-FEDC-434C-83CF-A13052851249}" dt="2025-11-08T01:35:15.750" v="106" actId="20577"/>
          <ac:spMkLst>
            <pc:docMk/>
            <pc:sldMk cId="522921597" sldId="260"/>
            <ac:spMk id="2" creationId="{F8A33C03-86BC-47B3-352E-CEAFA8E49E87}"/>
          </ac:spMkLst>
        </pc:spChg>
      </pc:sldChg>
      <pc:sldChg chg="modSp mod">
        <pc:chgData name="Robert Finch" userId="360118edfabb5ba6" providerId="LiveId" clId="{940D50E2-FEDC-434C-83CF-A13052851249}" dt="2025-11-08T01:34:40.229" v="91" actId="20577"/>
        <pc:sldMkLst>
          <pc:docMk/>
          <pc:sldMk cId="3556507299" sldId="261"/>
        </pc:sldMkLst>
        <pc:spChg chg="mod">
          <ac:chgData name="Robert Finch" userId="360118edfabb5ba6" providerId="LiveId" clId="{940D50E2-FEDC-434C-83CF-A13052851249}" dt="2025-11-08T01:28:10.718" v="44" actId="20577"/>
          <ac:spMkLst>
            <pc:docMk/>
            <pc:sldMk cId="3556507299" sldId="261"/>
            <ac:spMk id="2" creationId="{3EA856E3-2BBA-5D07-B63B-437151994B7F}"/>
          </ac:spMkLst>
        </pc:spChg>
        <pc:spChg chg="mod">
          <ac:chgData name="Robert Finch" userId="360118edfabb5ba6" providerId="LiveId" clId="{940D50E2-FEDC-434C-83CF-A13052851249}" dt="2025-11-08T01:34:35.348" v="88" actId="20577"/>
          <ac:spMkLst>
            <pc:docMk/>
            <pc:sldMk cId="3556507299" sldId="261"/>
            <ac:spMk id="6" creationId="{65363119-AB2F-1D87-FF03-6872379676B1}"/>
          </ac:spMkLst>
        </pc:spChg>
        <pc:spChg chg="mod">
          <ac:chgData name="Robert Finch" userId="360118edfabb5ba6" providerId="LiveId" clId="{940D50E2-FEDC-434C-83CF-A13052851249}" dt="2025-11-08T01:34:40.229" v="91" actId="20577"/>
          <ac:spMkLst>
            <pc:docMk/>
            <pc:sldMk cId="3556507299" sldId="261"/>
            <ac:spMk id="7" creationId="{BD40131C-599A-B7F8-B65E-6D317ECE80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6490-D614-A8CB-7DB7-3271B6478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3FC3B-9505-A47F-B397-467EE70F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624A-391D-7111-86D4-44C8A7ED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A4B66-14B1-5AA4-7D07-58ED0ED3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4DB1C-E437-51AA-4C3F-F0530F3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64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EC4C-38E2-BBCA-8A17-405E9EC1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23F0-9457-5B1C-FD7D-B1DD1C41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EC5C-6B9D-40AB-294E-EB28507D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A8570-30B7-A639-0A85-0F9FC3EA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B6B5-84CB-9EB4-4F1E-BAB853BE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315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E2DE-F0AC-7B15-E174-EDE58D1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11AD8-A793-F81F-29F8-32FDE016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71482-B338-5B33-A511-FFA6B536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F2379-3C6C-3A78-111A-F546B5AE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5C49B-C931-F503-61BB-2BC13F32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956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6B90-C3FB-6F3A-3B2A-7AD980A3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3820-9A34-FDE7-53CC-BC9050B38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58245-133F-21EA-653C-341DADB64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DA37F-15A0-BA87-C014-B9FDF89B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6C402-1E65-11D8-97C7-2E405BB8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40B9F-B5F5-7053-7E13-AB31BA4A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79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3F6C-5669-CB08-7C1E-412B8DAA5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334BF-5925-6C2A-B106-6C4B55D1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A510-E286-BE24-976A-FDDB35D26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959AE-4F60-F4A5-8DEA-F78C98687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2DAE4-5E3F-066D-0B41-BA78389A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A2574-9054-FC1F-F56B-D4640730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C6F26C-42B0-66B7-8BA0-75E7DE30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95BF5-3B0A-8F62-B506-8B5D9487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07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AC97-B1EC-E3DE-E43E-CE7C979A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82C9-AA59-231E-8903-30E27FE6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260F2-19D6-7F70-33F6-68412478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6E0C-9902-EC0C-83F2-97668575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40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D97EE-3A0F-A174-3909-C4F8CE51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4890E-0CBD-F23F-3336-CF2DF2BB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112B8-863C-D58B-A7E2-EC3E852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18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7FF0-8C32-3538-727A-B7C8EFD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64D33-E760-8022-B60D-19329E660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068B4-B41F-E848-F5F3-637299114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78F3F-8F51-745E-FDA5-A6D51BEA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4A95E-7936-5440-0D19-171B732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4EF21-15FB-78CD-FEE9-FEBF516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52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3631-269D-34E8-BD84-0BC6E388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116F2-C072-D0B7-462A-A60AE375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B3203-5E72-703E-5F3D-99B299D12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F3F82-45EC-C5C6-3758-2310AAAC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E7D9-BB96-9C78-960C-1D850829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A3CD1-72F2-8FF8-7FE0-D8AFBE72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75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8BE9-E6C6-3AAA-F89A-BC2F7941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D36A8-29C0-6F5A-553D-28D7B22F6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F120-9C8E-0CB7-A817-E5726421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1A581-A8B7-A707-21B3-F39FF934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A4F5-5D92-F65B-7A59-5BD915D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1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2EA1E-1FDB-D0F0-2397-2FC080E9C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C960-EFFA-5180-B9AA-37AD2CE3E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F87B-AC45-B324-6356-0E975180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26DF4-AE9F-50BF-EF79-5DF9D2BE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2D18-65CE-FDDC-B447-D7D0A462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513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2D023-412C-F186-25B5-BEE2C42A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0CC8F-1C86-B2FF-8924-772CC40BC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15E8-475D-38E8-BF78-D5176C800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21942-3650-429E-A73C-F40215CD596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8D2FD-7492-FDE1-B877-142260010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D6ADB-CAFA-804B-7236-FC51FAB7E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08A5-EC6F-4FAC-9C1A-7DBC3A03B9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735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56E3-2BBA-5D07-B63B-43715199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7" y="42396"/>
            <a:ext cx="10515600" cy="1325563"/>
          </a:xfrm>
        </p:spPr>
        <p:txBody>
          <a:bodyPr/>
          <a:lstStyle/>
          <a:p>
            <a:r>
              <a:rPr lang="en-US" dirty="0"/>
              <a:t>Qupls2026: Instruction Fetch Stage (*_</a:t>
            </a:r>
            <a:r>
              <a:rPr lang="en-US" dirty="0" err="1"/>
              <a:t>fet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50904-077D-5FC2-7AB1-C49535A041E3}"/>
              </a:ext>
            </a:extLst>
          </p:cNvPr>
          <p:cNvSpPr/>
          <p:nvPr/>
        </p:nvSpPr>
        <p:spPr>
          <a:xfrm>
            <a:off x="1536537" y="2550458"/>
            <a:ext cx="3803374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NOP mux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AABD2-ECF9-D337-C112-E72F9E946EF0}"/>
              </a:ext>
            </a:extLst>
          </p:cNvPr>
          <p:cNvSpPr txBox="1"/>
          <p:nvPr/>
        </p:nvSpPr>
        <p:spPr>
          <a:xfrm>
            <a:off x="1850173" y="1754153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instruction cache output</a:t>
            </a:r>
            <a:endParaRPr lang="en-CA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65363119-AB2F-1D87-FF03-6872379676B1}"/>
              </a:ext>
            </a:extLst>
          </p:cNvPr>
          <p:cNvSpPr/>
          <p:nvPr/>
        </p:nvSpPr>
        <p:spPr>
          <a:xfrm>
            <a:off x="2333718" y="2232406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512b</a:t>
            </a:r>
            <a:endParaRPr lang="en-CA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D40131C-599A-B7F8-B65E-6D317ECE80A6}"/>
              </a:ext>
            </a:extLst>
          </p:cNvPr>
          <p:cNvSpPr/>
          <p:nvPr/>
        </p:nvSpPr>
        <p:spPr>
          <a:xfrm>
            <a:off x="2366696" y="2868510"/>
            <a:ext cx="2143055" cy="3180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512b</a:t>
            </a:r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BEF7F3-C2E7-B393-61D1-56B5D079A9E8}"/>
              </a:ext>
            </a:extLst>
          </p:cNvPr>
          <p:cNvSpPr/>
          <p:nvPr/>
        </p:nvSpPr>
        <p:spPr>
          <a:xfrm>
            <a:off x="666311" y="2638804"/>
            <a:ext cx="870226" cy="1413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EADDD-5211-5925-216B-A66FC96FCA2C}"/>
              </a:ext>
            </a:extLst>
          </p:cNvPr>
          <p:cNvSpPr txBox="1"/>
          <p:nvPr/>
        </p:nvSpPr>
        <p:spPr>
          <a:xfrm>
            <a:off x="330233" y="2456132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Cache miss</a:t>
            </a:r>
            <a:endParaRPr lang="en-CA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734D53-D496-B931-1171-07BDEB374809}"/>
              </a:ext>
            </a:extLst>
          </p:cNvPr>
          <p:cNvCxnSpPr>
            <a:cxnSpLocks/>
          </p:cNvCxnSpPr>
          <p:nvPr/>
        </p:nvCxnSpPr>
        <p:spPr>
          <a:xfrm>
            <a:off x="666311" y="3181458"/>
            <a:ext cx="4951896" cy="51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9BB289-6F5F-F9B1-18BE-10DC25BF7F3D}"/>
              </a:ext>
            </a:extLst>
          </p:cNvPr>
          <p:cNvSpPr txBox="1"/>
          <p:nvPr/>
        </p:nvSpPr>
        <p:spPr>
          <a:xfrm>
            <a:off x="4736201" y="2971238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80C8-07F1-767C-4F1A-AF0A912BE46F}"/>
              </a:ext>
            </a:extLst>
          </p:cNvPr>
          <p:cNvSpPr txBox="1"/>
          <p:nvPr/>
        </p:nvSpPr>
        <p:spPr>
          <a:xfrm>
            <a:off x="6210136" y="1721609"/>
            <a:ext cx="5560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primary function of the fetch stage is to register the instruction cache output which is unregistered.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there is a cache miss, NOPs are inserted into the pipeline.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5650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Right 29">
            <a:extLst>
              <a:ext uri="{FF2B5EF4-FFF2-40B4-BE49-F238E27FC236}">
                <a16:creationId xmlns:a16="http://schemas.microsoft.com/office/drawing/2014/main" id="{EC8FD731-006D-9392-BA7E-6C81F749273D}"/>
              </a:ext>
            </a:extLst>
          </p:cNvPr>
          <p:cNvSpPr/>
          <p:nvPr/>
        </p:nvSpPr>
        <p:spPr>
          <a:xfrm flipH="1">
            <a:off x="1908519" y="3650939"/>
            <a:ext cx="2596765" cy="119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C157B-1C51-0E6E-C43E-CBBA43BA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Qupls2026: Instruction Extract Stage (*_mux)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E9027-BDD8-40F6-C371-8BC28F2C3BAD}"/>
              </a:ext>
            </a:extLst>
          </p:cNvPr>
          <p:cNvSpPr/>
          <p:nvPr/>
        </p:nvSpPr>
        <p:spPr>
          <a:xfrm>
            <a:off x="1107372" y="2465834"/>
            <a:ext cx="3999782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Instruction Aligner</a:t>
            </a:r>
            <a:endParaRPr lang="en-CA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2087E-2142-B630-8F6A-5BC9C7EBB006}"/>
              </a:ext>
            </a:extLst>
          </p:cNvPr>
          <p:cNvSpPr txBox="1"/>
          <p:nvPr/>
        </p:nvSpPr>
        <p:spPr>
          <a:xfrm>
            <a:off x="120791" y="2465834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PC[5:2]</a:t>
            </a:r>
            <a:endParaRPr lang="en-CA" sz="11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49EF98E-5C8D-4F68-896A-FA1451A87E8F}"/>
              </a:ext>
            </a:extLst>
          </p:cNvPr>
          <p:cNvSpPr/>
          <p:nvPr/>
        </p:nvSpPr>
        <p:spPr>
          <a:xfrm>
            <a:off x="678886" y="2539642"/>
            <a:ext cx="388728" cy="1384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2ED940B-FECC-5AFE-06CF-9E5B830F4097}"/>
              </a:ext>
            </a:extLst>
          </p:cNvPr>
          <p:cNvSpPr/>
          <p:nvPr/>
        </p:nvSpPr>
        <p:spPr>
          <a:xfrm>
            <a:off x="2154128" y="2096883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1024</a:t>
            </a:r>
            <a:endParaRPr lang="en-CA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6668B-8EB3-48D2-42FF-7FC2CCF7F3E5}"/>
              </a:ext>
            </a:extLst>
          </p:cNvPr>
          <p:cNvSpPr/>
          <p:nvPr/>
        </p:nvSpPr>
        <p:spPr>
          <a:xfrm>
            <a:off x="4524058" y="3083922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6022-A4BE-40D7-EABF-0A19BD6EA9F1}"/>
              </a:ext>
            </a:extLst>
          </p:cNvPr>
          <p:cNvSpPr/>
          <p:nvPr/>
        </p:nvSpPr>
        <p:spPr>
          <a:xfrm>
            <a:off x="3863658" y="3083919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#1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499CB-1C4C-9C30-8C3D-35EC44909A91}"/>
              </a:ext>
            </a:extLst>
          </p:cNvPr>
          <p:cNvSpPr/>
          <p:nvPr/>
        </p:nvSpPr>
        <p:spPr>
          <a:xfrm>
            <a:off x="3203258" y="3083918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#2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D479D-A626-EA12-6778-37C1986598D7}"/>
              </a:ext>
            </a:extLst>
          </p:cNvPr>
          <p:cNvSpPr/>
          <p:nvPr/>
        </p:nvSpPr>
        <p:spPr>
          <a:xfrm>
            <a:off x="2542858" y="3080605"/>
            <a:ext cx="583096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</a:t>
            </a:r>
          </a:p>
          <a:p>
            <a:pPr algn="ctr"/>
            <a:r>
              <a:rPr lang="en-US" sz="1000" dirty="0"/>
              <a:t>Ins #3</a:t>
            </a:r>
            <a:endParaRPr lang="en-CA" sz="10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F5C0FF4-A309-FD98-0F3D-7343E3539E19}"/>
              </a:ext>
            </a:extLst>
          </p:cNvPr>
          <p:cNvSpPr/>
          <p:nvPr/>
        </p:nvSpPr>
        <p:spPr>
          <a:xfrm>
            <a:off x="4505285" y="2766217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2840A09-4AC9-B5D4-618A-A9F35B8DDFDA}"/>
              </a:ext>
            </a:extLst>
          </p:cNvPr>
          <p:cNvSpPr/>
          <p:nvPr/>
        </p:nvSpPr>
        <p:spPr>
          <a:xfrm>
            <a:off x="3844885" y="277545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4F39427-84A3-4D39-9505-6877F7B36440}"/>
              </a:ext>
            </a:extLst>
          </p:cNvPr>
          <p:cNvSpPr/>
          <p:nvPr/>
        </p:nvSpPr>
        <p:spPr>
          <a:xfrm>
            <a:off x="3184485" y="2773219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DAECFD9-FE9C-E2C7-8D42-FB8DDBD7BCDF}"/>
              </a:ext>
            </a:extLst>
          </p:cNvPr>
          <p:cNvSpPr/>
          <p:nvPr/>
        </p:nvSpPr>
        <p:spPr>
          <a:xfrm>
            <a:off x="2524085" y="278022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48</a:t>
            </a:r>
            <a:endParaRPr lang="en-CA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AACC6D-5F10-9476-6AF7-25E7D777913C}"/>
              </a:ext>
            </a:extLst>
          </p:cNvPr>
          <p:cNvSpPr/>
          <p:nvPr/>
        </p:nvSpPr>
        <p:spPr>
          <a:xfrm>
            <a:off x="2542858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#3</a:t>
            </a:r>
            <a:endParaRPr lang="en-CA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4BF74-CFF6-951A-87EC-16B2A330A5A0}"/>
              </a:ext>
            </a:extLst>
          </p:cNvPr>
          <p:cNvSpPr/>
          <p:nvPr/>
        </p:nvSpPr>
        <p:spPr>
          <a:xfrm>
            <a:off x="4517433" y="3470439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#0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928937-A9AD-DE98-8A49-0F15062A99DD}"/>
              </a:ext>
            </a:extLst>
          </p:cNvPr>
          <p:cNvSpPr/>
          <p:nvPr/>
        </p:nvSpPr>
        <p:spPr>
          <a:xfrm>
            <a:off x="3863658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#1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55A60A-01AE-6211-2F8A-CA5112759DAE}"/>
              </a:ext>
            </a:extLst>
          </p:cNvPr>
          <p:cNvSpPr/>
          <p:nvPr/>
        </p:nvSpPr>
        <p:spPr>
          <a:xfrm>
            <a:off x="3201050" y="3470438"/>
            <a:ext cx="620642" cy="48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Branch Decode #2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CB261E-026D-6907-AD30-CF0B591A724F}"/>
              </a:ext>
            </a:extLst>
          </p:cNvPr>
          <p:cNvSpPr/>
          <p:nvPr/>
        </p:nvSpPr>
        <p:spPr>
          <a:xfrm>
            <a:off x="2542858" y="4238718"/>
            <a:ext cx="5643217" cy="3003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4x 2:1 Mux</a:t>
            </a:r>
            <a:endParaRPr lang="en-CA" sz="11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7AC94DC-C20E-D6B4-9F48-7D1A03BE529B}"/>
              </a:ext>
            </a:extLst>
          </p:cNvPr>
          <p:cNvSpPr/>
          <p:nvPr/>
        </p:nvSpPr>
        <p:spPr>
          <a:xfrm>
            <a:off x="5523495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7410A97-68B3-BA68-1F2B-03A50AB57151}"/>
              </a:ext>
            </a:extLst>
          </p:cNvPr>
          <p:cNvSpPr/>
          <p:nvPr/>
        </p:nvSpPr>
        <p:spPr>
          <a:xfrm>
            <a:off x="6177270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43D22A6-B987-CA04-9B06-E76C61084009}"/>
              </a:ext>
            </a:extLst>
          </p:cNvPr>
          <p:cNvSpPr/>
          <p:nvPr/>
        </p:nvSpPr>
        <p:spPr>
          <a:xfrm>
            <a:off x="6831046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3ACE3A7-C2C0-1890-474B-30518BBE8882}"/>
              </a:ext>
            </a:extLst>
          </p:cNvPr>
          <p:cNvSpPr/>
          <p:nvPr/>
        </p:nvSpPr>
        <p:spPr>
          <a:xfrm>
            <a:off x="7484822" y="3936502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215621A-79D3-2B7B-FC60-D55C0FCEA00D}"/>
              </a:ext>
            </a:extLst>
          </p:cNvPr>
          <p:cNvSpPr/>
          <p:nvPr/>
        </p:nvSpPr>
        <p:spPr>
          <a:xfrm>
            <a:off x="4505285" y="3951181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BFAFD0E-DD28-429F-60D4-DE976D8D29A4}"/>
              </a:ext>
            </a:extLst>
          </p:cNvPr>
          <p:cNvSpPr/>
          <p:nvPr/>
        </p:nvSpPr>
        <p:spPr>
          <a:xfrm>
            <a:off x="3863657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B30CE28-37BB-4E0F-2446-CA1F48B6C715}"/>
              </a:ext>
            </a:extLst>
          </p:cNvPr>
          <p:cNvSpPr/>
          <p:nvPr/>
        </p:nvSpPr>
        <p:spPr>
          <a:xfrm>
            <a:off x="3201050" y="3955274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F6B60F17-07FB-8592-78A6-C5510BDA87CA}"/>
              </a:ext>
            </a:extLst>
          </p:cNvPr>
          <p:cNvSpPr/>
          <p:nvPr/>
        </p:nvSpPr>
        <p:spPr>
          <a:xfrm>
            <a:off x="2561633" y="3951181"/>
            <a:ext cx="620642" cy="3003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A98C63-63B3-A1FF-5571-81171558DEEC}"/>
              </a:ext>
            </a:extLst>
          </p:cNvPr>
          <p:cNvSpPr txBox="1"/>
          <p:nvPr/>
        </p:nvSpPr>
        <p:spPr>
          <a:xfrm>
            <a:off x="5293125" y="3572309"/>
            <a:ext cx="3075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from micro-code machine</a:t>
            </a:r>
            <a:endParaRPr lang="en-CA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10116E-5EA6-D599-32FD-6193DFFAC637}"/>
              </a:ext>
            </a:extLst>
          </p:cNvPr>
          <p:cNvSpPr txBox="1"/>
          <p:nvPr/>
        </p:nvSpPr>
        <p:spPr>
          <a:xfrm>
            <a:off x="678886" y="3559952"/>
            <a:ext cx="1220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To next PC logic</a:t>
            </a:r>
            <a:endParaRPr lang="en-CA" sz="12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55ABA037-99DD-FB58-5BC7-38EFDB9FAED6}"/>
              </a:ext>
            </a:extLst>
          </p:cNvPr>
          <p:cNvSpPr/>
          <p:nvPr/>
        </p:nvSpPr>
        <p:spPr>
          <a:xfrm>
            <a:off x="936693" y="4709598"/>
            <a:ext cx="1943652" cy="3666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Cache line in 512</a:t>
            </a:r>
            <a:endParaRPr lang="en-CA" sz="11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52B6D72F-9592-D826-9B49-50A1B8A542BE}"/>
              </a:ext>
            </a:extLst>
          </p:cNvPr>
          <p:cNvSpPr/>
          <p:nvPr/>
        </p:nvSpPr>
        <p:spPr>
          <a:xfrm>
            <a:off x="3821692" y="4543193"/>
            <a:ext cx="620642" cy="5330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37D6B38-9653-41ED-F752-4E7033A4349E}"/>
              </a:ext>
            </a:extLst>
          </p:cNvPr>
          <p:cNvSpPr/>
          <p:nvPr/>
        </p:nvSpPr>
        <p:spPr>
          <a:xfrm>
            <a:off x="4515225" y="4539101"/>
            <a:ext cx="620642" cy="5330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FA20F7F4-E53F-C70E-F8DC-75A6C911A03F}"/>
              </a:ext>
            </a:extLst>
          </p:cNvPr>
          <p:cNvSpPr/>
          <p:nvPr/>
        </p:nvSpPr>
        <p:spPr>
          <a:xfrm>
            <a:off x="5204340" y="4539101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D7EB854-DDE2-F90E-C656-ABA798196F6A}"/>
              </a:ext>
            </a:extLst>
          </p:cNvPr>
          <p:cNvSpPr/>
          <p:nvPr/>
        </p:nvSpPr>
        <p:spPr>
          <a:xfrm>
            <a:off x="5866949" y="4539100"/>
            <a:ext cx="620642" cy="5330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32</a:t>
            </a:r>
            <a:endParaRPr lang="en-CA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E648D1-A322-D6B7-E90B-0B7323D0D095}"/>
              </a:ext>
            </a:extLst>
          </p:cNvPr>
          <p:cNvSpPr txBox="1"/>
          <p:nvPr/>
        </p:nvSpPr>
        <p:spPr>
          <a:xfrm>
            <a:off x="2438819" y="5319072"/>
            <a:ext cx="344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Four Instructions plus cache line to decode stage</a:t>
            </a:r>
            <a:endParaRPr lang="en-CA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067C78-238E-0C37-463C-051DD16AD52D}"/>
              </a:ext>
            </a:extLst>
          </p:cNvPr>
          <p:cNvSpPr txBox="1"/>
          <p:nvPr/>
        </p:nvSpPr>
        <p:spPr>
          <a:xfrm>
            <a:off x="6559826" y="1325563"/>
            <a:ext cx="52153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cache line is fed in and right aligned according to the PC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Four instructions are extracted from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Branch instructions are decoded to feed the next PC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Micro-code instructions are multiplexed onto the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instructions and cache line are passed to the decode stage.</a:t>
            </a:r>
            <a:endParaRPr lang="en-CA" sz="14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D3E1EAB-8C54-2C4D-CBE5-F4D132E74ADA}"/>
              </a:ext>
            </a:extLst>
          </p:cNvPr>
          <p:cNvCxnSpPr/>
          <p:nvPr/>
        </p:nvCxnSpPr>
        <p:spPr>
          <a:xfrm>
            <a:off x="784412" y="5072148"/>
            <a:ext cx="8637494" cy="33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8CEC9CD-987F-19C4-9645-8582CAB8B8E1}"/>
              </a:ext>
            </a:extLst>
          </p:cNvPr>
          <p:cNvSpPr txBox="1"/>
          <p:nvPr/>
        </p:nvSpPr>
        <p:spPr>
          <a:xfrm>
            <a:off x="7912206" y="4821190"/>
            <a:ext cx="1297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E8FF0-7A85-E9A2-3D8D-2E0A8C026A36}"/>
              </a:ext>
            </a:extLst>
          </p:cNvPr>
          <p:cNvSpPr txBox="1"/>
          <p:nvPr/>
        </p:nvSpPr>
        <p:spPr>
          <a:xfrm>
            <a:off x="1660384" y="1764660"/>
            <a:ext cx="3464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1024b cache  line pair from instruction fetch stage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265067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9395-D48D-D2C9-3B68-4D26BC93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5" y="18255"/>
            <a:ext cx="10515600" cy="1325563"/>
          </a:xfrm>
        </p:spPr>
        <p:txBody>
          <a:bodyPr/>
          <a:lstStyle/>
          <a:p>
            <a:r>
              <a:rPr lang="en-US" dirty="0"/>
              <a:t>Qupls2026: Decode Stage (*_dec)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21FF0-16AA-8A4C-5185-A6BE8CA2AF64}"/>
              </a:ext>
            </a:extLst>
          </p:cNvPr>
          <p:cNvSpPr/>
          <p:nvPr/>
        </p:nvSpPr>
        <p:spPr>
          <a:xfrm>
            <a:off x="5048041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B3B1D-1078-99ED-30C9-DFBCF4E3CC21}"/>
              </a:ext>
            </a:extLst>
          </p:cNvPr>
          <p:cNvSpPr/>
          <p:nvPr/>
        </p:nvSpPr>
        <p:spPr>
          <a:xfrm>
            <a:off x="4431816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AFF2E-C847-9432-5A43-1B06D005C39B}"/>
              </a:ext>
            </a:extLst>
          </p:cNvPr>
          <p:cNvSpPr/>
          <p:nvPr/>
        </p:nvSpPr>
        <p:spPr>
          <a:xfrm>
            <a:off x="1072389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6EF95-477A-2994-C3AB-36A8ABE4781F}"/>
              </a:ext>
            </a:extLst>
          </p:cNvPr>
          <p:cNvSpPr/>
          <p:nvPr/>
        </p:nvSpPr>
        <p:spPr>
          <a:xfrm>
            <a:off x="1688614" y="3352801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FC212D-082A-DD72-F557-EFDFDD7E81AE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291588" y="3474279"/>
            <a:ext cx="214022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CCC9A-50A2-4505-C9BD-E02C96FA3D21}"/>
              </a:ext>
            </a:extLst>
          </p:cNvPr>
          <p:cNvSpPr/>
          <p:nvPr/>
        </p:nvSpPr>
        <p:spPr>
          <a:xfrm>
            <a:off x="934343" y="3027017"/>
            <a:ext cx="4909933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2717B6-72F9-D836-83DF-A0DADD9534C2}"/>
              </a:ext>
            </a:extLst>
          </p:cNvPr>
          <p:cNvSpPr/>
          <p:nvPr/>
        </p:nvSpPr>
        <p:spPr>
          <a:xfrm>
            <a:off x="934343" y="2186609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B25F58-38F6-83C5-4F48-A2B549834C2D}"/>
              </a:ext>
            </a:extLst>
          </p:cNvPr>
          <p:cNvSpPr/>
          <p:nvPr/>
        </p:nvSpPr>
        <p:spPr>
          <a:xfrm>
            <a:off x="2252934" y="2186608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7A4C80-2BCC-3C11-C923-3C4DAB8C4306}"/>
              </a:ext>
            </a:extLst>
          </p:cNvPr>
          <p:cNvSpPr/>
          <p:nvPr/>
        </p:nvSpPr>
        <p:spPr>
          <a:xfrm>
            <a:off x="3520726" y="2186607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1077F-E5D9-F73E-DB1C-EEC6A67D0F78}"/>
              </a:ext>
            </a:extLst>
          </p:cNvPr>
          <p:cNvSpPr/>
          <p:nvPr/>
        </p:nvSpPr>
        <p:spPr>
          <a:xfrm>
            <a:off x="4788518" y="2186606"/>
            <a:ext cx="1055758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ISA Instruction To µop map</a:t>
            </a:r>
            <a:endParaRPr lang="en-CA" sz="10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72B5DEB-B91D-C886-F6F6-E54DED196DDF}"/>
              </a:ext>
            </a:extLst>
          </p:cNvPr>
          <p:cNvSpPr/>
          <p:nvPr/>
        </p:nvSpPr>
        <p:spPr>
          <a:xfrm>
            <a:off x="1022139" y="2570919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7DAD130-1EBA-D481-F1A5-B3A938F02835}"/>
              </a:ext>
            </a:extLst>
          </p:cNvPr>
          <p:cNvSpPr/>
          <p:nvPr/>
        </p:nvSpPr>
        <p:spPr>
          <a:xfrm>
            <a:off x="2340731" y="2570918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0CA5ED3-322C-7559-35C4-043568DD8612}"/>
              </a:ext>
            </a:extLst>
          </p:cNvPr>
          <p:cNvSpPr/>
          <p:nvPr/>
        </p:nvSpPr>
        <p:spPr>
          <a:xfrm>
            <a:off x="3608522" y="2570917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A8A5A8C7-2086-0573-E87A-438924545018}"/>
              </a:ext>
            </a:extLst>
          </p:cNvPr>
          <p:cNvSpPr/>
          <p:nvPr/>
        </p:nvSpPr>
        <p:spPr>
          <a:xfrm>
            <a:off x="4876314" y="2570917"/>
            <a:ext cx="880165" cy="456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 max</a:t>
            </a:r>
            <a:endParaRPr lang="en-CA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036E97-6A6E-91A6-00FA-5A0CA58B6258}"/>
              </a:ext>
            </a:extLst>
          </p:cNvPr>
          <p:cNvSpPr/>
          <p:nvPr/>
        </p:nvSpPr>
        <p:spPr>
          <a:xfrm>
            <a:off x="5016016" y="4209775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9D117E-4CA7-3EB2-4D18-F030347E7E1D}"/>
              </a:ext>
            </a:extLst>
          </p:cNvPr>
          <p:cNvSpPr/>
          <p:nvPr/>
        </p:nvSpPr>
        <p:spPr>
          <a:xfrm>
            <a:off x="4112660" y="4209774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B56C27-13CD-C453-B21B-1441EA8F9B66}"/>
              </a:ext>
            </a:extLst>
          </p:cNvPr>
          <p:cNvSpPr/>
          <p:nvPr/>
        </p:nvSpPr>
        <p:spPr>
          <a:xfrm>
            <a:off x="3212620" y="4209773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FA4DA-BD9E-5F7C-A46A-5A3BAF22741D}"/>
              </a:ext>
            </a:extLst>
          </p:cNvPr>
          <p:cNvSpPr/>
          <p:nvPr/>
        </p:nvSpPr>
        <p:spPr>
          <a:xfrm>
            <a:off x="2310922" y="4209773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Decoder</a:t>
            </a:r>
            <a:endParaRPr lang="en-CA" sz="10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8FD4ACE-E61A-FB57-8942-C9CC134B29B5}"/>
              </a:ext>
            </a:extLst>
          </p:cNvPr>
          <p:cNvSpPr/>
          <p:nvPr/>
        </p:nvSpPr>
        <p:spPr>
          <a:xfrm>
            <a:off x="5094424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EB2289B-AE34-9E99-3CC6-12D783C305CB}"/>
              </a:ext>
            </a:extLst>
          </p:cNvPr>
          <p:cNvSpPr/>
          <p:nvPr/>
        </p:nvSpPr>
        <p:spPr>
          <a:xfrm>
            <a:off x="4191068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E53DA602-1E6E-0D37-E743-3B75023AF73F}"/>
              </a:ext>
            </a:extLst>
          </p:cNvPr>
          <p:cNvSpPr/>
          <p:nvPr/>
        </p:nvSpPr>
        <p:spPr>
          <a:xfrm>
            <a:off x="3287712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193E3F03-8D8D-BE16-3011-65C62D299E70}"/>
              </a:ext>
            </a:extLst>
          </p:cNvPr>
          <p:cNvSpPr/>
          <p:nvPr/>
        </p:nvSpPr>
        <p:spPr>
          <a:xfrm>
            <a:off x="2390988" y="3830980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21328786-2DAA-CB00-6821-E2E99DA54120}"/>
              </a:ext>
            </a:extLst>
          </p:cNvPr>
          <p:cNvSpPr/>
          <p:nvPr/>
        </p:nvSpPr>
        <p:spPr>
          <a:xfrm>
            <a:off x="1153643" y="16696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8E88E834-F2D0-8CBB-4152-1AD564EECC86}"/>
              </a:ext>
            </a:extLst>
          </p:cNvPr>
          <p:cNvSpPr/>
          <p:nvPr/>
        </p:nvSpPr>
        <p:spPr>
          <a:xfrm>
            <a:off x="2438553" y="16696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00454C3-33B4-2D69-4E9E-1E9A00CFD8D0}"/>
              </a:ext>
            </a:extLst>
          </p:cNvPr>
          <p:cNvSpPr/>
          <p:nvPr/>
        </p:nvSpPr>
        <p:spPr>
          <a:xfrm>
            <a:off x="3699680" y="16696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0945E42-19F8-4A70-3D8A-3A2C77D87313}"/>
              </a:ext>
            </a:extLst>
          </p:cNvPr>
          <p:cNvSpPr/>
          <p:nvPr/>
        </p:nvSpPr>
        <p:spPr>
          <a:xfrm>
            <a:off x="4975196" y="166547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11F6C4-3F05-4093-DF1A-05D8225E0985}"/>
              </a:ext>
            </a:extLst>
          </p:cNvPr>
          <p:cNvSpPr txBox="1"/>
          <p:nvPr/>
        </p:nvSpPr>
        <p:spPr>
          <a:xfrm>
            <a:off x="1462221" y="1245586"/>
            <a:ext cx="373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instructions from Extract Stage</a:t>
            </a:r>
            <a:endParaRPr lang="en-CA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5C24B68-7E64-6EFF-6DAB-5A2102AF95C6}"/>
              </a:ext>
            </a:extLst>
          </p:cNvPr>
          <p:cNvSpPr/>
          <p:nvPr/>
        </p:nvSpPr>
        <p:spPr>
          <a:xfrm>
            <a:off x="2390988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5D206A29-C880-3014-024D-37528635716B}"/>
              </a:ext>
            </a:extLst>
          </p:cNvPr>
          <p:cNvSpPr/>
          <p:nvPr/>
        </p:nvSpPr>
        <p:spPr>
          <a:xfrm>
            <a:off x="3308692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88EB1D7B-9441-432D-DDC9-5420CB809BB7}"/>
              </a:ext>
            </a:extLst>
          </p:cNvPr>
          <p:cNvSpPr/>
          <p:nvPr/>
        </p:nvSpPr>
        <p:spPr>
          <a:xfrm>
            <a:off x="4193915" y="459314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E3858D5-56C8-D169-924B-EBFBE71AA31C}"/>
              </a:ext>
            </a:extLst>
          </p:cNvPr>
          <p:cNvSpPr/>
          <p:nvPr/>
        </p:nvSpPr>
        <p:spPr>
          <a:xfrm>
            <a:off x="5088946" y="458856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2C7DB7-1FAD-B106-9935-8AE626DD9E8A}"/>
              </a:ext>
            </a:extLst>
          </p:cNvPr>
          <p:cNvSpPr txBox="1"/>
          <p:nvPr/>
        </p:nvSpPr>
        <p:spPr>
          <a:xfrm>
            <a:off x="2186762" y="5093418"/>
            <a:ext cx="392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decode busses to Rename Stage</a:t>
            </a:r>
            <a:endParaRPr lang="en-CA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129218-44F0-AFD7-A77E-D2949684502A}"/>
              </a:ext>
            </a:extLst>
          </p:cNvPr>
          <p:cNvSpPr txBox="1"/>
          <p:nvPr/>
        </p:nvSpPr>
        <p:spPr>
          <a:xfrm>
            <a:off x="6248591" y="1614918"/>
            <a:ext cx="57619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clock cycle four micro-ops are decoded and sent to the rename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micro-op buffer is shifted right by four micro-ops. When the buffer has four or fewer micro-ops left in it, a request is made to the extract stage for more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Incoming instructions are mapped very quickly onto one to eight micro-ops.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Micro-ops are stored in the buffer; between four and thirty-two micro-ops will fill the buffer.</a:t>
            </a:r>
            <a:endParaRPr lang="en-CA" dirty="0"/>
          </a:p>
        </p:txBody>
      </p:sp>
      <p:sp>
        <p:nvSpPr>
          <p:cNvPr id="45" name="Arrow: Bent-Up 44">
            <a:extLst>
              <a:ext uri="{FF2B5EF4-FFF2-40B4-BE49-F238E27FC236}">
                <a16:creationId xmlns:a16="http://schemas.microsoft.com/office/drawing/2014/main" id="{2CE723E4-9607-4DCE-9A39-21A48CCB278A}"/>
              </a:ext>
            </a:extLst>
          </p:cNvPr>
          <p:cNvSpPr/>
          <p:nvPr/>
        </p:nvSpPr>
        <p:spPr>
          <a:xfrm flipH="1">
            <a:off x="482429" y="1640513"/>
            <a:ext cx="440045" cy="186080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E9BD94-01FF-2408-B713-1605D4AE6EE5}"/>
              </a:ext>
            </a:extLst>
          </p:cNvPr>
          <p:cNvSpPr txBox="1"/>
          <p:nvPr/>
        </p:nvSpPr>
        <p:spPr>
          <a:xfrm>
            <a:off x="251890" y="1264197"/>
            <a:ext cx="8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Instruction Request</a:t>
            </a:r>
            <a:endParaRPr lang="en-CA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458A2C-37D6-CBDA-6D34-AC5227237AA2}"/>
              </a:ext>
            </a:extLst>
          </p:cNvPr>
          <p:cNvCxnSpPr>
            <a:cxnSpLocks/>
          </p:cNvCxnSpPr>
          <p:nvPr/>
        </p:nvCxnSpPr>
        <p:spPr>
          <a:xfrm>
            <a:off x="699248" y="5085331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A2CB9A-6489-5872-503C-6BE8C8D7D1B7}"/>
              </a:ext>
            </a:extLst>
          </p:cNvPr>
          <p:cNvSpPr txBox="1"/>
          <p:nvPr/>
        </p:nvSpPr>
        <p:spPr>
          <a:xfrm>
            <a:off x="447787" y="482960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259429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7671-DA3D-5C66-D0DC-22B672A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Qupls2026: Decode Stage (more)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4AD4A4-17BF-2703-AB80-4C6C1AAA3027}"/>
              </a:ext>
            </a:extLst>
          </p:cNvPr>
          <p:cNvSpPr/>
          <p:nvPr/>
        </p:nvSpPr>
        <p:spPr>
          <a:xfrm>
            <a:off x="5370512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24EA5-DFAE-FB83-6A50-D69CF1C2B5C9}"/>
              </a:ext>
            </a:extLst>
          </p:cNvPr>
          <p:cNvSpPr/>
          <p:nvPr/>
        </p:nvSpPr>
        <p:spPr>
          <a:xfrm>
            <a:off x="4754287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E7B95-30A7-75E7-609B-7E49FA75F5AE}"/>
              </a:ext>
            </a:extLst>
          </p:cNvPr>
          <p:cNvSpPr/>
          <p:nvPr/>
        </p:nvSpPr>
        <p:spPr>
          <a:xfrm>
            <a:off x="1394860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31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BB0F3-B210-B42C-7680-42C0E660F87F}"/>
              </a:ext>
            </a:extLst>
          </p:cNvPr>
          <p:cNvSpPr/>
          <p:nvPr/>
        </p:nvSpPr>
        <p:spPr>
          <a:xfrm>
            <a:off x="2011085" y="2442817"/>
            <a:ext cx="602974" cy="242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30</a:t>
            </a:r>
            <a:endParaRPr lang="en-CA" sz="1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E68FD5-C5F9-6F14-44AD-C6A022421526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2614059" y="2564295"/>
            <a:ext cx="214022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4B384DD-9D81-9F38-26B7-8F5F8B7F8585}"/>
              </a:ext>
            </a:extLst>
          </p:cNvPr>
          <p:cNvSpPr/>
          <p:nvPr/>
        </p:nvSpPr>
        <p:spPr>
          <a:xfrm>
            <a:off x="1256814" y="2117033"/>
            <a:ext cx="4909933" cy="803965"/>
          </a:xfrm>
          <a:prstGeom prst="rect">
            <a:avLst/>
          </a:prstGeom>
          <a:solidFill>
            <a:schemeClr val="accent1">
              <a:alpha val="3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µop Buffer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AC6772-5CAE-D455-76B9-125EBA8890A0}"/>
              </a:ext>
            </a:extLst>
          </p:cNvPr>
          <p:cNvSpPr/>
          <p:nvPr/>
        </p:nvSpPr>
        <p:spPr>
          <a:xfrm>
            <a:off x="5338487" y="3299791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6567A-F74A-5D9D-884D-C2834A78E3C1}"/>
              </a:ext>
            </a:extLst>
          </p:cNvPr>
          <p:cNvSpPr/>
          <p:nvPr/>
        </p:nvSpPr>
        <p:spPr>
          <a:xfrm>
            <a:off x="4435131" y="3299790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8B6FA-7594-683E-4007-B926AA8E9AF7}"/>
              </a:ext>
            </a:extLst>
          </p:cNvPr>
          <p:cNvSpPr/>
          <p:nvPr/>
        </p:nvSpPr>
        <p:spPr>
          <a:xfrm>
            <a:off x="3535091" y="329978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1A896-48C2-4C3D-405C-C07E27749303}"/>
              </a:ext>
            </a:extLst>
          </p:cNvPr>
          <p:cNvSpPr/>
          <p:nvPr/>
        </p:nvSpPr>
        <p:spPr>
          <a:xfrm>
            <a:off x="2633393" y="3299789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Constant Decoder</a:t>
            </a:r>
            <a:endParaRPr lang="en-CA" sz="1000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B24E940-0B48-B6F9-43EE-ACD39C492235}"/>
              </a:ext>
            </a:extLst>
          </p:cNvPr>
          <p:cNvSpPr/>
          <p:nvPr/>
        </p:nvSpPr>
        <p:spPr>
          <a:xfrm>
            <a:off x="5416895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A842CB9-063C-921F-FDA3-3CF2596102FF}"/>
              </a:ext>
            </a:extLst>
          </p:cNvPr>
          <p:cNvSpPr/>
          <p:nvPr/>
        </p:nvSpPr>
        <p:spPr>
          <a:xfrm>
            <a:off x="4513539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72DF459-39E8-C005-6FD2-D052727A0B36}"/>
              </a:ext>
            </a:extLst>
          </p:cNvPr>
          <p:cNvSpPr/>
          <p:nvPr/>
        </p:nvSpPr>
        <p:spPr>
          <a:xfrm>
            <a:off x="3610183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CDB9EBD-F6E5-0943-973A-12F601CF3135}"/>
              </a:ext>
            </a:extLst>
          </p:cNvPr>
          <p:cNvSpPr/>
          <p:nvPr/>
        </p:nvSpPr>
        <p:spPr>
          <a:xfrm>
            <a:off x="2713459" y="2920996"/>
            <a:ext cx="671444" cy="378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A3B80D8-1F6C-7DDC-88E8-A7BEEC7CC9E9}"/>
              </a:ext>
            </a:extLst>
          </p:cNvPr>
          <p:cNvSpPr/>
          <p:nvPr/>
        </p:nvSpPr>
        <p:spPr>
          <a:xfrm>
            <a:off x="2713459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764D332-B889-AF93-14C7-5BC631FE0D2D}"/>
              </a:ext>
            </a:extLst>
          </p:cNvPr>
          <p:cNvSpPr/>
          <p:nvPr/>
        </p:nvSpPr>
        <p:spPr>
          <a:xfrm>
            <a:off x="3631163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CB05E56-0A5C-3EB0-890A-604E7BC1B2F4}"/>
              </a:ext>
            </a:extLst>
          </p:cNvPr>
          <p:cNvSpPr/>
          <p:nvPr/>
        </p:nvSpPr>
        <p:spPr>
          <a:xfrm>
            <a:off x="4516386" y="3683161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DC7C2C0-1EEB-76FA-DAB3-351C6C3A3840}"/>
              </a:ext>
            </a:extLst>
          </p:cNvPr>
          <p:cNvSpPr/>
          <p:nvPr/>
        </p:nvSpPr>
        <p:spPr>
          <a:xfrm>
            <a:off x="5411417" y="367857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D60F5D-0A1C-F533-8A90-2EA3F585F33B}"/>
              </a:ext>
            </a:extLst>
          </p:cNvPr>
          <p:cNvSpPr txBox="1"/>
          <p:nvPr/>
        </p:nvSpPr>
        <p:spPr>
          <a:xfrm>
            <a:off x="2509233" y="4183434"/>
            <a:ext cx="3455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Eight constants to Rename Stage</a:t>
            </a:r>
            <a:endParaRPr lang="en-CA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89D6E8-8402-28E1-B2C1-45D30B4E48D0}"/>
              </a:ext>
            </a:extLst>
          </p:cNvPr>
          <p:cNvSpPr/>
          <p:nvPr/>
        </p:nvSpPr>
        <p:spPr>
          <a:xfrm>
            <a:off x="1289879" y="3331881"/>
            <a:ext cx="1348484" cy="3048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55F8F2-3C54-61B6-A69B-0BD7ED6565C5}"/>
              </a:ext>
            </a:extLst>
          </p:cNvPr>
          <p:cNvSpPr txBox="1"/>
          <p:nvPr/>
        </p:nvSpPr>
        <p:spPr>
          <a:xfrm>
            <a:off x="46708" y="3060483"/>
            <a:ext cx="2794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Cache line from decode (512 bits)</a:t>
            </a:r>
            <a:endParaRPr lang="en-CA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53338-E8D4-C04A-D5CE-71EE6678BA98}"/>
              </a:ext>
            </a:extLst>
          </p:cNvPr>
          <p:cNvSpPr txBox="1"/>
          <p:nvPr/>
        </p:nvSpPr>
        <p:spPr>
          <a:xfrm>
            <a:off x="6519485" y="1796903"/>
            <a:ext cx="5367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Indexes to cache line constants are decoded from the micro-ops and the cache line.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be two cache line constants per micro-op if the micro-op is a store instruction.</a:t>
            </a:r>
            <a:endParaRPr lang="en-CA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46485E-E911-C3C8-8592-D1C3A1AE9D55}"/>
              </a:ext>
            </a:extLst>
          </p:cNvPr>
          <p:cNvCxnSpPr>
            <a:cxnSpLocks/>
          </p:cNvCxnSpPr>
          <p:nvPr/>
        </p:nvCxnSpPr>
        <p:spPr>
          <a:xfrm>
            <a:off x="982470" y="4172797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79055E-A3B6-33BB-6AA1-1E14C0F80EF3}"/>
              </a:ext>
            </a:extLst>
          </p:cNvPr>
          <p:cNvSpPr txBox="1"/>
          <p:nvPr/>
        </p:nvSpPr>
        <p:spPr>
          <a:xfrm>
            <a:off x="731009" y="3917068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D6292-BB18-2FAE-6D6C-93BDEAE38338}"/>
              </a:ext>
            </a:extLst>
          </p:cNvPr>
          <p:cNvSpPr/>
          <p:nvPr/>
        </p:nvSpPr>
        <p:spPr>
          <a:xfrm>
            <a:off x="9834545" y="3902318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</a:t>
            </a:r>
          </a:p>
          <a:p>
            <a:pPr algn="ctr"/>
            <a:r>
              <a:rPr lang="en-US" sz="1000" dirty="0"/>
              <a:t>Decoder</a:t>
            </a:r>
            <a:endParaRPr lang="en-CA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DBB742-49D9-B694-015D-E5AD3D66E5EF}"/>
              </a:ext>
            </a:extLst>
          </p:cNvPr>
          <p:cNvSpPr/>
          <p:nvPr/>
        </p:nvSpPr>
        <p:spPr>
          <a:xfrm>
            <a:off x="8931189" y="3902317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E2ED6-9B55-325E-7669-24BFEBA54FB0}"/>
              </a:ext>
            </a:extLst>
          </p:cNvPr>
          <p:cNvSpPr/>
          <p:nvPr/>
        </p:nvSpPr>
        <p:spPr>
          <a:xfrm>
            <a:off x="8031149" y="3902316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D349AE-A615-443E-6F4B-9AEE013F3B93}"/>
              </a:ext>
            </a:extLst>
          </p:cNvPr>
          <p:cNvSpPr/>
          <p:nvPr/>
        </p:nvSpPr>
        <p:spPr>
          <a:xfrm>
            <a:off x="7129451" y="3902316"/>
            <a:ext cx="828260" cy="384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µop Rd Decoder</a:t>
            </a:r>
            <a:endParaRPr lang="en-CA" sz="1000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1BA911F3-2998-E10A-605E-FDA9CCC5BD7D}"/>
              </a:ext>
            </a:extLst>
          </p:cNvPr>
          <p:cNvSpPr/>
          <p:nvPr/>
        </p:nvSpPr>
        <p:spPr>
          <a:xfrm>
            <a:off x="7209517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91A6D0B-6F39-DDB9-0073-6641DDC9D3E1}"/>
              </a:ext>
            </a:extLst>
          </p:cNvPr>
          <p:cNvSpPr/>
          <p:nvPr/>
        </p:nvSpPr>
        <p:spPr>
          <a:xfrm>
            <a:off x="8127221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A1DCE78-6AF5-928D-9C75-DFD072429CA4}"/>
              </a:ext>
            </a:extLst>
          </p:cNvPr>
          <p:cNvSpPr/>
          <p:nvPr/>
        </p:nvSpPr>
        <p:spPr>
          <a:xfrm>
            <a:off x="9012444" y="428568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E5E3A3FE-6736-FC9C-DA77-F9B694541F34}"/>
              </a:ext>
            </a:extLst>
          </p:cNvPr>
          <p:cNvSpPr/>
          <p:nvPr/>
        </p:nvSpPr>
        <p:spPr>
          <a:xfrm>
            <a:off x="9907475" y="4281105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F5672D-C543-A461-3B78-FBF971DAEE0C}"/>
              </a:ext>
            </a:extLst>
          </p:cNvPr>
          <p:cNvSpPr txBox="1"/>
          <p:nvPr/>
        </p:nvSpPr>
        <p:spPr>
          <a:xfrm>
            <a:off x="6991458" y="5742724"/>
            <a:ext cx="426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destination names to Rename Stage</a:t>
            </a:r>
            <a:endParaRPr lang="en-CA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2B7482-2A08-6F41-E94E-C497C87E31DA}"/>
              </a:ext>
            </a:extLst>
          </p:cNvPr>
          <p:cNvSpPr/>
          <p:nvPr/>
        </p:nvSpPr>
        <p:spPr>
          <a:xfrm>
            <a:off x="7089690" y="4785962"/>
            <a:ext cx="368299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 Supplier</a:t>
            </a:r>
            <a:endParaRPr lang="en-CA" sz="1400" dirty="0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0C1539C4-1A6A-ECD9-94B8-8C5239E36FF1}"/>
              </a:ext>
            </a:extLst>
          </p:cNvPr>
          <p:cNvSpPr/>
          <p:nvPr/>
        </p:nvSpPr>
        <p:spPr>
          <a:xfrm>
            <a:off x="7240893" y="5155294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FE7656EC-8295-5EF1-371B-D581D82F9972}"/>
              </a:ext>
            </a:extLst>
          </p:cNvPr>
          <p:cNvSpPr/>
          <p:nvPr/>
        </p:nvSpPr>
        <p:spPr>
          <a:xfrm>
            <a:off x="8177010" y="5172653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E29C00F9-653E-273D-EFAC-AC16EDD7B1F0}"/>
              </a:ext>
            </a:extLst>
          </p:cNvPr>
          <p:cNvSpPr/>
          <p:nvPr/>
        </p:nvSpPr>
        <p:spPr>
          <a:xfrm>
            <a:off x="9023609" y="5157102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C4049C58-6EF9-C4EE-3743-CEA155E40310}"/>
              </a:ext>
            </a:extLst>
          </p:cNvPr>
          <p:cNvSpPr/>
          <p:nvPr/>
        </p:nvSpPr>
        <p:spPr>
          <a:xfrm>
            <a:off x="9959726" y="516474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E26CE4-3F48-FC77-2A5C-1DEC527936D1}"/>
              </a:ext>
            </a:extLst>
          </p:cNvPr>
          <p:cNvCxnSpPr>
            <a:cxnSpLocks/>
          </p:cNvCxnSpPr>
          <p:nvPr/>
        </p:nvCxnSpPr>
        <p:spPr>
          <a:xfrm>
            <a:off x="5671999" y="5669604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E1F377B-99D7-DE06-8836-5BF77A01FA42}"/>
              </a:ext>
            </a:extLst>
          </p:cNvPr>
          <p:cNvSpPr txBox="1"/>
          <p:nvPr/>
        </p:nvSpPr>
        <p:spPr>
          <a:xfrm>
            <a:off x="5669580" y="5445866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2323E0-9BAE-F6C4-714E-F9E79BCCEBD7}"/>
              </a:ext>
            </a:extLst>
          </p:cNvPr>
          <p:cNvSpPr txBox="1"/>
          <p:nvPr/>
        </p:nvSpPr>
        <p:spPr>
          <a:xfrm>
            <a:off x="462791" y="5155294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destination register from each micro-op decoder is fed to the name supplier which supplies a rename for the register.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491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C03-86BC-47B3-352E-CEAFA8E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9" y="69161"/>
            <a:ext cx="10515600" cy="858492"/>
          </a:xfrm>
        </p:spPr>
        <p:txBody>
          <a:bodyPr/>
          <a:lstStyle/>
          <a:p>
            <a:r>
              <a:rPr lang="en-US" dirty="0"/>
              <a:t>Qupls2026: Rename Stage (*_ren)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B65C0-C075-F47A-4C2D-095EB317A5EB}"/>
              </a:ext>
            </a:extLst>
          </p:cNvPr>
          <p:cNvSpPr/>
          <p:nvPr/>
        </p:nvSpPr>
        <p:spPr>
          <a:xfrm>
            <a:off x="1236869" y="2223464"/>
            <a:ext cx="3335131" cy="745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 – Register Alias Table</a:t>
            </a:r>
            <a:endParaRPr lang="en-CA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BF912A54-2305-7875-3D38-4501F6247B4E}"/>
              </a:ext>
            </a:extLst>
          </p:cNvPr>
          <p:cNvSpPr/>
          <p:nvPr/>
        </p:nvSpPr>
        <p:spPr>
          <a:xfrm>
            <a:off x="1321134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1F37D6B-60A6-4809-18D2-0553D99F0657}"/>
              </a:ext>
            </a:extLst>
          </p:cNvPr>
          <p:cNvSpPr/>
          <p:nvPr/>
        </p:nvSpPr>
        <p:spPr>
          <a:xfrm>
            <a:off x="2144977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E05A981-F263-3DEA-4B79-93D96CD6F334}"/>
              </a:ext>
            </a:extLst>
          </p:cNvPr>
          <p:cNvSpPr/>
          <p:nvPr/>
        </p:nvSpPr>
        <p:spPr>
          <a:xfrm>
            <a:off x="2968820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B408B6E-9266-6253-28A7-D617276ACB7E}"/>
              </a:ext>
            </a:extLst>
          </p:cNvPr>
          <p:cNvSpPr/>
          <p:nvPr/>
        </p:nvSpPr>
        <p:spPr>
          <a:xfrm>
            <a:off x="3803628" y="1718608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84DDB-E400-F85E-C54B-73F8148E9286}"/>
              </a:ext>
            </a:extLst>
          </p:cNvPr>
          <p:cNvSpPr txBox="1"/>
          <p:nvPr/>
        </p:nvSpPr>
        <p:spPr>
          <a:xfrm>
            <a:off x="449758" y="1345362"/>
            <a:ext cx="5231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Four pairs of destination registers and corresponding renames from decode stage.</a:t>
            </a:r>
            <a:endParaRPr lang="en-CA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59A06-E107-C4DA-E239-7FFF06028AB4}"/>
              </a:ext>
            </a:extLst>
          </p:cNvPr>
          <p:cNvSpPr/>
          <p:nvPr/>
        </p:nvSpPr>
        <p:spPr>
          <a:xfrm>
            <a:off x="1236869" y="3230217"/>
            <a:ext cx="3335131" cy="89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Asynchronous Architectural Register to Physical Register Mapping Process</a:t>
            </a:r>
          </a:p>
          <a:p>
            <a:pPr algn="ctr"/>
            <a:r>
              <a:rPr lang="en-US" sz="1400" dirty="0"/>
              <a:t>12 micro-op Window</a:t>
            </a:r>
            <a:endParaRPr lang="en-CA" sz="1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FFFE904-FC5E-7191-48EF-8681D2D72CFC}"/>
              </a:ext>
            </a:extLst>
          </p:cNvPr>
          <p:cNvSpPr/>
          <p:nvPr/>
        </p:nvSpPr>
        <p:spPr>
          <a:xfrm>
            <a:off x="2210903" y="2968487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F84A15-A557-90EA-5304-0D62AFC89888}"/>
              </a:ext>
            </a:extLst>
          </p:cNvPr>
          <p:cNvSpPr/>
          <p:nvPr/>
        </p:nvSpPr>
        <p:spPr>
          <a:xfrm>
            <a:off x="1236869" y="4624049"/>
            <a:ext cx="8941712" cy="491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ROB – Reordering Buffer</a:t>
            </a:r>
            <a:endParaRPr lang="en-CA" dirty="0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B0919AED-0038-7998-4F1A-E2D1E32EF48B}"/>
              </a:ext>
            </a:extLst>
          </p:cNvPr>
          <p:cNvSpPr/>
          <p:nvPr/>
        </p:nvSpPr>
        <p:spPr>
          <a:xfrm>
            <a:off x="2693415" y="4133026"/>
            <a:ext cx="371846" cy="4910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D0B9637-390A-B8AE-5174-22A11D566EB8}"/>
              </a:ext>
            </a:extLst>
          </p:cNvPr>
          <p:cNvSpPr/>
          <p:nvPr/>
        </p:nvSpPr>
        <p:spPr>
          <a:xfrm>
            <a:off x="6665217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AEF3255-2792-1393-10C7-EACB7FE6FA25}"/>
              </a:ext>
            </a:extLst>
          </p:cNvPr>
          <p:cNvSpPr/>
          <p:nvPr/>
        </p:nvSpPr>
        <p:spPr>
          <a:xfrm>
            <a:off x="7582921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85D9C73-D53B-6B12-9071-3F3AAC435CBE}"/>
              </a:ext>
            </a:extLst>
          </p:cNvPr>
          <p:cNvSpPr/>
          <p:nvPr/>
        </p:nvSpPr>
        <p:spPr>
          <a:xfrm>
            <a:off x="8468144" y="3872330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28C432E-0CA7-EA49-EB56-EF92A04533BB}"/>
              </a:ext>
            </a:extLst>
          </p:cNvPr>
          <p:cNvSpPr/>
          <p:nvPr/>
        </p:nvSpPr>
        <p:spPr>
          <a:xfrm>
            <a:off x="9363175" y="3867747"/>
            <a:ext cx="682399" cy="504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A68F8-B915-B07A-3079-B8213D03056F}"/>
              </a:ext>
            </a:extLst>
          </p:cNvPr>
          <p:cNvSpPr txBox="1"/>
          <p:nvPr/>
        </p:nvSpPr>
        <p:spPr>
          <a:xfrm>
            <a:off x="6113494" y="3521972"/>
            <a:ext cx="406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Four micro-ops with constants from Decode Stage</a:t>
            </a:r>
            <a:endParaRPr lang="en-CA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094BEB-D5B3-E416-38DC-9104BC8E8895}"/>
              </a:ext>
            </a:extLst>
          </p:cNvPr>
          <p:cNvCxnSpPr>
            <a:cxnSpLocks/>
          </p:cNvCxnSpPr>
          <p:nvPr/>
        </p:nvCxnSpPr>
        <p:spPr>
          <a:xfrm>
            <a:off x="4934228" y="4361966"/>
            <a:ext cx="5244353" cy="2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2CF461-9B0D-FE66-E0EC-66372F248F2F}"/>
              </a:ext>
            </a:extLst>
          </p:cNvPr>
          <p:cNvSpPr txBox="1"/>
          <p:nvPr/>
        </p:nvSpPr>
        <p:spPr>
          <a:xfrm>
            <a:off x="4682767" y="4106237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63B6F1BE-8984-CBE6-5587-9F69C8F532A4}"/>
              </a:ext>
            </a:extLst>
          </p:cNvPr>
          <p:cNvSpPr/>
          <p:nvPr/>
        </p:nvSpPr>
        <p:spPr>
          <a:xfrm>
            <a:off x="7730433" y="4383236"/>
            <a:ext cx="1387061" cy="2617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  <a:endParaRPr lang="en-CA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F40078-1B1A-C5F3-E335-3852214F2A33}"/>
              </a:ext>
            </a:extLst>
          </p:cNvPr>
          <p:cNvSpPr txBox="1"/>
          <p:nvPr/>
        </p:nvSpPr>
        <p:spPr>
          <a:xfrm>
            <a:off x="5715000" y="1160696"/>
            <a:ext cx="60272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register alias table is updated with info from the decode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asynchronous process matches unmapped architectural registers to physical register and maps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Micro-op and constants are enqueued in the re-order buffer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52292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8E9CFA1-3825-4851-2C50-2193AC6FE028}"/>
              </a:ext>
            </a:extLst>
          </p:cNvPr>
          <p:cNvSpPr/>
          <p:nvPr/>
        </p:nvSpPr>
        <p:spPr>
          <a:xfrm>
            <a:off x="5864159" y="3730706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FSQRT</a:t>
            </a:r>
            <a:endParaRPr lang="en-CA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E320B-18AF-E5BE-A9B7-C628FE8AAB67}"/>
              </a:ext>
            </a:extLst>
          </p:cNvPr>
          <p:cNvSpPr/>
          <p:nvPr/>
        </p:nvSpPr>
        <p:spPr>
          <a:xfrm>
            <a:off x="5864241" y="3481947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FDIV</a:t>
            </a:r>
            <a:endParaRPr lang="en-CA" sz="10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EF0634-1D91-3B54-C02B-6679ACB17214}"/>
              </a:ext>
            </a:extLst>
          </p:cNvPr>
          <p:cNvSpPr/>
          <p:nvPr/>
        </p:nvSpPr>
        <p:spPr>
          <a:xfrm>
            <a:off x="1077847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FPU</a:t>
            </a:r>
            <a:endParaRPr lang="en-CA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0D39D-FAB4-71A0-50A9-AAFD49CF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43" y="269806"/>
            <a:ext cx="9144000" cy="52974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Qupls2026: Execute Stage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B9CAB-33A3-DF06-299D-C7D0E79C34DD}"/>
              </a:ext>
            </a:extLst>
          </p:cNvPr>
          <p:cNvSpPr/>
          <p:nvPr/>
        </p:nvSpPr>
        <p:spPr>
          <a:xfrm>
            <a:off x="740186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#0</a:t>
            </a:r>
            <a:endParaRPr lang="en-CA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65363E-0D61-E897-910A-F370A5032ED8}"/>
              </a:ext>
            </a:extLst>
          </p:cNvPr>
          <p:cNvSpPr/>
          <p:nvPr/>
        </p:nvSpPr>
        <p:spPr>
          <a:xfrm>
            <a:off x="1592760" y="3241131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SAU #1</a:t>
            </a:r>
            <a:endParaRPr lang="en-CA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6549B-CBC1-E564-88F0-22B7DD569F76}"/>
              </a:ext>
            </a:extLst>
          </p:cNvPr>
          <p:cNvSpPr/>
          <p:nvPr/>
        </p:nvSpPr>
        <p:spPr>
          <a:xfrm>
            <a:off x="2445334" y="324333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IMUL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F65F8-FB16-5708-1549-E0B42AB137A9}"/>
              </a:ext>
            </a:extLst>
          </p:cNvPr>
          <p:cNvSpPr/>
          <p:nvPr/>
        </p:nvSpPr>
        <p:spPr>
          <a:xfrm>
            <a:off x="3297908" y="3238922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IDIV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19B70-FD33-3B9B-AEC7-C546F3CD38AC}"/>
              </a:ext>
            </a:extLst>
          </p:cNvPr>
          <p:cNvSpPr/>
          <p:nvPr/>
        </p:nvSpPr>
        <p:spPr>
          <a:xfrm>
            <a:off x="415048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#0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13E1A-8BA1-FD2E-298B-39A9773492D9}"/>
              </a:ext>
            </a:extLst>
          </p:cNvPr>
          <p:cNvSpPr/>
          <p:nvPr/>
        </p:nvSpPr>
        <p:spPr>
          <a:xfrm>
            <a:off x="585563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TRIG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E30D4-A510-082C-C771-FC867429D4A3}"/>
              </a:ext>
            </a:extLst>
          </p:cNvPr>
          <p:cNvSpPr/>
          <p:nvPr/>
        </p:nvSpPr>
        <p:spPr>
          <a:xfrm>
            <a:off x="740185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CSRs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13761-4A16-527F-25C4-63929CC12475}"/>
              </a:ext>
            </a:extLst>
          </p:cNvPr>
          <p:cNvSpPr/>
          <p:nvPr/>
        </p:nvSpPr>
        <p:spPr>
          <a:xfrm>
            <a:off x="740185" y="3795514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Counts</a:t>
            </a:r>
            <a:endParaRPr lang="en-CA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401EC6-5825-9E44-80EC-6B43B4C0A313}"/>
              </a:ext>
            </a:extLst>
          </p:cNvPr>
          <p:cNvSpPr/>
          <p:nvPr/>
        </p:nvSpPr>
        <p:spPr>
          <a:xfrm>
            <a:off x="740184" y="4073810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Shift</a:t>
            </a:r>
            <a:endParaRPr lang="en-CA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46394-63E9-5D59-33ED-942F6365F6CE}"/>
              </a:ext>
            </a:extLst>
          </p:cNvPr>
          <p:cNvSpPr/>
          <p:nvPr/>
        </p:nvSpPr>
        <p:spPr>
          <a:xfrm>
            <a:off x="3297908" y="3517218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ISQRT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4F8560-A650-9E36-82DA-6D5649A6C0D1}"/>
              </a:ext>
            </a:extLst>
          </p:cNvPr>
          <p:cNvSpPr/>
          <p:nvPr/>
        </p:nvSpPr>
        <p:spPr>
          <a:xfrm>
            <a:off x="5003056" y="3238469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FMA #1</a:t>
            </a:r>
            <a:endParaRPr lang="en-CA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0914A-135B-535E-A4E6-CB047D1389AE}"/>
              </a:ext>
            </a:extLst>
          </p:cNvPr>
          <p:cNvSpPr/>
          <p:nvPr/>
        </p:nvSpPr>
        <p:spPr>
          <a:xfrm>
            <a:off x="6708204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FCU</a:t>
            </a:r>
            <a:endParaRPr lang="en-CA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36A42-A1EB-0562-B784-8E229D49CA6A}"/>
              </a:ext>
            </a:extLst>
          </p:cNvPr>
          <p:cNvSpPr/>
          <p:nvPr/>
        </p:nvSpPr>
        <p:spPr>
          <a:xfrm>
            <a:off x="7517332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#0</a:t>
            </a:r>
            <a:endParaRPr lang="en-CA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4D86D-B698-D078-FAC0-735B59942F5E}"/>
              </a:ext>
            </a:extLst>
          </p:cNvPr>
          <p:cNvSpPr/>
          <p:nvPr/>
        </p:nvSpPr>
        <p:spPr>
          <a:xfrm>
            <a:off x="8326460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 #1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498E8-92C8-F13C-33EB-F8E9FB749EAD}"/>
              </a:ext>
            </a:extLst>
          </p:cNvPr>
          <p:cNvSpPr/>
          <p:nvPr/>
        </p:nvSpPr>
        <p:spPr>
          <a:xfrm>
            <a:off x="913558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#0</a:t>
            </a:r>
            <a:endParaRPr lang="en-CA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E7F9D1-8DF1-12C2-7700-CE06C68FF045}"/>
              </a:ext>
            </a:extLst>
          </p:cNvPr>
          <p:cNvSpPr/>
          <p:nvPr/>
        </p:nvSpPr>
        <p:spPr>
          <a:xfrm>
            <a:off x="9942478" y="3236713"/>
            <a:ext cx="720000" cy="2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DRAM #1</a:t>
            </a:r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814D67-A90E-DB11-36FA-64E81BB2218A}"/>
              </a:ext>
            </a:extLst>
          </p:cNvPr>
          <p:cNvSpPr/>
          <p:nvPr/>
        </p:nvSpPr>
        <p:spPr>
          <a:xfrm>
            <a:off x="550290" y="2958159"/>
            <a:ext cx="11035473" cy="1435652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B75455-1537-CCE7-A134-6BACBDF6AB81}"/>
              </a:ext>
            </a:extLst>
          </p:cNvPr>
          <p:cNvSpPr/>
          <p:nvPr/>
        </p:nvSpPr>
        <p:spPr>
          <a:xfrm>
            <a:off x="581211" y="1970359"/>
            <a:ext cx="11035473" cy="491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16:36 rotating mux/</a:t>
            </a:r>
            <a:r>
              <a:rPr lang="en-US" sz="1100" dirty="0" err="1"/>
              <a:t>demux</a:t>
            </a:r>
            <a:endParaRPr lang="en-CA" sz="1100" dirty="0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4E2F53D-544F-63C5-E91A-887CB965E6BD}"/>
              </a:ext>
            </a:extLst>
          </p:cNvPr>
          <p:cNvSpPr/>
          <p:nvPr/>
        </p:nvSpPr>
        <p:spPr>
          <a:xfrm>
            <a:off x="958539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25707A37-2146-452E-0E55-34D2DD7327B7}"/>
              </a:ext>
            </a:extLst>
          </p:cNvPr>
          <p:cNvSpPr/>
          <p:nvPr/>
        </p:nvSpPr>
        <p:spPr>
          <a:xfrm>
            <a:off x="1788270" y="2472505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6" name="Arrow: Up-Down 35">
            <a:extLst>
              <a:ext uri="{FF2B5EF4-FFF2-40B4-BE49-F238E27FC236}">
                <a16:creationId xmlns:a16="http://schemas.microsoft.com/office/drawing/2014/main" id="{11E77748-3C95-E25C-76EF-D8273C5CE235}"/>
              </a:ext>
            </a:extLst>
          </p:cNvPr>
          <p:cNvSpPr/>
          <p:nvPr/>
        </p:nvSpPr>
        <p:spPr>
          <a:xfrm>
            <a:off x="2631074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BFEBD308-3329-3694-F8D8-055311DD8850}"/>
              </a:ext>
            </a:extLst>
          </p:cNvPr>
          <p:cNvSpPr/>
          <p:nvPr/>
        </p:nvSpPr>
        <p:spPr>
          <a:xfrm>
            <a:off x="3487425" y="2464774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5B781C08-EC3C-DA74-AC8B-933D83D07036}"/>
              </a:ext>
            </a:extLst>
          </p:cNvPr>
          <p:cNvSpPr/>
          <p:nvPr/>
        </p:nvSpPr>
        <p:spPr>
          <a:xfrm>
            <a:off x="60332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8AF02345-C9B1-B6BF-B7E9-41DDA4A6902F}"/>
              </a:ext>
            </a:extLst>
          </p:cNvPr>
          <p:cNvSpPr/>
          <p:nvPr/>
        </p:nvSpPr>
        <p:spPr>
          <a:xfrm>
            <a:off x="69087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3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484CA597-998E-8D52-2E20-17E9EDFD37DF}"/>
              </a:ext>
            </a:extLst>
          </p:cNvPr>
          <p:cNvSpPr/>
          <p:nvPr/>
        </p:nvSpPr>
        <p:spPr>
          <a:xfrm>
            <a:off x="4322863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CA" sz="1000" dirty="0"/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62D03AFF-D0B3-BE37-A62E-0E325F813B5E}"/>
              </a:ext>
            </a:extLst>
          </p:cNvPr>
          <p:cNvSpPr/>
          <p:nvPr/>
        </p:nvSpPr>
        <p:spPr>
          <a:xfrm>
            <a:off x="5198216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  <a:endParaRPr lang="en-CA" sz="1000" dirty="0"/>
          </a:p>
        </p:txBody>
      </p:sp>
      <p:sp>
        <p:nvSpPr>
          <p:cNvPr id="42" name="Arrow: Up-Down 41">
            <a:extLst>
              <a:ext uri="{FF2B5EF4-FFF2-40B4-BE49-F238E27FC236}">
                <a16:creationId xmlns:a16="http://schemas.microsoft.com/office/drawing/2014/main" id="{C9FFACE2-7D7C-FD95-7CF1-4CB0CBE5103F}"/>
              </a:ext>
            </a:extLst>
          </p:cNvPr>
          <p:cNvSpPr/>
          <p:nvPr/>
        </p:nvSpPr>
        <p:spPr>
          <a:xfrm>
            <a:off x="7688225" y="2462240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2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3" name="Arrow: Up-Down 42">
            <a:extLst>
              <a:ext uri="{FF2B5EF4-FFF2-40B4-BE49-F238E27FC236}">
                <a16:creationId xmlns:a16="http://schemas.microsoft.com/office/drawing/2014/main" id="{19DD16B5-D0C6-56C6-6D1D-356BDF1FC148}"/>
              </a:ext>
            </a:extLst>
          </p:cNvPr>
          <p:cNvSpPr/>
          <p:nvPr/>
        </p:nvSpPr>
        <p:spPr>
          <a:xfrm>
            <a:off x="851295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CA" sz="1000" dirty="0"/>
          </a:p>
        </p:txBody>
      </p:sp>
      <p:sp>
        <p:nvSpPr>
          <p:cNvPr id="44" name="Arrow: Up-Down 43">
            <a:extLst>
              <a:ext uri="{FF2B5EF4-FFF2-40B4-BE49-F238E27FC236}">
                <a16:creationId xmlns:a16="http://schemas.microsoft.com/office/drawing/2014/main" id="{167BD157-E240-85AE-52D0-4AFE67280838}"/>
              </a:ext>
            </a:extLst>
          </p:cNvPr>
          <p:cNvSpPr/>
          <p:nvPr/>
        </p:nvSpPr>
        <p:spPr>
          <a:xfrm>
            <a:off x="9320529" y="2469843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1</a:t>
            </a:r>
            <a:endParaRPr lang="en-CA" sz="1000" dirty="0">
              <a:solidFill>
                <a:srgbClr val="FFFF00"/>
              </a:solidFill>
            </a:endParaRPr>
          </a:p>
        </p:txBody>
      </p:sp>
      <p:sp>
        <p:nvSpPr>
          <p:cNvPr id="45" name="Arrow: Up-Down 44">
            <a:extLst>
              <a:ext uri="{FF2B5EF4-FFF2-40B4-BE49-F238E27FC236}">
                <a16:creationId xmlns:a16="http://schemas.microsoft.com/office/drawing/2014/main" id="{172682AA-5277-427E-737F-654ABD6B1C6C}"/>
              </a:ext>
            </a:extLst>
          </p:cNvPr>
          <p:cNvSpPr/>
          <p:nvPr/>
        </p:nvSpPr>
        <p:spPr>
          <a:xfrm>
            <a:off x="10104017" y="246301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  <a:endParaRPr lang="en-CA" sz="1000" dirty="0"/>
          </a:p>
        </p:txBody>
      </p:sp>
      <p:sp>
        <p:nvSpPr>
          <p:cNvPr id="46" name="Arrow: Up-Down 45">
            <a:extLst>
              <a:ext uri="{FF2B5EF4-FFF2-40B4-BE49-F238E27FC236}">
                <a16:creationId xmlns:a16="http://schemas.microsoft.com/office/drawing/2014/main" id="{25D4805F-00C2-A8C7-4B1F-08EC0AC68B4E}"/>
              </a:ext>
            </a:extLst>
          </p:cNvPr>
          <p:cNvSpPr/>
          <p:nvPr/>
        </p:nvSpPr>
        <p:spPr>
          <a:xfrm>
            <a:off x="4970134" y="1079567"/>
            <a:ext cx="774345" cy="88318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16</a:t>
            </a:r>
            <a:endParaRPr lang="en-CA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481544-3335-7F85-90A9-B756AF2C6056}"/>
              </a:ext>
            </a:extLst>
          </p:cNvPr>
          <p:cNvSpPr txBox="1"/>
          <p:nvPr/>
        </p:nvSpPr>
        <p:spPr>
          <a:xfrm>
            <a:off x="4190302" y="794840"/>
            <a:ext cx="235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from register file</a:t>
            </a:r>
            <a:endParaRPr lang="en-CA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3DF42F-A06D-DCDF-7F17-0E6266147524}"/>
              </a:ext>
            </a:extLst>
          </p:cNvPr>
          <p:cNvSpPr txBox="1"/>
          <p:nvPr/>
        </p:nvSpPr>
        <p:spPr>
          <a:xfrm>
            <a:off x="1161563" y="2672066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00D8EE-6D86-FC07-EA21-3B2BE4A7E948}"/>
              </a:ext>
            </a:extLst>
          </p:cNvPr>
          <p:cNvSpPr txBox="1"/>
          <p:nvPr/>
        </p:nvSpPr>
        <p:spPr>
          <a:xfrm>
            <a:off x="2007382" y="2672065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3D540C-1B32-3351-CC8C-F7BFA22A1DE1}"/>
              </a:ext>
            </a:extLst>
          </p:cNvPr>
          <p:cNvSpPr txBox="1"/>
          <p:nvPr/>
        </p:nvSpPr>
        <p:spPr>
          <a:xfrm>
            <a:off x="2878008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FE1D91-ECA3-A6D3-32FE-F1EC7BAE8F3E}"/>
              </a:ext>
            </a:extLst>
          </p:cNvPr>
          <p:cNvSpPr txBox="1"/>
          <p:nvPr/>
        </p:nvSpPr>
        <p:spPr>
          <a:xfrm>
            <a:off x="3755795" y="266612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60541E-7B15-45F9-FAEA-FF9A5FABD7D2}"/>
              </a:ext>
            </a:extLst>
          </p:cNvPr>
          <p:cNvSpPr txBox="1"/>
          <p:nvPr/>
        </p:nvSpPr>
        <p:spPr>
          <a:xfrm>
            <a:off x="4579075" y="2662254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a,b,c,d</a:t>
            </a:r>
            <a:endParaRPr lang="en-CA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685939-693A-D425-2639-3E3970A99F7B}"/>
              </a:ext>
            </a:extLst>
          </p:cNvPr>
          <p:cNvSpPr txBox="1"/>
          <p:nvPr/>
        </p:nvSpPr>
        <p:spPr>
          <a:xfrm>
            <a:off x="5449529" y="2662253"/>
            <a:ext cx="575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a,b,c,d</a:t>
            </a:r>
            <a:endParaRPr lang="en-CA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38DB82-1AA8-799F-103E-E0E1287C9763}"/>
              </a:ext>
            </a:extLst>
          </p:cNvPr>
          <p:cNvSpPr txBox="1"/>
          <p:nvPr/>
        </p:nvSpPr>
        <p:spPr>
          <a:xfrm>
            <a:off x="6258929" y="265905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A122CF-076B-B8B1-F8F8-4D44D7DF7062}"/>
              </a:ext>
            </a:extLst>
          </p:cNvPr>
          <p:cNvSpPr txBox="1"/>
          <p:nvPr/>
        </p:nvSpPr>
        <p:spPr>
          <a:xfrm>
            <a:off x="7109743" y="2659050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15EF25-89B5-2260-ACC1-EAF1835AA25C}"/>
              </a:ext>
            </a:extLst>
          </p:cNvPr>
          <p:cNvSpPr txBox="1"/>
          <p:nvPr/>
        </p:nvSpPr>
        <p:spPr>
          <a:xfrm>
            <a:off x="7942212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69B9FF-EB44-C279-CBA7-C583125B1D04}"/>
              </a:ext>
            </a:extLst>
          </p:cNvPr>
          <p:cNvSpPr txBox="1"/>
          <p:nvPr/>
        </p:nvSpPr>
        <p:spPr>
          <a:xfrm>
            <a:off x="8731494" y="2666120"/>
            <a:ext cx="362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</a:t>
            </a:r>
            <a:endParaRPr lang="en-CA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372E57-601E-85C8-6FA9-1A8C6C2D7977}"/>
              </a:ext>
            </a:extLst>
          </p:cNvPr>
          <p:cNvSpPr txBox="1"/>
          <p:nvPr/>
        </p:nvSpPr>
        <p:spPr>
          <a:xfrm>
            <a:off x="9542470" y="2659050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E91CDA-12B9-49E3-151D-6F2D75009B7D}"/>
              </a:ext>
            </a:extLst>
          </p:cNvPr>
          <p:cNvSpPr txBox="1"/>
          <p:nvPr/>
        </p:nvSpPr>
        <p:spPr>
          <a:xfrm>
            <a:off x="10345013" y="2666119"/>
            <a:ext cx="2519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</a:t>
            </a:r>
            <a:endParaRPr lang="en-CA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18EFD7-00EC-569A-1C7C-99735328C1E0}"/>
              </a:ext>
            </a:extLst>
          </p:cNvPr>
          <p:cNvSpPr/>
          <p:nvPr/>
        </p:nvSpPr>
        <p:spPr>
          <a:xfrm>
            <a:off x="595518" y="1106917"/>
            <a:ext cx="221753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Fixed Channels Hi-</a:t>
            </a:r>
            <a:r>
              <a:rPr lang="en-US" sz="1100" dirty="0" err="1"/>
              <a:t>lited</a:t>
            </a:r>
            <a:r>
              <a:rPr lang="en-US" sz="1100" dirty="0"/>
              <a:t> in </a:t>
            </a:r>
            <a:r>
              <a:rPr lang="en-US" sz="1100" dirty="0">
                <a:solidFill>
                  <a:srgbClr val="FFFF00"/>
                </a:solidFill>
              </a:rPr>
              <a:t>yellow</a:t>
            </a:r>
          </a:p>
          <a:p>
            <a:pPr algn="ctr"/>
            <a:r>
              <a:rPr lang="en-US" sz="1100" dirty="0">
                <a:solidFill>
                  <a:srgbClr val="FFFF00"/>
                </a:solidFill>
              </a:rPr>
              <a:t>9 Fixed Channels, </a:t>
            </a:r>
            <a:r>
              <a:rPr lang="en-US" sz="1100" dirty="0">
                <a:solidFill>
                  <a:schemeClr val="bg1"/>
                </a:solidFill>
              </a:rPr>
              <a:t>26 rotating</a:t>
            </a:r>
            <a:endParaRPr lang="en-CA" sz="1100" dirty="0">
              <a:solidFill>
                <a:schemeClr val="bg1"/>
              </a:solidFill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E77A8B29-734E-EC7F-F576-39843C2E7F94}"/>
              </a:ext>
            </a:extLst>
          </p:cNvPr>
          <p:cNvSpPr/>
          <p:nvPr/>
        </p:nvSpPr>
        <p:spPr>
          <a:xfrm>
            <a:off x="895890" y="4287197"/>
            <a:ext cx="412386" cy="7056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F11ED450-E4A5-82D3-797A-3FBDBD5B5A63}"/>
              </a:ext>
            </a:extLst>
          </p:cNvPr>
          <p:cNvSpPr/>
          <p:nvPr/>
        </p:nvSpPr>
        <p:spPr>
          <a:xfrm>
            <a:off x="174656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80B4887C-AC92-6545-FF32-3106C78F0D5C}"/>
              </a:ext>
            </a:extLst>
          </p:cNvPr>
          <p:cNvSpPr/>
          <p:nvPr/>
        </p:nvSpPr>
        <p:spPr>
          <a:xfrm>
            <a:off x="2594950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8CC4E98C-122B-753D-15C6-7409B9E8BB46}"/>
              </a:ext>
            </a:extLst>
          </p:cNvPr>
          <p:cNvSpPr/>
          <p:nvPr/>
        </p:nvSpPr>
        <p:spPr>
          <a:xfrm>
            <a:off x="3451301" y="3733217"/>
            <a:ext cx="412386" cy="12661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951ABB06-5D96-AAE7-9FD3-EA359A5E8223}"/>
              </a:ext>
            </a:extLst>
          </p:cNvPr>
          <p:cNvSpPr/>
          <p:nvPr/>
        </p:nvSpPr>
        <p:spPr>
          <a:xfrm>
            <a:off x="4299684" y="346727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B5F88CB-D03F-AE66-BD51-FBB1A8CD5B49}"/>
              </a:ext>
            </a:extLst>
          </p:cNvPr>
          <p:cNvSpPr/>
          <p:nvPr/>
        </p:nvSpPr>
        <p:spPr>
          <a:xfrm>
            <a:off x="5162092" y="3475005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DAF83E3C-C7F5-1498-7118-082DC5426720}"/>
              </a:ext>
            </a:extLst>
          </p:cNvPr>
          <p:cNvSpPr/>
          <p:nvPr/>
        </p:nvSpPr>
        <p:spPr>
          <a:xfrm>
            <a:off x="6023338" y="3953676"/>
            <a:ext cx="412386" cy="1034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15F2B693-EEDB-034A-111E-FB5F74852603}"/>
              </a:ext>
            </a:extLst>
          </p:cNvPr>
          <p:cNvSpPr/>
          <p:nvPr/>
        </p:nvSpPr>
        <p:spPr>
          <a:xfrm>
            <a:off x="6884554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4D58C537-31EA-8880-0C4B-CF20D2ED8B32}"/>
              </a:ext>
            </a:extLst>
          </p:cNvPr>
          <p:cNvSpPr/>
          <p:nvPr/>
        </p:nvSpPr>
        <p:spPr>
          <a:xfrm>
            <a:off x="10067893" y="3456508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9BB8CC11-8D92-539C-E5E8-DAA6D4EFCA99}"/>
              </a:ext>
            </a:extLst>
          </p:cNvPr>
          <p:cNvSpPr/>
          <p:nvPr/>
        </p:nvSpPr>
        <p:spPr>
          <a:xfrm>
            <a:off x="9303439" y="3452713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6F6109-CE91-55C0-CDE9-1FA0A55E1768}"/>
              </a:ext>
            </a:extLst>
          </p:cNvPr>
          <p:cNvSpPr/>
          <p:nvPr/>
        </p:nvSpPr>
        <p:spPr>
          <a:xfrm>
            <a:off x="550290" y="4986832"/>
            <a:ext cx="1108070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11 Result Queues (32 entry)</a:t>
            </a:r>
            <a:endParaRPr lang="en-CA" sz="11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9DFE8E-A4B4-4D09-D92F-B051C93C312D}"/>
              </a:ext>
            </a:extLst>
          </p:cNvPr>
          <p:cNvSpPr/>
          <p:nvPr/>
        </p:nvSpPr>
        <p:spPr>
          <a:xfrm>
            <a:off x="550290" y="5643997"/>
            <a:ext cx="10345531" cy="339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12:4 rotating multiplex</a:t>
            </a:r>
            <a:endParaRPr lang="en-CA" sz="1100" dirty="0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9591EC54-63D4-66BF-6A61-348EBA5DF458}"/>
              </a:ext>
            </a:extLst>
          </p:cNvPr>
          <p:cNvSpPr/>
          <p:nvPr/>
        </p:nvSpPr>
        <p:spPr>
          <a:xfrm>
            <a:off x="3927249" y="5317966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4B9836E3-4F30-B303-77D3-E7C70ED48919}"/>
              </a:ext>
            </a:extLst>
          </p:cNvPr>
          <p:cNvSpPr/>
          <p:nvPr/>
        </p:nvSpPr>
        <p:spPr>
          <a:xfrm>
            <a:off x="3953199" y="5991661"/>
            <a:ext cx="3418296" cy="3183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4 results</a:t>
            </a:r>
            <a:endParaRPr lang="en-CA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2A2CC6-130A-0169-AA3C-3244405DA334}"/>
              </a:ext>
            </a:extLst>
          </p:cNvPr>
          <p:cNvSpPr txBox="1"/>
          <p:nvPr/>
        </p:nvSpPr>
        <p:spPr>
          <a:xfrm>
            <a:off x="4579075" y="6301162"/>
            <a:ext cx="210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to register file</a:t>
            </a:r>
            <a:endParaRPr lang="en-CA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CEC3892-632B-818B-78C4-59F223B66684}"/>
              </a:ext>
            </a:extLst>
          </p:cNvPr>
          <p:cNvCxnSpPr>
            <a:cxnSpLocks/>
          </p:cNvCxnSpPr>
          <p:nvPr/>
        </p:nvCxnSpPr>
        <p:spPr>
          <a:xfrm>
            <a:off x="619335" y="5602611"/>
            <a:ext cx="1026472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4FF6386-F641-CC75-0B08-39487717E665}"/>
              </a:ext>
            </a:extLst>
          </p:cNvPr>
          <p:cNvSpPr txBox="1"/>
          <p:nvPr/>
        </p:nvSpPr>
        <p:spPr>
          <a:xfrm>
            <a:off x="367874" y="5346882"/>
            <a:ext cx="1297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Pipeline Register</a:t>
            </a:r>
            <a:endParaRPr lang="en-CA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658078-6571-A2AC-B706-BC5A4D49B71C}"/>
              </a:ext>
            </a:extLst>
          </p:cNvPr>
          <p:cNvSpPr txBox="1"/>
          <p:nvPr/>
        </p:nvSpPr>
        <p:spPr>
          <a:xfrm>
            <a:off x="8114290" y="334104"/>
            <a:ext cx="27815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SAU: Simple Arithmetic Unit (integer and float)</a:t>
            </a:r>
          </a:p>
          <a:p>
            <a:r>
              <a:rPr lang="en-US" sz="1000" dirty="0"/>
              <a:t>IMUL: Integer multiplier</a:t>
            </a:r>
          </a:p>
          <a:p>
            <a:r>
              <a:rPr lang="en-US" sz="1000" dirty="0"/>
              <a:t>IDIV: Integer Divider</a:t>
            </a:r>
          </a:p>
          <a:p>
            <a:r>
              <a:rPr lang="en-US" sz="1000" dirty="0"/>
              <a:t>FMA: Floating-point multiply and add</a:t>
            </a:r>
          </a:p>
          <a:p>
            <a:r>
              <a:rPr lang="en-US" sz="1000" dirty="0"/>
              <a:t>TRIG: Floating-point trig, divide and square root</a:t>
            </a:r>
          </a:p>
          <a:p>
            <a:r>
              <a:rPr lang="en-US" sz="1000" dirty="0"/>
              <a:t>FCU: Flow control unit (branch unit)</a:t>
            </a:r>
          </a:p>
          <a:p>
            <a:r>
              <a:rPr lang="en-US" sz="1000" dirty="0"/>
              <a:t>AGEN: Address generator</a:t>
            </a:r>
          </a:p>
          <a:p>
            <a:r>
              <a:rPr lang="en-US" sz="1000" dirty="0"/>
              <a:t>DRAM: Data cache control logic</a:t>
            </a:r>
            <a:endParaRPr lang="en-CA" sz="1000" dirty="0"/>
          </a:p>
        </p:txBody>
      </p:sp>
      <p:sp>
        <p:nvSpPr>
          <p:cNvPr id="80" name="Arrow: Up-Down 79">
            <a:extLst>
              <a:ext uri="{FF2B5EF4-FFF2-40B4-BE49-F238E27FC236}">
                <a16:creationId xmlns:a16="http://schemas.microsoft.com/office/drawing/2014/main" id="{23031C47-9C51-2E3C-8044-86E760B0C279}"/>
              </a:ext>
            </a:extLst>
          </p:cNvPr>
          <p:cNvSpPr/>
          <p:nvPr/>
        </p:nvSpPr>
        <p:spPr>
          <a:xfrm>
            <a:off x="10969367" y="2454509"/>
            <a:ext cx="340139" cy="768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CA" sz="1000" dirty="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358B07E1-F8AC-5A1E-64F8-01F9710B3DA6}"/>
              </a:ext>
            </a:extLst>
          </p:cNvPr>
          <p:cNvSpPr/>
          <p:nvPr/>
        </p:nvSpPr>
        <p:spPr>
          <a:xfrm>
            <a:off x="10946607" y="3459339"/>
            <a:ext cx="412386" cy="153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C7ADDBA-B4B9-FCE6-6B87-090131B12A24}"/>
              </a:ext>
            </a:extLst>
          </p:cNvPr>
          <p:cNvSpPr txBox="1"/>
          <p:nvPr/>
        </p:nvSpPr>
        <p:spPr>
          <a:xfrm>
            <a:off x="11175815" y="2680514"/>
            <a:ext cx="4716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a,b,d</a:t>
            </a:r>
            <a:endParaRPr lang="en-CA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5101C1-E541-D542-199F-C5DB73595420}"/>
              </a:ext>
            </a:extLst>
          </p:cNvPr>
          <p:cNvSpPr txBox="1"/>
          <p:nvPr/>
        </p:nvSpPr>
        <p:spPr>
          <a:xfrm>
            <a:off x="141373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E520EF-4343-E99C-087F-0232C7BC6D24}"/>
              </a:ext>
            </a:extLst>
          </p:cNvPr>
          <p:cNvSpPr txBox="1"/>
          <p:nvPr/>
        </p:nvSpPr>
        <p:spPr>
          <a:xfrm>
            <a:off x="2028143" y="3838330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FB1DF9-D495-C990-6566-49EAD69A86AB}"/>
              </a:ext>
            </a:extLst>
          </p:cNvPr>
          <p:cNvSpPr txBox="1"/>
          <p:nvPr/>
        </p:nvSpPr>
        <p:spPr>
          <a:xfrm>
            <a:off x="2868113" y="3826272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4</a:t>
            </a:r>
            <a:endParaRPr lang="en-CA" sz="8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88EC9D-8895-9EB8-CB82-C39049FDD38D}"/>
              </a:ext>
            </a:extLst>
          </p:cNvPr>
          <p:cNvSpPr txBox="1"/>
          <p:nvPr/>
        </p:nvSpPr>
        <p:spPr>
          <a:xfrm>
            <a:off x="3759672" y="3826272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D1C316-B5D7-51AD-7A45-655722475189}"/>
              </a:ext>
            </a:extLst>
          </p:cNvPr>
          <p:cNvSpPr txBox="1"/>
          <p:nvPr/>
        </p:nvSpPr>
        <p:spPr>
          <a:xfrm>
            <a:off x="4588152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7226EE-43AD-3F0F-0A0E-8ECA87874481}"/>
              </a:ext>
            </a:extLst>
          </p:cNvPr>
          <p:cNvSpPr txBox="1"/>
          <p:nvPr/>
        </p:nvSpPr>
        <p:spPr>
          <a:xfrm>
            <a:off x="5436604" y="3848308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8</a:t>
            </a:r>
            <a:endParaRPr lang="en-CA" sz="8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8870B3-430D-D283-D86C-4C514A5BF941}"/>
              </a:ext>
            </a:extLst>
          </p:cNvPr>
          <p:cNvSpPr txBox="1"/>
          <p:nvPr/>
        </p:nvSpPr>
        <p:spPr>
          <a:xfrm>
            <a:off x="6359845" y="4000674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??</a:t>
            </a:r>
            <a:endParaRPr lang="en-CA" sz="8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0E5963-C409-D8AD-920C-2D8AB5A17E9C}"/>
              </a:ext>
            </a:extLst>
          </p:cNvPr>
          <p:cNvSpPr txBox="1"/>
          <p:nvPr/>
        </p:nvSpPr>
        <p:spPr>
          <a:xfrm>
            <a:off x="7141752" y="3837225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1</a:t>
            </a:r>
            <a:endParaRPr lang="en-CA" sz="8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81DFDA-4CD0-5C12-2298-C7B2CE37957D}"/>
              </a:ext>
            </a:extLst>
          </p:cNvPr>
          <p:cNvSpPr txBox="1"/>
          <p:nvPr/>
        </p:nvSpPr>
        <p:spPr>
          <a:xfrm>
            <a:off x="11210490" y="3853299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Lat: 3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349399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814</Words>
  <Application>Microsoft Office PowerPoint</Application>
  <PresentationFormat>Widescreen</PresentationFormat>
  <Paragraphs>234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Qupls2026: Instruction Fetch Stage (*_fet)</vt:lpstr>
      <vt:lpstr>Qupls2026: Instruction Extract Stage (*_mux)</vt:lpstr>
      <vt:lpstr>Qupls2026: Decode Stage (*_dec)</vt:lpstr>
      <vt:lpstr>Qupls2026: Decode Stage (more)</vt:lpstr>
      <vt:lpstr>Qupls2026: Rename Stage (*_ren)</vt:lpstr>
      <vt:lpstr>Qupls2026: Execute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2</cp:revision>
  <dcterms:created xsi:type="dcterms:W3CDTF">2025-04-28T15:04:58Z</dcterms:created>
  <dcterms:modified xsi:type="dcterms:W3CDTF">2025-11-08T01:43:11Z</dcterms:modified>
</cp:coreProperties>
</file>