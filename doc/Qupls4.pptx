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4" r:id="rId2"/>
    <p:sldId id="261" r:id="rId3"/>
    <p:sldId id="258" r:id="rId4"/>
    <p:sldId id="257" r:id="rId5"/>
    <p:sldId id="259" r:id="rId6"/>
    <p:sldId id="260" r:id="rId7"/>
    <p:sldId id="273" r:id="rId8"/>
    <p:sldId id="256" r:id="rId9"/>
    <p:sldId id="262" r:id="rId10"/>
    <p:sldId id="263" r:id="rId11"/>
    <p:sldId id="265" r:id="rId12"/>
    <p:sldId id="266" r:id="rId13"/>
    <p:sldId id="270" r:id="rId14"/>
    <p:sldId id="271" r:id="rId15"/>
    <p:sldId id="267" r:id="rId16"/>
    <p:sldId id="268" r:id="rId17"/>
    <p:sldId id="269" r:id="rId18"/>
    <p:sldId id="272" r:id="rId19"/>
    <p:sldId id="274" r:id="rId20"/>
    <p:sldId id="275" r:id="rId21"/>
    <p:sldId id="276" r:id="rId22"/>
    <p:sldId id="277" r:id="rId23"/>
    <p:sldId id="278" r:id="rId24"/>
    <p:sldId id="279" r:id="rId25"/>
    <p:sldId id="281" r:id="rId26"/>
    <p:sldId id="280" r:id="rId27"/>
  </p:sldIdLst>
  <p:sldSz cx="12192000" cy="121681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62D23C-646F-440E-92B9-F53D5EE7B426}" v="2" dt="2026-09-15T04:10:56.9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86" d="100"/>
          <a:sy n="86" d="100"/>
        </p:scale>
        <p:origin x="3112"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Finch" userId="360118edfabb5ba6" providerId="LiveId" clId="{940D50E2-FEDC-434C-83CF-A13052851249}"/>
    <pc:docChg chg="undo custSel addSld modSld">
      <pc:chgData name="Robert Finch" userId="360118edfabb5ba6" providerId="LiveId" clId="{940D50E2-FEDC-434C-83CF-A13052851249}" dt="2026-09-15T04:14:43.364" v="8388" actId="20577"/>
      <pc:docMkLst>
        <pc:docMk/>
      </pc:docMkLst>
      <pc:sldChg chg="addSp delSp modSp add mod">
        <pc:chgData name="Robert Finch" userId="360118edfabb5ba6" providerId="LiveId" clId="{940D50E2-FEDC-434C-83CF-A13052851249}" dt="2026-09-15T04:14:43.364" v="8388" actId="20577"/>
        <pc:sldMkLst>
          <pc:docMk/>
          <pc:sldMk cId="2172903478" sldId="281"/>
        </pc:sldMkLst>
        <pc:spChg chg="add mod">
          <ac:chgData name="Robert Finch" userId="360118edfabb5ba6" providerId="LiveId" clId="{940D50E2-FEDC-434C-83CF-A13052851249}" dt="2026-09-15T04:11:52.309" v="8336" actId="14100"/>
          <ac:spMkLst>
            <pc:docMk/>
            <pc:sldMk cId="2172903478" sldId="281"/>
            <ac:spMk id="3" creationId="{EDE29F26-7526-D491-545D-A40FC48D2CA8}"/>
          </ac:spMkLst>
        </pc:spChg>
        <pc:spChg chg="mod">
          <ac:chgData name="Robert Finch" userId="360118edfabb5ba6" providerId="LiveId" clId="{940D50E2-FEDC-434C-83CF-A13052851249}" dt="2026-09-15T04:11:31.408" v="8333" actId="14100"/>
          <ac:spMkLst>
            <pc:docMk/>
            <pc:sldMk cId="2172903478" sldId="281"/>
            <ac:spMk id="4" creationId="{5735D253-AA39-A15B-A4C1-F94B4FD71904}"/>
          </ac:spMkLst>
        </pc:spChg>
        <pc:spChg chg="del">
          <ac:chgData name="Robert Finch" userId="360118edfabb5ba6" providerId="LiveId" clId="{940D50E2-FEDC-434C-83CF-A13052851249}" dt="2026-09-15T04:13:41.959" v="8364" actId="478"/>
          <ac:spMkLst>
            <pc:docMk/>
            <pc:sldMk cId="2172903478" sldId="281"/>
            <ac:spMk id="5" creationId="{8F025E25-2CEA-4D4D-EF88-37A570FFEE37}"/>
          </ac:spMkLst>
        </pc:spChg>
        <pc:spChg chg="mod">
          <ac:chgData name="Robert Finch" userId="360118edfabb5ba6" providerId="LiveId" clId="{940D50E2-FEDC-434C-83CF-A13052851249}" dt="2026-09-15T04:11:22.644" v="8331" actId="1076"/>
          <ac:spMkLst>
            <pc:docMk/>
            <pc:sldMk cId="2172903478" sldId="281"/>
            <ac:spMk id="28" creationId="{C90AE24E-A418-AEF0-6865-43D7D7A6ACF8}"/>
          </ac:spMkLst>
        </pc:spChg>
        <pc:spChg chg="mod">
          <ac:chgData name="Robert Finch" userId="360118edfabb5ba6" providerId="LiveId" clId="{940D50E2-FEDC-434C-83CF-A13052851249}" dt="2026-09-15T04:11:48.792" v="8335" actId="14100"/>
          <ac:spMkLst>
            <pc:docMk/>
            <pc:sldMk cId="2172903478" sldId="281"/>
            <ac:spMk id="29" creationId="{E6FA1C43-7C5F-44E8-834A-4D32D472C632}"/>
          </ac:spMkLst>
        </pc:spChg>
        <pc:spChg chg="del">
          <ac:chgData name="Robert Finch" userId="360118edfabb5ba6" providerId="LiveId" clId="{940D50E2-FEDC-434C-83CF-A13052851249}" dt="2026-09-15T04:09:04.896" v="8295" actId="478"/>
          <ac:spMkLst>
            <pc:docMk/>
            <pc:sldMk cId="2172903478" sldId="281"/>
            <ac:spMk id="30" creationId="{6D3760F8-3A81-227E-15A0-93894141FAA0}"/>
          </ac:spMkLst>
        </pc:spChg>
        <pc:spChg chg="del">
          <ac:chgData name="Robert Finch" userId="360118edfabb5ba6" providerId="LiveId" clId="{940D50E2-FEDC-434C-83CF-A13052851249}" dt="2026-09-15T04:09:27.696" v="8305" actId="478"/>
          <ac:spMkLst>
            <pc:docMk/>
            <pc:sldMk cId="2172903478" sldId="281"/>
            <ac:spMk id="32" creationId="{0F31EE02-2EC3-5CC0-320E-57D52CA21907}"/>
          </ac:spMkLst>
        </pc:spChg>
        <pc:spChg chg="del mod">
          <ac:chgData name="Robert Finch" userId="360118edfabb5ba6" providerId="LiveId" clId="{940D50E2-FEDC-434C-83CF-A13052851249}" dt="2026-09-15T04:09:32.079" v="8307" actId="478"/>
          <ac:spMkLst>
            <pc:docMk/>
            <pc:sldMk cId="2172903478" sldId="281"/>
            <ac:spMk id="33" creationId="{60E94136-E894-F2A8-3D1C-91E1A6EB9279}"/>
          </ac:spMkLst>
        </pc:spChg>
        <pc:spChg chg="del">
          <ac:chgData name="Robert Finch" userId="360118edfabb5ba6" providerId="LiveId" clId="{940D50E2-FEDC-434C-83CF-A13052851249}" dt="2026-09-15T04:08:56.328" v="8291" actId="478"/>
          <ac:spMkLst>
            <pc:docMk/>
            <pc:sldMk cId="2172903478" sldId="281"/>
            <ac:spMk id="34" creationId="{011FDDC4-7AB7-DC00-E428-ADDB255AE5CA}"/>
          </ac:spMkLst>
        </pc:spChg>
        <pc:spChg chg="del">
          <ac:chgData name="Robert Finch" userId="360118edfabb5ba6" providerId="LiveId" clId="{940D50E2-FEDC-434C-83CF-A13052851249}" dt="2026-09-15T04:09:25.872" v="8304" actId="478"/>
          <ac:spMkLst>
            <pc:docMk/>
            <pc:sldMk cId="2172903478" sldId="281"/>
            <ac:spMk id="35" creationId="{7306335D-4563-B8D1-6277-BB2E101893ED}"/>
          </ac:spMkLst>
        </pc:spChg>
        <pc:spChg chg="del">
          <ac:chgData name="Robert Finch" userId="360118edfabb5ba6" providerId="LiveId" clId="{940D50E2-FEDC-434C-83CF-A13052851249}" dt="2026-09-15T04:09:39.944" v="8309" actId="478"/>
          <ac:spMkLst>
            <pc:docMk/>
            <pc:sldMk cId="2172903478" sldId="281"/>
            <ac:spMk id="36" creationId="{359ABC8D-4C57-05A9-176B-8FB316A06A4B}"/>
          </ac:spMkLst>
        </pc:spChg>
        <pc:spChg chg="mod">
          <ac:chgData name="Robert Finch" userId="360118edfabb5ba6" providerId="LiveId" clId="{940D50E2-FEDC-434C-83CF-A13052851249}" dt="2026-09-15T03:51:52.447" v="8252" actId="14100"/>
          <ac:spMkLst>
            <pc:docMk/>
            <pc:sldMk cId="2172903478" sldId="281"/>
            <ac:spMk id="37" creationId="{27469E07-2A30-1B00-C47E-D99F68E5765F}"/>
          </ac:spMkLst>
        </pc:spChg>
        <pc:spChg chg="mod">
          <ac:chgData name="Robert Finch" userId="360118edfabb5ba6" providerId="LiveId" clId="{940D50E2-FEDC-434C-83CF-A13052851249}" dt="2026-09-15T04:14:43.364" v="8388" actId="20577"/>
          <ac:spMkLst>
            <pc:docMk/>
            <pc:sldMk cId="2172903478" sldId="281"/>
            <ac:spMk id="38" creationId="{D811C57C-1556-92B4-7056-CDC1E5AAED46}"/>
          </ac:spMkLst>
        </pc:spChg>
        <pc:spChg chg="del">
          <ac:chgData name="Robert Finch" userId="360118edfabb5ba6" providerId="LiveId" clId="{940D50E2-FEDC-434C-83CF-A13052851249}" dt="2026-09-15T04:09:07.070" v="8296" actId="478"/>
          <ac:spMkLst>
            <pc:docMk/>
            <pc:sldMk cId="2172903478" sldId="281"/>
            <ac:spMk id="39" creationId="{37CEDC54-5DCB-EF1D-CE17-7B9BD43ECE94}"/>
          </ac:spMkLst>
        </pc:spChg>
        <pc:spChg chg="del">
          <ac:chgData name="Robert Finch" userId="360118edfabb5ba6" providerId="LiveId" clId="{940D50E2-FEDC-434C-83CF-A13052851249}" dt="2026-09-15T04:09:17.776" v="8301" actId="478"/>
          <ac:spMkLst>
            <pc:docMk/>
            <pc:sldMk cId="2172903478" sldId="281"/>
            <ac:spMk id="40" creationId="{3957328F-2696-0638-50F4-6F501B202DBF}"/>
          </ac:spMkLst>
        </pc:spChg>
        <pc:spChg chg="add mod">
          <ac:chgData name="Robert Finch" userId="360118edfabb5ba6" providerId="LiveId" clId="{940D50E2-FEDC-434C-83CF-A13052851249}" dt="2026-09-15T04:11:56.532" v="8337" actId="14100"/>
          <ac:spMkLst>
            <pc:docMk/>
            <pc:sldMk cId="2172903478" sldId="281"/>
            <ac:spMk id="41" creationId="{7D58F424-C989-76BF-A4A8-A4230A31004E}"/>
          </ac:spMkLst>
        </pc:spChg>
        <pc:spChg chg="add mod">
          <ac:chgData name="Robert Finch" userId="360118edfabb5ba6" providerId="LiveId" clId="{940D50E2-FEDC-434C-83CF-A13052851249}" dt="2026-09-15T04:12:00.577" v="8338" actId="14100"/>
          <ac:spMkLst>
            <pc:docMk/>
            <pc:sldMk cId="2172903478" sldId="281"/>
            <ac:spMk id="43" creationId="{D9CB0B13-AEAB-669D-58C7-DB4CF4AD5687}"/>
          </ac:spMkLst>
        </pc:spChg>
        <pc:spChg chg="add mod">
          <ac:chgData name="Robert Finch" userId="360118edfabb5ba6" providerId="LiveId" clId="{940D50E2-FEDC-434C-83CF-A13052851249}" dt="2026-09-15T04:12:06.406" v="8339" actId="14100"/>
          <ac:spMkLst>
            <pc:docMk/>
            <pc:sldMk cId="2172903478" sldId="281"/>
            <ac:spMk id="45" creationId="{4A2EBF1E-3636-D39C-A528-E362B2A131C0}"/>
          </ac:spMkLst>
        </pc:spChg>
        <pc:spChg chg="add mod">
          <ac:chgData name="Robert Finch" userId="360118edfabb5ba6" providerId="LiveId" clId="{940D50E2-FEDC-434C-83CF-A13052851249}" dt="2026-09-15T04:12:10.749" v="8340" actId="14100"/>
          <ac:spMkLst>
            <pc:docMk/>
            <pc:sldMk cId="2172903478" sldId="281"/>
            <ac:spMk id="47" creationId="{7D319E9D-D1BA-FABC-C06D-B4B2AA9F647C}"/>
          </ac:spMkLst>
        </pc:spChg>
        <pc:spChg chg="add del mod">
          <ac:chgData name="Robert Finch" userId="360118edfabb5ba6" providerId="LiveId" clId="{940D50E2-FEDC-434C-83CF-A13052851249}" dt="2026-09-15T04:10:59.326" v="8329"/>
          <ac:spMkLst>
            <pc:docMk/>
            <pc:sldMk cId="2172903478" sldId="281"/>
            <ac:spMk id="49" creationId="{E9812D2A-A63C-5017-7A56-11E9DEB46BD4}"/>
          </ac:spMkLst>
        </pc:spChg>
        <pc:spChg chg="mod">
          <ac:chgData name="Robert Finch" userId="360118edfabb5ba6" providerId="LiveId" clId="{940D50E2-FEDC-434C-83CF-A13052851249}" dt="2026-09-15T04:13:35.508" v="8363" actId="1076"/>
          <ac:spMkLst>
            <pc:docMk/>
            <pc:sldMk cId="2172903478" sldId="281"/>
            <ac:spMk id="51" creationId="{23AD8690-1F38-2A29-A5AC-314ED3DEACCC}"/>
          </ac:spMkLst>
        </pc:spChg>
        <pc:spChg chg="mod">
          <ac:chgData name="Robert Finch" userId="360118edfabb5ba6" providerId="LiveId" clId="{940D50E2-FEDC-434C-83CF-A13052851249}" dt="2026-09-15T04:13:22.860" v="8362" actId="14100"/>
          <ac:spMkLst>
            <pc:docMk/>
            <pc:sldMk cId="2172903478" sldId="281"/>
            <ac:spMk id="56" creationId="{66BD3E29-5F3A-F78A-1820-F28419BF088B}"/>
          </ac:spMkLst>
        </pc:spChg>
        <pc:spChg chg="mod">
          <ac:chgData name="Robert Finch" userId="360118edfabb5ba6" providerId="LiveId" clId="{940D50E2-FEDC-434C-83CF-A13052851249}" dt="2026-09-15T04:13:35.508" v="8363" actId="1076"/>
          <ac:spMkLst>
            <pc:docMk/>
            <pc:sldMk cId="2172903478" sldId="281"/>
            <ac:spMk id="59" creationId="{B0AD8FCF-BBB2-4BF4-651E-7493DC9899DC}"/>
          </ac:spMkLst>
        </pc:spChg>
        <pc:spChg chg="mod">
          <ac:chgData name="Robert Finch" userId="360118edfabb5ba6" providerId="LiveId" clId="{940D50E2-FEDC-434C-83CF-A13052851249}" dt="2026-09-15T04:13:35.508" v="8363" actId="1076"/>
          <ac:spMkLst>
            <pc:docMk/>
            <pc:sldMk cId="2172903478" sldId="281"/>
            <ac:spMk id="64" creationId="{C119B157-70F4-F944-1AB9-095B141FFB8F}"/>
          </ac:spMkLst>
        </pc:spChg>
        <pc:spChg chg="mod">
          <ac:chgData name="Robert Finch" userId="360118edfabb5ba6" providerId="LiveId" clId="{940D50E2-FEDC-434C-83CF-A13052851249}" dt="2026-09-15T04:13:35.508" v="8363" actId="1076"/>
          <ac:spMkLst>
            <pc:docMk/>
            <pc:sldMk cId="2172903478" sldId="281"/>
            <ac:spMk id="66" creationId="{2682230A-1244-0566-4E3B-4A63C2302892}"/>
          </ac:spMkLst>
        </pc:spChg>
        <pc:spChg chg="mod">
          <ac:chgData name="Robert Finch" userId="360118edfabb5ba6" providerId="LiveId" clId="{940D50E2-FEDC-434C-83CF-A13052851249}" dt="2026-09-15T04:13:35.508" v="8363" actId="1076"/>
          <ac:spMkLst>
            <pc:docMk/>
            <pc:sldMk cId="2172903478" sldId="281"/>
            <ac:spMk id="73" creationId="{454BBABF-D3ED-3371-D9F1-77C2E2B91DC0}"/>
          </ac:spMkLst>
        </pc:spChg>
        <pc:spChg chg="del">
          <ac:chgData name="Robert Finch" userId="360118edfabb5ba6" providerId="LiveId" clId="{940D50E2-FEDC-434C-83CF-A13052851249}" dt="2026-09-15T03:51:44.115" v="8251" actId="478"/>
          <ac:spMkLst>
            <pc:docMk/>
            <pc:sldMk cId="2172903478" sldId="281"/>
            <ac:spMk id="74" creationId="{A9B4E2D9-B2A8-795F-BF9E-64FC2D5D862E}"/>
          </ac:spMkLst>
        </pc:spChg>
        <pc:spChg chg="del">
          <ac:chgData name="Robert Finch" userId="360118edfabb5ba6" providerId="LiveId" clId="{940D50E2-FEDC-434C-83CF-A13052851249}" dt="2026-09-15T04:08:54.633" v="8290" actId="478"/>
          <ac:spMkLst>
            <pc:docMk/>
            <pc:sldMk cId="2172903478" sldId="281"/>
            <ac:spMk id="85" creationId="{9645EAC2-B3C4-AE04-540A-6A6534249C19}"/>
          </ac:spMkLst>
        </pc:spChg>
        <pc:spChg chg="del">
          <ac:chgData name="Robert Finch" userId="360118edfabb5ba6" providerId="LiveId" clId="{940D50E2-FEDC-434C-83CF-A13052851249}" dt="2026-09-15T04:08:57.687" v="8292" actId="478"/>
          <ac:spMkLst>
            <pc:docMk/>
            <pc:sldMk cId="2172903478" sldId="281"/>
            <ac:spMk id="86" creationId="{39889858-7C1E-0643-C1D1-BE71A5D4F0CC}"/>
          </ac:spMkLst>
        </pc:spChg>
        <pc:spChg chg="del">
          <ac:chgData name="Robert Finch" userId="360118edfabb5ba6" providerId="LiveId" clId="{940D50E2-FEDC-434C-83CF-A13052851249}" dt="2026-09-15T04:08:59.719" v="8293" actId="478"/>
          <ac:spMkLst>
            <pc:docMk/>
            <pc:sldMk cId="2172903478" sldId="281"/>
            <ac:spMk id="87" creationId="{65A21202-78BF-6AB7-EE4A-265EB6345F20}"/>
          </ac:spMkLst>
        </pc:spChg>
        <pc:spChg chg="del">
          <ac:chgData name="Robert Finch" userId="360118edfabb5ba6" providerId="LiveId" clId="{940D50E2-FEDC-434C-83CF-A13052851249}" dt="2026-09-15T04:09:08.607" v="8297" actId="478"/>
          <ac:spMkLst>
            <pc:docMk/>
            <pc:sldMk cId="2172903478" sldId="281"/>
            <ac:spMk id="89" creationId="{4B8F7B95-EC8C-752C-3487-312455F47D3D}"/>
          </ac:spMkLst>
        </pc:spChg>
        <pc:spChg chg="del">
          <ac:chgData name="Robert Finch" userId="360118edfabb5ba6" providerId="LiveId" clId="{940D50E2-FEDC-434C-83CF-A13052851249}" dt="2026-09-15T04:09:10.639" v="8298" actId="478"/>
          <ac:spMkLst>
            <pc:docMk/>
            <pc:sldMk cId="2172903478" sldId="281"/>
            <ac:spMk id="91" creationId="{4C3DF3BB-B6F5-9ED6-B08A-5B3E9DE51CB9}"/>
          </ac:spMkLst>
        </pc:spChg>
        <pc:spChg chg="del">
          <ac:chgData name="Robert Finch" userId="360118edfabb5ba6" providerId="LiveId" clId="{940D50E2-FEDC-434C-83CF-A13052851249}" dt="2026-09-15T04:09:12.263" v="8299" actId="478"/>
          <ac:spMkLst>
            <pc:docMk/>
            <pc:sldMk cId="2172903478" sldId="281"/>
            <ac:spMk id="92" creationId="{EA4BE683-45E7-2A86-2D02-866E9D54B494}"/>
          </ac:spMkLst>
        </pc:spChg>
        <pc:spChg chg="del">
          <ac:chgData name="Robert Finch" userId="360118edfabb5ba6" providerId="LiveId" clId="{940D50E2-FEDC-434C-83CF-A13052851249}" dt="2026-09-15T04:09:14.552" v="8300" actId="478"/>
          <ac:spMkLst>
            <pc:docMk/>
            <pc:sldMk cId="2172903478" sldId="281"/>
            <ac:spMk id="94" creationId="{05DB2BE6-CCCF-2B93-2F03-42E86B3A0D72}"/>
          </ac:spMkLst>
        </pc:spChg>
        <pc:spChg chg="del">
          <ac:chgData name="Robert Finch" userId="360118edfabb5ba6" providerId="LiveId" clId="{940D50E2-FEDC-434C-83CF-A13052851249}" dt="2026-09-15T04:09:19.272" v="8302" actId="478"/>
          <ac:spMkLst>
            <pc:docMk/>
            <pc:sldMk cId="2172903478" sldId="281"/>
            <ac:spMk id="96" creationId="{0E6AFF20-1C94-80BD-055D-DB8BD994C427}"/>
          </ac:spMkLst>
        </pc:spChg>
        <pc:spChg chg="del">
          <ac:chgData name="Robert Finch" userId="360118edfabb5ba6" providerId="LiveId" clId="{940D50E2-FEDC-434C-83CF-A13052851249}" dt="2026-09-15T04:09:21.192" v="8303" actId="478"/>
          <ac:spMkLst>
            <pc:docMk/>
            <pc:sldMk cId="2172903478" sldId="281"/>
            <ac:spMk id="97" creationId="{C31F0621-1557-8F44-BE97-1C26AB87C69A}"/>
          </ac:spMkLst>
        </pc:spChg>
        <pc:spChg chg="del">
          <ac:chgData name="Robert Finch" userId="360118edfabb5ba6" providerId="LiveId" clId="{940D50E2-FEDC-434C-83CF-A13052851249}" dt="2026-09-15T04:09:02.697" v="8294" actId="478"/>
          <ac:spMkLst>
            <pc:docMk/>
            <pc:sldMk cId="2172903478" sldId="281"/>
            <ac:spMk id="98" creationId="{E782DC9E-8A33-5145-7680-B5EE4B08CE34}"/>
          </ac:spMkLst>
        </pc:spChg>
        <pc:spChg chg="del">
          <ac:chgData name="Robert Finch" userId="360118edfabb5ba6" providerId="LiveId" clId="{940D50E2-FEDC-434C-83CF-A13052851249}" dt="2026-09-15T04:09:37.056" v="8308" actId="478"/>
          <ac:spMkLst>
            <pc:docMk/>
            <pc:sldMk cId="2172903478" sldId="281"/>
            <ac:spMk id="99" creationId="{B7CBC29B-A236-9E39-40F5-D34B60418E6D}"/>
          </ac:spMkLst>
        </pc:spChg>
        <pc:spChg chg="del">
          <ac:chgData name="Robert Finch" userId="360118edfabb5ba6" providerId="LiveId" clId="{940D50E2-FEDC-434C-83CF-A13052851249}" dt="2026-09-15T04:09:41.389" v="8310" actId="478"/>
          <ac:spMkLst>
            <pc:docMk/>
            <pc:sldMk cId="2172903478" sldId="281"/>
            <ac:spMk id="102" creationId="{4AFCEBD5-C4FA-32ED-5151-327122A764E4}"/>
          </ac:spMkLst>
        </pc:spChg>
        <pc:spChg chg="del">
          <ac:chgData name="Robert Finch" userId="360118edfabb5ba6" providerId="LiveId" clId="{940D50E2-FEDC-434C-83CF-A13052851249}" dt="2026-09-15T04:09:43.492" v="8311" actId="478"/>
          <ac:spMkLst>
            <pc:docMk/>
            <pc:sldMk cId="2172903478" sldId="281"/>
            <ac:spMk id="105" creationId="{7500B2C1-ED76-0CA7-15AF-B95F9E5F03AB}"/>
          </ac:spMkLst>
        </pc:spChg>
        <pc:spChg chg="mod">
          <ac:chgData name="Robert Finch" userId="360118edfabb5ba6" providerId="LiveId" clId="{940D50E2-FEDC-434C-83CF-A13052851249}" dt="2026-09-15T04:06:56.967" v="8254" actId="20577"/>
          <ac:spMkLst>
            <pc:docMk/>
            <pc:sldMk cId="2172903478" sldId="281"/>
            <ac:spMk id="108" creationId="{7EDC3D13-03BE-9332-08E6-FC61C533F84D}"/>
          </ac:spMkLst>
        </pc:spChg>
        <pc:spChg chg="mod">
          <ac:chgData name="Robert Finch" userId="360118edfabb5ba6" providerId="LiveId" clId="{940D50E2-FEDC-434C-83CF-A13052851249}" dt="2026-09-15T04:11:40.172" v="8334" actId="1076"/>
          <ac:spMkLst>
            <pc:docMk/>
            <pc:sldMk cId="2172903478" sldId="281"/>
            <ac:spMk id="111" creationId="{AF2634B9-ECA8-D24D-FA7D-4046FBE10D85}"/>
          </ac:spMkLst>
        </pc:spChg>
        <pc:spChg chg="del mod">
          <ac:chgData name="Robert Finch" userId="360118edfabb5ba6" providerId="LiveId" clId="{940D50E2-FEDC-434C-83CF-A13052851249}" dt="2026-09-15T04:12:32.744" v="8342" actId="478"/>
          <ac:spMkLst>
            <pc:docMk/>
            <pc:sldMk cId="2172903478" sldId="281"/>
            <ac:spMk id="112" creationId="{98D1EF2D-4FA9-F752-D6C6-2E9B42363C47}"/>
          </ac:spMkLst>
        </pc:spChg>
        <pc:spChg chg="del">
          <ac:chgData name="Robert Finch" userId="360118edfabb5ba6" providerId="LiveId" clId="{940D50E2-FEDC-434C-83CF-A13052851249}" dt="2026-09-15T04:12:46.209" v="8345" actId="478"/>
          <ac:spMkLst>
            <pc:docMk/>
            <pc:sldMk cId="2172903478" sldId="281"/>
            <ac:spMk id="113" creationId="{B20A7211-79DE-DD0B-87C9-73552AC39E37}"/>
          </ac:spMkLst>
        </pc:spChg>
        <pc:spChg chg="del">
          <ac:chgData name="Robert Finch" userId="360118edfabb5ba6" providerId="LiveId" clId="{940D50E2-FEDC-434C-83CF-A13052851249}" dt="2026-09-15T04:13:05.079" v="8359" actId="478"/>
          <ac:spMkLst>
            <pc:docMk/>
            <pc:sldMk cId="2172903478" sldId="281"/>
            <ac:spMk id="114" creationId="{34FAE04C-7665-7E6F-C98F-DCCB3C3CD720}"/>
          </ac:spMkLst>
        </pc:spChg>
        <pc:spChg chg="mod">
          <ac:chgData name="Robert Finch" userId="360118edfabb5ba6" providerId="LiveId" clId="{940D50E2-FEDC-434C-83CF-A13052851249}" dt="2026-09-15T04:13:12.807" v="8361" actId="14100"/>
          <ac:spMkLst>
            <pc:docMk/>
            <pc:sldMk cId="2172903478" sldId="281"/>
            <ac:spMk id="115" creationId="{15C98AB9-4C2E-32A1-27AE-235C9624077F}"/>
          </ac:spMkLst>
        </pc:spChg>
        <pc:spChg chg="del">
          <ac:chgData name="Robert Finch" userId="360118edfabb5ba6" providerId="LiveId" clId="{940D50E2-FEDC-434C-83CF-A13052851249}" dt="2026-09-15T04:12:38.205" v="8343" actId="478"/>
          <ac:spMkLst>
            <pc:docMk/>
            <pc:sldMk cId="2172903478" sldId="281"/>
            <ac:spMk id="116" creationId="{6A788787-9AEF-CC8D-305D-D77EC1794FAC}"/>
          </ac:spMkLst>
        </pc:spChg>
        <pc:spChg chg="mod">
          <ac:chgData name="Robert Finch" userId="360118edfabb5ba6" providerId="LiveId" clId="{940D50E2-FEDC-434C-83CF-A13052851249}" dt="2026-09-15T04:12:42.630" v="8344" actId="14100"/>
          <ac:spMkLst>
            <pc:docMk/>
            <pc:sldMk cId="2172903478" sldId="281"/>
            <ac:spMk id="117" creationId="{B43E5A34-9BD0-B748-67E8-8C0A924F461F}"/>
          </ac:spMkLst>
        </pc:spChg>
        <pc:cxnChg chg="mod">
          <ac:chgData name="Robert Finch" userId="360118edfabb5ba6" providerId="LiveId" clId="{940D50E2-FEDC-434C-83CF-A13052851249}" dt="2026-09-15T04:13:35.508" v="8363" actId="1076"/>
          <ac:cxnSpMkLst>
            <pc:docMk/>
            <pc:sldMk cId="2172903478" sldId="281"/>
            <ac:cxnSpMk id="65" creationId="{552BE5F5-53A9-3FEE-9FAA-9553969D6A7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91415"/>
            <a:ext cx="10363200" cy="4236332"/>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6391116"/>
            <a:ext cx="9144000" cy="2937828"/>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721942-3650-429E-A73C-F40215CD5967}" type="datetimeFigureOut">
              <a:rPr lang="en-CA" smtClean="0"/>
              <a:t>2026-09-14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866565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721942-3650-429E-A73C-F40215CD5967}" type="datetimeFigureOut">
              <a:rPr lang="en-CA" smtClean="0"/>
              <a:t>2026-09-14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481778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3033601"/>
            <a:ext cx="10515600" cy="5061627"/>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8143113"/>
            <a:ext cx="10515600" cy="2661790"/>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721942-3650-429E-A73C-F40215CD5967}" type="datetimeFigureOut">
              <a:rPr lang="en-CA" smtClean="0"/>
              <a:t>2026-09-14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379246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3239216"/>
            <a:ext cx="5181600" cy="7720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3239216"/>
            <a:ext cx="5181600" cy="7720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721942-3650-429E-A73C-F40215CD5967}" type="datetimeFigureOut">
              <a:rPr lang="en-CA" smtClean="0"/>
              <a:t>2026-09-14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1250310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647846"/>
            <a:ext cx="10515600" cy="2351954"/>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982897"/>
            <a:ext cx="5157787" cy="1461872"/>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4444769"/>
            <a:ext cx="5157787" cy="6537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982897"/>
            <a:ext cx="5183188" cy="1461872"/>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4444769"/>
            <a:ext cx="5183188" cy="6537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721942-3650-429E-A73C-F40215CD5967}" type="datetimeFigureOut">
              <a:rPr lang="en-CA" smtClean="0"/>
              <a:t>2026-09-14</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685447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721942-3650-429E-A73C-F40215CD5967}" type="datetimeFigureOut">
              <a:rPr lang="en-CA" smtClean="0"/>
              <a:t>2026-09-14</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105642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721942-3650-429E-A73C-F40215CD5967}" type="datetimeFigureOut">
              <a:rPr lang="en-CA" smtClean="0"/>
              <a:t>2026-09-14</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1028030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811212"/>
            <a:ext cx="3932237" cy="2839244"/>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751997"/>
            <a:ext cx="6172200" cy="8647300"/>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3650456"/>
            <a:ext cx="3932237" cy="676292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40721942-3650-429E-A73C-F40215CD5967}" type="datetimeFigureOut">
              <a:rPr lang="en-CA" smtClean="0"/>
              <a:t>2026-09-14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3037617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811212"/>
            <a:ext cx="3932237" cy="2839244"/>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751997"/>
            <a:ext cx="6172200" cy="8647300"/>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3650456"/>
            <a:ext cx="3932237" cy="676292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40721942-3650-429E-A73C-F40215CD5967}" type="datetimeFigureOut">
              <a:rPr lang="en-CA" smtClean="0"/>
              <a:t>2026-09-14</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2377907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721942-3650-429E-A73C-F40215CD5967}" type="datetimeFigureOut">
              <a:rPr lang="en-CA" smtClean="0"/>
              <a:t>2026-09-14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1612366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647843"/>
            <a:ext cx="2628900" cy="103119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647843"/>
            <a:ext cx="7734300" cy="103119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721942-3650-429E-A73C-F40215CD5967}" type="datetimeFigureOut">
              <a:rPr lang="en-CA" smtClean="0"/>
              <a:t>2026-09-14</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3FD08A5-EC6F-4FAC-9C1A-7DBC3A03B9CC}" type="slidenum">
              <a:rPr lang="en-CA" smtClean="0"/>
              <a:t>‹#›</a:t>
            </a:fld>
            <a:endParaRPr lang="en-CA"/>
          </a:p>
        </p:txBody>
      </p:sp>
    </p:spTree>
    <p:extLst>
      <p:ext uri="{BB962C8B-B14F-4D97-AF65-F5344CB8AC3E}">
        <p14:creationId xmlns:p14="http://schemas.microsoft.com/office/powerpoint/2010/main" val="3056181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647846"/>
            <a:ext cx="10515600" cy="235195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3239216"/>
            <a:ext cx="10515600" cy="77206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11278110"/>
            <a:ext cx="2743200" cy="647843"/>
          </a:xfrm>
          <a:prstGeom prst="rect">
            <a:avLst/>
          </a:prstGeom>
        </p:spPr>
        <p:txBody>
          <a:bodyPr vert="horz" lIns="91440" tIns="45720" rIns="91440" bIns="45720" rtlCol="0" anchor="ctr"/>
          <a:lstStyle>
            <a:lvl1pPr algn="l">
              <a:defRPr sz="1600">
                <a:solidFill>
                  <a:schemeClr val="tx1">
                    <a:tint val="82000"/>
                  </a:schemeClr>
                </a:solidFill>
              </a:defRPr>
            </a:lvl1pPr>
          </a:lstStyle>
          <a:p>
            <a:fld id="{40721942-3650-429E-A73C-F40215CD5967}" type="datetimeFigureOut">
              <a:rPr lang="en-CA" smtClean="0"/>
              <a:t>2026-09-14</a:t>
            </a:fld>
            <a:endParaRPr lang="en-CA"/>
          </a:p>
        </p:txBody>
      </p:sp>
      <p:sp>
        <p:nvSpPr>
          <p:cNvPr id="5" name="Footer Placeholder 4"/>
          <p:cNvSpPr>
            <a:spLocks noGrp="1"/>
          </p:cNvSpPr>
          <p:nvPr>
            <p:ph type="ftr" sz="quarter" idx="3"/>
          </p:nvPr>
        </p:nvSpPr>
        <p:spPr>
          <a:xfrm>
            <a:off x="4038600" y="11278110"/>
            <a:ext cx="4114800" cy="647843"/>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CA"/>
          </a:p>
        </p:txBody>
      </p:sp>
      <p:sp>
        <p:nvSpPr>
          <p:cNvPr id="6" name="Slide Number Placeholder 5"/>
          <p:cNvSpPr>
            <a:spLocks noGrp="1"/>
          </p:cNvSpPr>
          <p:nvPr>
            <p:ph type="sldNum" sz="quarter" idx="4"/>
          </p:nvPr>
        </p:nvSpPr>
        <p:spPr>
          <a:xfrm>
            <a:off x="8610600" y="11278110"/>
            <a:ext cx="2743200" cy="647843"/>
          </a:xfrm>
          <a:prstGeom prst="rect">
            <a:avLst/>
          </a:prstGeom>
        </p:spPr>
        <p:txBody>
          <a:bodyPr vert="horz" lIns="91440" tIns="45720" rIns="91440" bIns="45720" rtlCol="0" anchor="ctr"/>
          <a:lstStyle>
            <a:lvl1pPr algn="r">
              <a:defRPr sz="1600">
                <a:solidFill>
                  <a:schemeClr val="tx1">
                    <a:tint val="82000"/>
                  </a:schemeClr>
                </a:solidFill>
              </a:defRPr>
            </a:lvl1pPr>
          </a:lstStyle>
          <a:p>
            <a:fld id="{93FD08A5-EC6F-4FAC-9C1A-7DBC3A03B9CC}" type="slidenum">
              <a:rPr lang="en-CA" smtClean="0"/>
              <a:t>‹#›</a:t>
            </a:fld>
            <a:endParaRPr lang="en-CA"/>
          </a:p>
        </p:txBody>
      </p:sp>
    </p:spTree>
    <p:extLst>
      <p:ext uri="{BB962C8B-B14F-4D97-AF65-F5344CB8AC3E}">
        <p14:creationId xmlns:p14="http://schemas.microsoft.com/office/powerpoint/2010/main" val="10746665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82963-00C0-AAD8-68F5-4679E999E639}"/>
              </a:ext>
            </a:extLst>
          </p:cNvPr>
          <p:cNvSpPr>
            <a:spLocks noGrp="1"/>
          </p:cNvSpPr>
          <p:nvPr>
            <p:ph type="title"/>
          </p:nvPr>
        </p:nvSpPr>
        <p:spPr>
          <a:xfrm>
            <a:off x="60739" y="2711003"/>
            <a:ext cx="10515600" cy="1325563"/>
          </a:xfrm>
        </p:spPr>
        <p:txBody>
          <a:bodyPr/>
          <a:lstStyle/>
          <a:p>
            <a:r>
              <a:rPr lang="en-US" dirty="0"/>
              <a:t>Qupls4: Instruction Cache</a:t>
            </a:r>
            <a:endParaRPr lang="en-CA" dirty="0"/>
          </a:p>
        </p:txBody>
      </p:sp>
      <p:sp>
        <p:nvSpPr>
          <p:cNvPr id="4" name="Rectangle 3">
            <a:extLst>
              <a:ext uri="{FF2B5EF4-FFF2-40B4-BE49-F238E27FC236}">
                <a16:creationId xmlns:a16="http://schemas.microsoft.com/office/drawing/2014/main" id="{FE2E5F10-A7C0-A263-A047-66E489FE7DDA}"/>
              </a:ext>
            </a:extLst>
          </p:cNvPr>
          <p:cNvSpPr/>
          <p:nvPr/>
        </p:nvSpPr>
        <p:spPr>
          <a:xfrm>
            <a:off x="759792" y="4126085"/>
            <a:ext cx="2389808" cy="322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System Bus 256b</a:t>
            </a:r>
            <a:endParaRPr lang="en-CA" sz="1200" dirty="0"/>
          </a:p>
        </p:txBody>
      </p:sp>
      <p:sp>
        <p:nvSpPr>
          <p:cNvPr id="5" name="Rectangle 4">
            <a:extLst>
              <a:ext uri="{FF2B5EF4-FFF2-40B4-BE49-F238E27FC236}">
                <a16:creationId xmlns:a16="http://schemas.microsoft.com/office/drawing/2014/main" id="{73578CE3-6B8B-20C0-257D-A66790DB7941}"/>
              </a:ext>
            </a:extLst>
          </p:cNvPr>
          <p:cNvSpPr/>
          <p:nvPr/>
        </p:nvSpPr>
        <p:spPr>
          <a:xfrm>
            <a:off x="759792" y="4688750"/>
            <a:ext cx="2389808" cy="322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Cache Controller</a:t>
            </a:r>
            <a:endParaRPr lang="en-CA" sz="1200" dirty="0"/>
          </a:p>
        </p:txBody>
      </p:sp>
      <p:sp>
        <p:nvSpPr>
          <p:cNvPr id="6" name="Rectangle 5">
            <a:extLst>
              <a:ext uri="{FF2B5EF4-FFF2-40B4-BE49-F238E27FC236}">
                <a16:creationId xmlns:a16="http://schemas.microsoft.com/office/drawing/2014/main" id="{A4CD6E3B-8090-4A3D-815D-9D88465D9481}"/>
              </a:ext>
            </a:extLst>
          </p:cNvPr>
          <p:cNvSpPr/>
          <p:nvPr/>
        </p:nvSpPr>
        <p:spPr>
          <a:xfrm>
            <a:off x="728870" y="5256938"/>
            <a:ext cx="107342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Cache RAM</a:t>
            </a:r>
          </a:p>
          <a:p>
            <a:pPr algn="ctr"/>
            <a:r>
              <a:rPr lang="en-US" sz="1200" dirty="0"/>
              <a:t>256 x 512b</a:t>
            </a:r>
          </a:p>
          <a:p>
            <a:pPr algn="ctr"/>
            <a:r>
              <a:rPr lang="en-US" sz="1200" dirty="0"/>
              <a:t>Even Lines</a:t>
            </a:r>
            <a:endParaRPr lang="en-CA" sz="1200" dirty="0"/>
          </a:p>
        </p:txBody>
      </p:sp>
      <p:sp>
        <p:nvSpPr>
          <p:cNvPr id="7" name="Rectangle 6">
            <a:extLst>
              <a:ext uri="{FF2B5EF4-FFF2-40B4-BE49-F238E27FC236}">
                <a16:creationId xmlns:a16="http://schemas.microsoft.com/office/drawing/2014/main" id="{52201E30-0885-302D-86D7-8824617A0833}"/>
              </a:ext>
            </a:extLst>
          </p:cNvPr>
          <p:cNvSpPr/>
          <p:nvPr/>
        </p:nvSpPr>
        <p:spPr>
          <a:xfrm>
            <a:off x="2098261" y="5256938"/>
            <a:ext cx="107342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Cache RAM</a:t>
            </a:r>
          </a:p>
          <a:p>
            <a:pPr algn="ctr"/>
            <a:r>
              <a:rPr lang="en-US" sz="1200" dirty="0"/>
              <a:t>256 x 512b</a:t>
            </a:r>
          </a:p>
          <a:p>
            <a:pPr algn="ctr"/>
            <a:r>
              <a:rPr lang="en-US" sz="1200" dirty="0"/>
              <a:t>Odd Lines</a:t>
            </a:r>
            <a:endParaRPr lang="en-CA" sz="1200" dirty="0"/>
          </a:p>
        </p:txBody>
      </p:sp>
      <p:sp>
        <p:nvSpPr>
          <p:cNvPr id="8" name="Rectangle 7">
            <a:extLst>
              <a:ext uri="{FF2B5EF4-FFF2-40B4-BE49-F238E27FC236}">
                <a16:creationId xmlns:a16="http://schemas.microsoft.com/office/drawing/2014/main" id="{52C35208-28A4-7E56-5CDF-9AE07A6248EA}"/>
              </a:ext>
            </a:extLst>
          </p:cNvPr>
          <p:cNvSpPr/>
          <p:nvPr/>
        </p:nvSpPr>
        <p:spPr>
          <a:xfrm>
            <a:off x="759792" y="6436383"/>
            <a:ext cx="2389808" cy="322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Even / Odd swapper</a:t>
            </a:r>
            <a:endParaRPr lang="en-CA" sz="1200" dirty="0"/>
          </a:p>
        </p:txBody>
      </p:sp>
      <p:sp>
        <p:nvSpPr>
          <p:cNvPr id="9" name="Rectangle 8">
            <a:extLst>
              <a:ext uri="{FF2B5EF4-FFF2-40B4-BE49-F238E27FC236}">
                <a16:creationId xmlns:a16="http://schemas.microsoft.com/office/drawing/2014/main" id="{20ABE107-A0E4-E1FE-1BE7-69EA42EF53A8}"/>
              </a:ext>
            </a:extLst>
          </p:cNvPr>
          <p:cNvSpPr/>
          <p:nvPr/>
        </p:nvSpPr>
        <p:spPr>
          <a:xfrm>
            <a:off x="759792" y="6979721"/>
            <a:ext cx="2596321" cy="322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Instruction Aligner</a:t>
            </a:r>
            <a:endParaRPr lang="en-CA" sz="1200" dirty="0"/>
          </a:p>
        </p:txBody>
      </p:sp>
      <p:sp>
        <p:nvSpPr>
          <p:cNvPr id="11" name="Flowchart: Manual Operation 10">
            <a:extLst>
              <a:ext uri="{FF2B5EF4-FFF2-40B4-BE49-F238E27FC236}">
                <a16:creationId xmlns:a16="http://schemas.microsoft.com/office/drawing/2014/main" id="{E1824252-B42A-D8CE-3390-C8411AF96A52}"/>
              </a:ext>
            </a:extLst>
          </p:cNvPr>
          <p:cNvSpPr/>
          <p:nvPr/>
        </p:nvSpPr>
        <p:spPr>
          <a:xfrm>
            <a:off x="728871" y="7618037"/>
            <a:ext cx="3887303" cy="439530"/>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 x 2 to 1 Mux</a:t>
            </a:r>
            <a:endParaRPr lang="en-CA" sz="1200" dirty="0"/>
          </a:p>
        </p:txBody>
      </p:sp>
      <p:sp>
        <p:nvSpPr>
          <p:cNvPr id="12" name="Arrow: Down 11">
            <a:extLst>
              <a:ext uri="{FF2B5EF4-FFF2-40B4-BE49-F238E27FC236}">
                <a16:creationId xmlns:a16="http://schemas.microsoft.com/office/drawing/2014/main" id="{8B46854F-020F-201E-1733-159EAA84BB5C}"/>
              </a:ext>
            </a:extLst>
          </p:cNvPr>
          <p:cNvSpPr/>
          <p:nvPr/>
        </p:nvSpPr>
        <p:spPr>
          <a:xfrm>
            <a:off x="1547193" y="8057566"/>
            <a:ext cx="295965" cy="5168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Arrow: Down 12">
            <a:extLst>
              <a:ext uri="{FF2B5EF4-FFF2-40B4-BE49-F238E27FC236}">
                <a16:creationId xmlns:a16="http://schemas.microsoft.com/office/drawing/2014/main" id="{8298BAF8-8BC5-2924-9560-5E665A016843}"/>
              </a:ext>
            </a:extLst>
          </p:cNvPr>
          <p:cNvSpPr/>
          <p:nvPr/>
        </p:nvSpPr>
        <p:spPr>
          <a:xfrm>
            <a:off x="2166732" y="8057568"/>
            <a:ext cx="295965" cy="5168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Arrow: Down 13">
            <a:extLst>
              <a:ext uri="{FF2B5EF4-FFF2-40B4-BE49-F238E27FC236}">
                <a16:creationId xmlns:a16="http://schemas.microsoft.com/office/drawing/2014/main" id="{BDECF224-4572-C767-9F3D-D958B7774C04}"/>
              </a:ext>
            </a:extLst>
          </p:cNvPr>
          <p:cNvSpPr/>
          <p:nvPr/>
        </p:nvSpPr>
        <p:spPr>
          <a:xfrm>
            <a:off x="2749829" y="8057565"/>
            <a:ext cx="295965" cy="5168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Arrow: Down 14">
            <a:extLst>
              <a:ext uri="{FF2B5EF4-FFF2-40B4-BE49-F238E27FC236}">
                <a16:creationId xmlns:a16="http://schemas.microsoft.com/office/drawing/2014/main" id="{247805EE-C26E-BCCE-E30F-F74D3372F287}"/>
              </a:ext>
            </a:extLst>
          </p:cNvPr>
          <p:cNvSpPr/>
          <p:nvPr/>
        </p:nvSpPr>
        <p:spPr>
          <a:xfrm>
            <a:off x="3356114" y="8057567"/>
            <a:ext cx="295965" cy="5168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Arrow: Down 15">
            <a:extLst>
              <a:ext uri="{FF2B5EF4-FFF2-40B4-BE49-F238E27FC236}">
                <a16:creationId xmlns:a16="http://schemas.microsoft.com/office/drawing/2014/main" id="{F3969F3E-F2A9-3635-92CD-6F7026D2AE23}"/>
              </a:ext>
            </a:extLst>
          </p:cNvPr>
          <p:cNvSpPr/>
          <p:nvPr/>
        </p:nvSpPr>
        <p:spPr>
          <a:xfrm>
            <a:off x="3703984" y="7101203"/>
            <a:ext cx="295965" cy="5168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Arrow: Down 16">
            <a:extLst>
              <a:ext uri="{FF2B5EF4-FFF2-40B4-BE49-F238E27FC236}">
                <a16:creationId xmlns:a16="http://schemas.microsoft.com/office/drawing/2014/main" id="{DEFA6660-B22B-C0B7-8BCE-9F939CF36D11}"/>
              </a:ext>
            </a:extLst>
          </p:cNvPr>
          <p:cNvSpPr/>
          <p:nvPr/>
        </p:nvSpPr>
        <p:spPr>
          <a:xfrm>
            <a:off x="2736575" y="7302192"/>
            <a:ext cx="161236" cy="32247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Down 17">
            <a:extLst>
              <a:ext uri="{FF2B5EF4-FFF2-40B4-BE49-F238E27FC236}">
                <a16:creationId xmlns:a16="http://schemas.microsoft.com/office/drawing/2014/main" id="{FC0EA224-BADA-3F76-0E60-B9A94DF8A0BE}"/>
              </a:ext>
            </a:extLst>
          </p:cNvPr>
          <p:cNvSpPr/>
          <p:nvPr/>
        </p:nvSpPr>
        <p:spPr>
          <a:xfrm>
            <a:off x="2133977" y="7306013"/>
            <a:ext cx="152403" cy="32247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Arrow: Down 18">
            <a:extLst>
              <a:ext uri="{FF2B5EF4-FFF2-40B4-BE49-F238E27FC236}">
                <a16:creationId xmlns:a16="http://schemas.microsoft.com/office/drawing/2014/main" id="{3FAE38FE-63A8-85E4-4FD8-ABDC93AC1233}"/>
              </a:ext>
            </a:extLst>
          </p:cNvPr>
          <p:cNvSpPr/>
          <p:nvPr/>
        </p:nvSpPr>
        <p:spPr>
          <a:xfrm>
            <a:off x="1460193" y="7306013"/>
            <a:ext cx="167860" cy="32247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Arrow: Down 19">
            <a:extLst>
              <a:ext uri="{FF2B5EF4-FFF2-40B4-BE49-F238E27FC236}">
                <a16:creationId xmlns:a16="http://schemas.microsoft.com/office/drawing/2014/main" id="{633F2976-AF38-EE71-9BE4-FA03CFCE8A19}"/>
              </a:ext>
            </a:extLst>
          </p:cNvPr>
          <p:cNvSpPr/>
          <p:nvPr/>
        </p:nvSpPr>
        <p:spPr>
          <a:xfrm>
            <a:off x="876856" y="7298879"/>
            <a:ext cx="167860" cy="32247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D6126BD0-7566-613E-9CD2-19B9817A7171}"/>
              </a:ext>
            </a:extLst>
          </p:cNvPr>
          <p:cNvSpPr txBox="1"/>
          <p:nvPr/>
        </p:nvSpPr>
        <p:spPr>
          <a:xfrm>
            <a:off x="2793515" y="7290550"/>
            <a:ext cx="460382" cy="215444"/>
          </a:xfrm>
          <a:prstGeom prst="rect">
            <a:avLst/>
          </a:prstGeom>
          <a:noFill/>
        </p:spPr>
        <p:txBody>
          <a:bodyPr wrap="none" rtlCol="0">
            <a:spAutoFit/>
          </a:bodyPr>
          <a:lstStyle/>
          <a:p>
            <a:r>
              <a:rPr lang="en-US" sz="800" dirty="0" err="1"/>
              <a:t>Instr</a:t>
            </a:r>
            <a:r>
              <a:rPr lang="en-US" sz="800" dirty="0"/>
              <a:t> 1</a:t>
            </a:r>
            <a:endParaRPr lang="en-CA" sz="800" dirty="0"/>
          </a:p>
        </p:txBody>
      </p:sp>
      <p:sp>
        <p:nvSpPr>
          <p:cNvPr id="22" name="TextBox 21">
            <a:extLst>
              <a:ext uri="{FF2B5EF4-FFF2-40B4-BE49-F238E27FC236}">
                <a16:creationId xmlns:a16="http://schemas.microsoft.com/office/drawing/2014/main" id="{05F7CD4A-19BD-474E-DD0F-81D0DC10E09A}"/>
              </a:ext>
            </a:extLst>
          </p:cNvPr>
          <p:cNvSpPr txBox="1"/>
          <p:nvPr/>
        </p:nvSpPr>
        <p:spPr>
          <a:xfrm>
            <a:off x="2229083" y="7298879"/>
            <a:ext cx="460382" cy="215444"/>
          </a:xfrm>
          <a:prstGeom prst="rect">
            <a:avLst/>
          </a:prstGeom>
          <a:noFill/>
        </p:spPr>
        <p:txBody>
          <a:bodyPr wrap="none" rtlCol="0">
            <a:spAutoFit/>
          </a:bodyPr>
          <a:lstStyle/>
          <a:p>
            <a:r>
              <a:rPr lang="en-US" sz="800" dirty="0" err="1"/>
              <a:t>Instr</a:t>
            </a:r>
            <a:r>
              <a:rPr lang="en-US" sz="800" dirty="0"/>
              <a:t> 2</a:t>
            </a:r>
            <a:endParaRPr lang="en-CA" sz="800" dirty="0"/>
          </a:p>
        </p:txBody>
      </p:sp>
      <p:sp>
        <p:nvSpPr>
          <p:cNvPr id="23" name="TextBox 22">
            <a:extLst>
              <a:ext uri="{FF2B5EF4-FFF2-40B4-BE49-F238E27FC236}">
                <a16:creationId xmlns:a16="http://schemas.microsoft.com/office/drawing/2014/main" id="{446176F4-7CFD-25C2-CBE8-49544435B4BB}"/>
              </a:ext>
            </a:extLst>
          </p:cNvPr>
          <p:cNvSpPr txBox="1"/>
          <p:nvPr/>
        </p:nvSpPr>
        <p:spPr>
          <a:xfrm>
            <a:off x="1538976" y="7301090"/>
            <a:ext cx="460382" cy="215444"/>
          </a:xfrm>
          <a:prstGeom prst="rect">
            <a:avLst/>
          </a:prstGeom>
          <a:noFill/>
        </p:spPr>
        <p:txBody>
          <a:bodyPr wrap="none" rtlCol="0">
            <a:spAutoFit/>
          </a:bodyPr>
          <a:lstStyle/>
          <a:p>
            <a:r>
              <a:rPr lang="en-US" sz="800" dirty="0" err="1"/>
              <a:t>Instr</a:t>
            </a:r>
            <a:r>
              <a:rPr lang="en-US" sz="800" dirty="0"/>
              <a:t> 3</a:t>
            </a:r>
            <a:endParaRPr lang="en-CA" sz="800" dirty="0"/>
          </a:p>
        </p:txBody>
      </p:sp>
      <p:sp>
        <p:nvSpPr>
          <p:cNvPr id="24" name="TextBox 23">
            <a:extLst>
              <a:ext uri="{FF2B5EF4-FFF2-40B4-BE49-F238E27FC236}">
                <a16:creationId xmlns:a16="http://schemas.microsoft.com/office/drawing/2014/main" id="{626E0414-3C4F-FDD1-D413-85A308CC1EDF}"/>
              </a:ext>
            </a:extLst>
          </p:cNvPr>
          <p:cNvSpPr txBox="1"/>
          <p:nvPr/>
        </p:nvSpPr>
        <p:spPr>
          <a:xfrm>
            <a:off x="992568" y="7333069"/>
            <a:ext cx="460382" cy="215444"/>
          </a:xfrm>
          <a:prstGeom prst="rect">
            <a:avLst/>
          </a:prstGeom>
          <a:noFill/>
        </p:spPr>
        <p:txBody>
          <a:bodyPr wrap="none" rtlCol="0">
            <a:spAutoFit/>
          </a:bodyPr>
          <a:lstStyle/>
          <a:p>
            <a:r>
              <a:rPr lang="en-US" sz="800" dirty="0" err="1"/>
              <a:t>Instr</a:t>
            </a:r>
            <a:r>
              <a:rPr lang="en-US" sz="800" dirty="0"/>
              <a:t> 4</a:t>
            </a:r>
            <a:endParaRPr lang="en-CA" sz="800" dirty="0"/>
          </a:p>
        </p:txBody>
      </p:sp>
      <p:sp>
        <p:nvSpPr>
          <p:cNvPr id="25" name="TextBox 24">
            <a:extLst>
              <a:ext uri="{FF2B5EF4-FFF2-40B4-BE49-F238E27FC236}">
                <a16:creationId xmlns:a16="http://schemas.microsoft.com/office/drawing/2014/main" id="{9479AF1F-E508-847A-8E53-E8D004D613D6}"/>
              </a:ext>
            </a:extLst>
          </p:cNvPr>
          <p:cNvSpPr txBox="1"/>
          <p:nvPr/>
        </p:nvSpPr>
        <p:spPr>
          <a:xfrm>
            <a:off x="3273904" y="8574399"/>
            <a:ext cx="460382" cy="215444"/>
          </a:xfrm>
          <a:prstGeom prst="rect">
            <a:avLst/>
          </a:prstGeom>
          <a:noFill/>
        </p:spPr>
        <p:txBody>
          <a:bodyPr wrap="none" rtlCol="0">
            <a:spAutoFit/>
          </a:bodyPr>
          <a:lstStyle/>
          <a:p>
            <a:r>
              <a:rPr lang="en-US" sz="800" dirty="0" err="1"/>
              <a:t>Instr</a:t>
            </a:r>
            <a:r>
              <a:rPr lang="en-US" sz="800" dirty="0"/>
              <a:t> 1</a:t>
            </a:r>
            <a:endParaRPr lang="en-CA" sz="800" dirty="0"/>
          </a:p>
        </p:txBody>
      </p:sp>
      <p:sp>
        <p:nvSpPr>
          <p:cNvPr id="26" name="TextBox 25">
            <a:extLst>
              <a:ext uri="{FF2B5EF4-FFF2-40B4-BE49-F238E27FC236}">
                <a16:creationId xmlns:a16="http://schemas.microsoft.com/office/drawing/2014/main" id="{8EAF9D45-C8A4-617C-1516-C5DCE9D56455}"/>
              </a:ext>
            </a:extLst>
          </p:cNvPr>
          <p:cNvSpPr txBox="1"/>
          <p:nvPr/>
        </p:nvSpPr>
        <p:spPr>
          <a:xfrm>
            <a:off x="2672521" y="8571644"/>
            <a:ext cx="460382" cy="215444"/>
          </a:xfrm>
          <a:prstGeom prst="rect">
            <a:avLst/>
          </a:prstGeom>
          <a:noFill/>
        </p:spPr>
        <p:txBody>
          <a:bodyPr wrap="none" rtlCol="0">
            <a:spAutoFit/>
          </a:bodyPr>
          <a:lstStyle/>
          <a:p>
            <a:r>
              <a:rPr lang="en-US" sz="800" dirty="0" err="1"/>
              <a:t>Instr</a:t>
            </a:r>
            <a:r>
              <a:rPr lang="en-US" sz="800" dirty="0"/>
              <a:t> 2</a:t>
            </a:r>
            <a:endParaRPr lang="en-CA" sz="800" dirty="0"/>
          </a:p>
        </p:txBody>
      </p:sp>
      <p:sp>
        <p:nvSpPr>
          <p:cNvPr id="27" name="TextBox 26">
            <a:extLst>
              <a:ext uri="{FF2B5EF4-FFF2-40B4-BE49-F238E27FC236}">
                <a16:creationId xmlns:a16="http://schemas.microsoft.com/office/drawing/2014/main" id="{DDA1CBDA-805F-C833-4058-C2FF031D62F0}"/>
              </a:ext>
            </a:extLst>
          </p:cNvPr>
          <p:cNvSpPr txBox="1"/>
          <p:nvPr/>
        </p:nvSpPr>
        <p:spPr>
          <a:xfrm>
            <a:off x="2098261" y="8586558"/>
            <a:ext cx="460382" cy="215444"/>
          </a:xfrm>
          <a:prstGeom prst="rect">
            <a:avLst/>
          </a:prstGeom>
          <a:noFill/>
        </p:spPr>
        <p:txBody>
          <a:bodyPr wrap="none" rtlCol="0">
            <a:spAutoFit/>
          </a:bodyPr>
          <a:lstStyle/>
          <a:p>
            <a:r>
              <a:rPr lang="en-US" sz="800" dirty="0" err="1"/>
              <a:t>Instr</a:t>
            </a:r>
            <a:r>
              <a:rPr lang="en-US" sz="800" dirty="0"/>
              <a:t> 3</a:t>
            </a:r>
            <a:endParaRPr lang="en-CA" sz="800" dirty="0"/>
          </a:p>
        </p:txBody>
      </p:sp>
      <p:sp>
        <p:nvSpPr>
          <p:cNvPr id="28" name="TextBox 27">
            <a:extLst>
              <a:ext uri="{FF2B5EF4-FFF2-40B4-BE49-F238E27FC236}">
                <a16:creationId xmlns:a16="http://schemas.microsoft.com/office/drawing/2014/main" id="{4F35006B-0714-C388-4BCC-35D0BF224C35}"/>
              </a:ext>
            </a:extLst>
          </p:cNvPr>
          <p:cNvSpPr txBox="1"/>
          <p:nvPr/>
        </p:nvSpPr>
        <p:spPr>
          <a:xfrm>
            <a:off x="1449150" y="8571644"/>
            <a:ext cx="460382" cy="215444"/>
          </a:xfrm>
          <a:prstGeom prst="rect">
            <a:avLst/>
          </a:prstGeom>
          <a:noFill/>
        </p:spPr>
        <p:txBody>
          <a:bodyPr wrap="none" rtlCol="0">
            <a:spAutoFit/>
          </a:bodyPr>
          <a:lstStyle/>
          <a:p>
            <a:r>
              <a:rPr lang="en-US" sz="800" dirty="0" err="1"/>
              <a:t>Instr</a:t>
            </a:r>
            <a:r>
              <a:rPr lang="en-US" sz="800" dirty="0"/>
              <a:t> 4</a:t>
            </a:r>
            <a:endParaRPr lang="en-CA" sz="800" dirty="0"/>
          </a:p>
        </p:txBody>
      </p:sp>
      <p:sp>
        <p:nvSpPr>
          <p:cNvPr id="29" name="TextBox 28">
            <a:extLst>
              <a:ext uri="{FF2B5EF4-FFF2-40B4-BE49-F238E27FC236}">
                <a16:creationId xmlns:a16="http://schemas.microsoft.com/office/drawing/2014/main" id="{EB245611-DA46-BF40-A2C9-6057E8AB4755}"/>
              </a:ext>
            </a:extLst>
          </p:cNvPr>
          <p:cNvSpPr txBox="1"/>
          <p:nvPr/>
        </p:nvSpPr>
        <p:spPr>
          <a:xfrm>
            <a:off x="3384530" y="6910055"/>
            <a:ext cx="779381" cy="215444"/>
          </a:xfrm>
          <a:prstGeom prst="rect">
            <a:avLst/>
          </a:prstGeom>
          <a:noFill/>
        </p:spPr>
        <p:txBody>
          <a:bodyPr wrap="none" rtlCol="0">
            <a:spAutoFit/>
          </a:bodyPr>
          <a:lstStyle/>
          <a:p>
            <a:r>
              <a:rPr lang="en-US" sz="800" dirty="0"/>
              <a:t>Branch NOPs</a:t>
            </a:r>
            <a:endParaRPr lang="en-CA" sz="800" dirty="0"/>
          </a:p>
        </p:txBody>
      </p:sp>
      <p:sp>
        <p:nvSpPr>
          <p:cNvPr id="30" name="Arrow: Down 29">
            <a:extLst>
              <a:ext uri="{FF2B5EF4-FFF2-40B4-BE49-F238E27FC236}">
                <a16:creationId xmlns:a16="http://schemas.microsoft.com/office/drawing/2014/main" id="{ED9F302A-DC2A-4C15-2BDB-EDC66F5A9B47}"/>
              </a:ext>
            </a:extLst>
          </p:cNvPr>
          <p:cNvSpPr/>
          <p:nvPr/>
        </p:nvSpPr>
        <p:spPr>
          <a:xfrm>
            <a:off x="1806714" y="6763875"/>
            <a:ext cx="295965" cy="22137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Arrow: Down 30">
            <a:extLst>
              <a:ext uri="{FF2B5EF4-FFF2-40B4-BE49-F238E27FC236}">
                <a16:creationId xmlns:a16="http://schemas.microsoft.com/office/drawing/2014/main" id="{77AC4825-8AB1-7854-A2DC-F1530588ADD8}"/>
              </a:ext>
            </a:extLst>
          </p:cNvPr>
          <p:cNvSpPr/>
          <p:nvPr/>
        </p:nvSpPr>
        <p:spPr>
          <a:xfrm>
            <a:off x="2473255" y="6183495"/>
            <a:ext cx="295965" cy="255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Arrow: Down 31">
            <a:extLst>
              <a:ext uri="{FF2B5EF4-FFF2-40B4-BE49-F238E27FC236}">
                <a16:creationId xmlns:a16="http://schemas.microsoft.com/office/drawing/2014/main" id="{87234FDE-51A4-57B3-C94E-D4E7F60EFBBA}"/>
              </a:ext>
            </a:extLst>
          </p:cNvPr>
          <p:cNvSpPr/>
          <p:nvPr/>
        </p:nvSpPr>
        <p:spPr>
          <a:xfrm>
            <a:off x="1104107" y="6176319"/>
            <a:ext cx="295965" cy="255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Arrow: Down 32">
            <a:extLst>
              <a:ext uri="{FF2B5EF4-FFF2-40B4-BE49-F238E27FC236}">
                <a16:creationId xmlns:a16="http://schemas.microsoft.com/office/drawing/2014/main" id="{7009F660-1C2E-0D79-E125-EED8998EDDA9}"/>
              </a:ext>
            </a:extLst>
          </p:cNvPr>
          <p:cNvSpPr/>
          <p:nvPr/>
        </p:nvSpPr>
        <p:spPr>
          <a:xfrm>
            <a:off x="2461485" y="5011233"/>
            <a:ext cx="295965" cy="255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Arrow: Down 33">
            <a:extLst>
              <a:ext uri="{FF2B5EF4-FFF2-40B4-BE49-F238E27FC236}">
                <a16:creationId xmlns:a16="http://schemas.microsoft.com/office/drawing/2014/main" id="{B3EAD1D4-141E-C8D8-792E-5CA6F278BBE0}"/>
              </a:ext>
            </a:extLst>
          </p:cNvPr>
          <p:cNvSpPr/>
          <p:nvPr/>
        </p:nvSpPr>
        <p:spPr>
          <a:xfrm>
            <a:off x="1104106" y="5010669"/>
            <a:ext cx="295965" cy="255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Arrow: Down 34">
            <a:extLst>
              <a:ext uri="{FF2B5EF4-FFF2-40B4-BE49-F238E27FC236}">
                <a16:creationId xmlns:a16="http://schemas.microsoft.com/office/drawing/2014/main" id="{1F8C6AF0-E5CC-563E-4354-8E2E4A1D46B1}"/>
              </a:ext>
            </a:extLst>
          </p:cNvPr>
          <p:cNvSpPr/>
          <p:nvPr/>
        </p:nvSpPr>
        <p:spPr>
          <a:xfrm>
            <a:off x="1806713" y="4439162"/>
            <a:ext cx="295965" cy="255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Box 35">
            <a:extLst>
              <a:ext uri="{FF2B5EF4-FFF2-40B4-BE49-F238E27FC236}">
                <a16:creationId xmlns:a16="http://schemas.microsoft.com/office/drawing/2014/main" id="{EFC9CE91-57CE-A15A-73FE-C2F026BA3F37}"/>
              </a:ext>
            </a:extLst>
          </p:cNvPr>
          <p:cNvSpPr txBox="1"/>
          <p:nvPr/>
        </p:nvSpPr>
        <p:spPr>
          <a:xfrm>
            <a:off x="4735443" y="4036565"/>
            <a:ext cx="7054575" cy="3539430"/>
          </a:xfrm>
          <a:prstGeom prst="rect">
            <a:avLst/>
          </a:prstGeom>
          <a:noFill/>
        </p:spPr>
        <p:txBody>
          <a:bodyPr wrap="square" rtlCol="0">
            <a:spAutoFit/>
          </a:bodyPr>
          <a:lstStyle/>
          <a:p>
            <a:r>
              <a:rPr lang="en-US" sz="1400" dirty="0"/>
              <a:t>Two 256b bus cycles are run by the cache controller to full-fill a 512b cache miss request.</a:t>
            </a:r>
          </a:p>
          <a:p>
            <a:endParaRPr lang="en-US" sz="1400" dirty="0"/>
          </a:p>
          <a:p>
            <a:r>
              <a:rPr lang="en-US" sz="1400" dirty="0"/>
              <a:t>Depending on the instruction pointer value an even, odd or odd, even pair of cache lines is selected.</a:t>
            </a:r>
          </a:p>
          <a:p>
            <a:endParaRPr lang="en-US" sz="1400" dirty="0"/>
          </a:p>
          <a:p>
            <a:r>
              <a:rPr lang="en-US" sz="1400" dirty="0"/>
              <a:t>On a cache miss the entire cache line is NOPed out.</a:t>
            </a:r>
          </a:p>
          <a:p>
            <a:endParaRPr lang="en-US" sz="1400" dirty="0"/>
          </a:p>
          <a:p>
            <a:r>
              <a:rPr lang="en-US" sz="1400" dirty="0"/>
              <a:t>A pair of cache lines is selected to allow instructions to span cache-line boundaries. Since instructions are 48-bit they do not fit evenly into a cache-line.</a:t>
            </a:r>
          </a:p>
          <a:p>
            <a:endParaRPr lang="en-US" sz="1400" dirty="0"/>
          </a:p>
          <a:p>
            <a:r>
              <a:rPr lang="en-US" sz="1400" dirty="0"/>
              <a:t>The instruction aligner right aligns instructions based on the IP value so that only four instruction decoders are required. Four instructions are selected plus a raw portion of the cache-line to allow for decoding immediates.</a:t>
            </a:r>
          </a:p>
          <a:p>
            <a:endParaRPr lang="en-US" sz="1400" dirty="0"/>
          </a:p>
          <a:p>
            <a:r>
              <a:rPr lang="en-US" sz="1400" dirty="0"/>
              <a:t>For branch miss, a set of NOPs is fed into the pipeline causing a pipeline bubble.</a:t>
            </a:r>
          </a:p>
          <a:p>
            <a:endParaRPr lang="en-CA" sz="1400" dirty="0"/>
          </a:p>
        </p:txBody>
      </p:sp>
      <p:sp>
        <p:nvSpPr>
          <p:cNvPr id="38" name="TextBox 37">
            <a:extLst>
              <a:ext uri="{FF2B5EF4-FFF2-40B4-BE49-F238E27FC236}">
                <a16:creationId xmlns:a16="http://schemas.microsoft.com/office/drawing/2014/main" id="{97776ACB-9297-B69F-1246-69A5A4374F35}"/>
              </a:ext>
            </a:extLst>
          </p:cNvPr>
          <p:cNvSpPr txBox="1"/>
          <p:nvPr/>
        </p:nvSpPr>
        <p:spPr>
          <a:xfrm>
            <a:off x="3419066" y="6289602"/>
            <a:ext cx="984565" cy="215444"/>
          </a:xfrm>
          <a:prstGeom prst="rect">
            <a:avLst/>
          </a:prstGeom>
          <a:noFill/>
        </p:spPr>
        <p:txBody>
          <a:bodyPr wrap="none" rtlCol="0">
            <a:spAutoFit/>
          </a:bodyPr>
          <a:lstStyle/>
          <a:p>
            <a:r>
              <a:rPr lang="en-US" sz="800" dirty="0"/>
              <a:t>Cache miss NOPs</a:t>
            </a:r>
            <a:endParaRPr lang="en-CA" sz="800" dirty="0"/>
          </a:p>
        </p:txBody>
      </p:sp>
      <p:sp>
        <p:nvSpPr>
          <p:cNvPr id="39" name="Arrow: Bent 38">
            <a:extLst>
              <a:ext uri="{FF2B5EF4-FFF2-40B4-BE49-F238E27FC236}">
                <a16:creationId xmlns:a16="http://schemas.microsoft.com/office/drawing/2014/main" id="{396AF869-8613-7770-B041-2A04F01B86D5}"/>
              </a:ext>
            </a:extLst>
          </p:cNvPr>
          <p:cNvSpPr/>
          <p:nvPr/>
        </p:nvSpPr>
        <p:spPr>
          <a:xfrm rot="16200000">
            <a:off x="3141893" y="6492204"/>
            <a:ext cx="499121" cy="439530"/>
          </a:xfrm>
          <a:prstGeom prst="bentArrow">
            <a:avLst/>
          </a:prstGeom>
          <a:scene3d>
            <a:camera prst="orthographicFront">
              <a:rot lat="0" lon="10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Tree>
    <p:extLst>
      <p:ext uri="{BB962C8B-B14F-4D97-AF65-F5344CB8AC3E}">
        <p14:creationId xmlns:p14="http://schemas.microsoft.com/office/powerpoint/2010/main" val="1543770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56E3-2BBA-5D07-B63B-437151994B7F}"/>
              </a:ext>
            </a:extLst>
          </p:cNvPr>
          <p:cNvSpPr>
            <a:spLocks noGrp="1"/>
          </p:cNvSpPr>
          <p:nvPr>
            <p:ph type="title"/>
          </p:nvPr>
        </p:nvSpPr>
        <p:spPr>
          <a:xfrm>
            <a:off x="31377" y="2697491"/>
            <a:ext cx="10515600" cy="1325563"/>
          </a:xfrm>
        </p:spPr>
        <p:txBody>
          <a:bodyPr>
            <a:normAutofit fontScale="90000"/>
          </a:bodyPr>
          <a:lstStyle/>
          <a:p>
            <a:r>
              <a:rPr lang="en-US" dirty="0"/>
              <a:t>Qupls4: Instruction Fetch Stage (*_</a:t>
            </a:r>
            <a:r>
              <a:rPr lang="en-US" dirty="0" err="1"/>
              <a:t>fet</a:t>
            </a:r>
            <a:r>
              <a:rPr lang="en-US" dirty="0"/>
              <a:t>)</a:t>
            </a:r>
            <a:endParaRPr lang="en-CA" dirty="0"/>
          </a:p>
        </p:txBody>
      </p:sp>
      <p:sp>
        <p:nvSpPr>
          <p:cNvPr id="4" name="Rectangle 3">
            <a:extLst>
              <a:ext uri="{FF2B5EF4-FFF2-40B4-BE49-F238E27FC236}">
                <a16:creationId xmlns:a16="http://schemas.microsoft.com/office/drawing/2014/main" id="{EDE50904-077D-5FC2-7AB1-C49535A041E3}"/>
              </a:ext>
            </a:extLst>
          </p:cNvPr>
          <p:cNvSpPr/>
          <p:nvPr/>
        </p:nvSpPr>
        <p:spPr>
          <a:xfrm>
            <a:off x="1536537" y="5205552"/>
            <a:ext cx="3803374" cy="3180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NOP mux</a:t>
            </a:r>
            <a:endParaRPr lang="en-CA" dirty="0"/>
          </a:p>
        </p:txBody>
      </p:sp>
      <p:sp>
        <p:nvSpPr>
          <p:cNvPr id="5" name="TextBox 4">
            <a:extLst>
              <a:ext uri="{FF2B5EF4-FFF2-40B4-BE49-F238E27FC236}">
                <a16:creationId xmlns:a16="http://schemas.microsoft.com/office/drawing/2014/main" id="{F6BAABD2-ECF9-D337-C112-E72F9E946EF0}"/>
              </a:ext>
            </a:extLst>
          </p:cNvPr>
          <p:cNvSpPr txBox="1"/>
          <p:nvPr/>
        </p:nvSpPr>
        <p:spPr>
          <a:xfrm>
            <a:off x="1850174" y="4409247"/>
            <a:ext cx="3110147" cy="369332"/>
          </a:xfrm>
          <a:prstGeom prst="rect">
            <a:avLst/>
          </a:prstGeom>
          <a:noFill/>
        </p:spPr>
        <p:txBody>
          <a:bodyPr wrap="none" rtlCol="0">
            <a:spAutoFit/>
          </a:bodyPr>
          <a:lstStyle/>
          <a:p>
            <a:r>
              <a:rPr lang="en-US" dirty="0"/>
              <a:t>Raw instruction cache output</a:t>
            </a:r>
            <a:endParaRPr lang="en-CA" dirty="0"/>
          </a:p>
        </p:txBody>
      </p:sp>
      <p:sp>
        <p:nvSpPr>
          <p:cNvPr id="6" name="Arrow: Down 5">
            <a:extLst>
              <a:ext uri="{FF2B5EF4-FFF2-40B4-BE49-F238E27FC236}">
                <a16:creationId xmlns:a16="http://schemas.microsoft.com/office/drawing/2014/main" id="{65363119-AB2F-1D87-FF03-6872379676B1}"/>
              </a:ext>
            </a:extLst>
          </p:cNvPr>
          <p:cNvSpPr/>
          <p:nvPr/>
        </p:nvSpPr>
        <p:spPr>
          <a:xfrm>
            <a:off x="2333719" y="4887500"/>
            <a:ext cx="2143055" cy="3180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1024b</a:t>
            </a:r>
            <a:endParaRPr lang="en-CA" dirty="0"/>
          </a:p>
        </p:txBody>
      </p:sp>
      <p:sp>
        <p:nvSpPr>
          <p:cNvPr id="7" name="Arrow: Down 6">
            <a:extLst>
              <a:ext uri="{FF2B5EF4-FFF2-40B4-BE49-F238E27FC236}">
                <a16:creationId xmlns:a16="http://schemas.microsoft.com/office/drawing/2014/main" id="{BD40131C-599A-B7F8-B65E-6D317ECE80A6}"/>
              </a:ext>
            </a:extLst>
          </p:cNvPr>
          <p:cNvSpPr/>
          <p:nvPr/>
        </p:nvSpPr>
        <p:spPr>
          <a:xfrm>
            <a:off x="2366697" y="5523604"/>
            <a:ext cx="2143055" cy="3180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1024b</a:t>
            </a:r>
            <a:endParaRPr lang="en-CA" dirty="0"/>
          </a:p>
        </p:txBody>
      </p:sp>
      <p:sp>
        <p:nvSpPr>
          <p:cNvPr id="8" name="Arrow: Right 7">
            <a:extLst>
              <a:ext uri="{FF2B5EF4-FFF2-40B4-BE49-F238E27FC236}">
                <a16:creationId xmlns:a16="http://schemas.microsoft.com/office/drawing/2014/main" id="{05BEF7F3-C2E7-B393-61D1-56B5D079A9E8}"/>
              </a:ext>
            </a:extLst>
          </p:cNvPr>
          <p:cNvSpPr/>
          <p:nvPr/>
        </p:nvSpPr>
        <p:spPr>
          <a:xfrm>
            <a:off x="666311" y="5293899"/>
            <a:ext cx="870226" cy="1413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FFEEADDD-5211-5925-216B-A66FC96FCA2C}"/>
              </a:ext>
            </a:extLst>
          </p:cNvPr>
          <p:cNvSpPr txBox="1"/>
          <p:nvPr/>
        </p:nvSpPr>
        <p:spPr>
          <a:xfrm>
            <a:off x="330234" y="5111227"/>
            <a:ext cx="970137" cy="276999"/>
          </a:xfrm>
          <a:prstGeom prst="rect">
            <a:avLst/>
          </a:prstGeom>
          <a:noFill/>
        </p:spPr>
        <p:txBody>
          <a:bodyPr wrap="none" rtlCol="0">
            <a:spAutoFit/>
          </a:bodyPr>
          <a:lstStyle/>
          <a:p>
            <a:r>
              <a:rPr lang="en-US" sz="1200" dirty="0"/>
              <a:t>Cache miss</a:t>
            </a:r>
            <a:endParaRPr lang="en-CA" sz="1200" dirty="0"/>
          </a:p>
        </p:txBody>
      </p:sp>
      <p:cxnSp>
        <p:nvCxnSpPr>
          <p:cNvPr id="10" name="Straight Connector 9">
            <a:extLst>
              <a:ext uri="{FF2B5EF4-FFF2-40B4-BE49-F238E27FC236}">
                <a16:creationId xmlns:a16="http://schemas.microsoft.com/office/drawing/2014/main" id="{4B734D53-D496-B931-1171-07BDEB374809}"/>
              </a:ext>
            </a:extLst>
          </p:cNvPr>
          <p:cNvCxnSpPr>
            <a:cxnSpLocks/>
          </p:cNvCxnSpPr>
          <p:nvPr/>
        </p:nvCxnSpPr>
        <p:spPr>
          <a:xfrm>
            <a:off x="666311" y="5836552"/>
            <a:ext cx="4951896" cy="5104"/>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7A9BB289-6F5F-F9B1-18BE-10DC25BF7F3D}"/>
              </a:ext>
            </a:extLst>
          </p:cNvPr>
          <p:cNvSpPr txBox="1"/>
          <p:nvPr/>
        </p:nvSpPr>
        <p:spPr>
          <a:xfrm>
            <a:off x="4736201" y="5626333"/>
            <a:ext cx="1297086" cy="276999"/>
          </a:xfrm>
          <a:prstGeom prst="rect">
            <a:avLst/>
          </a:prstGeom>
          <a:noFill/>
        </p:spPr>
        <p:txBody>
          <a:bodyPr wrap="none" rtlCol="0">
            <a:spAutoFit/>
          </a:bodyPr>
          <a:lstStyle/>
          <a:p>
            <a:r>
              <a:rPr lang="en-US" sz="1200" dirty="0"/>
              <a:t>Pipeline Register</a:t>
            </a:r>
            <a:endParaRPr lang="en-CA" sz="1200" dirty="0"/>
          </a:p>
        </p:txBody>
      </p:sp>
      <p:sp>
        <p:nvSpPr>
          <p:cNvPr id="13" name="TextBox 12">
            <a:extLst>
              <a:ext uri="{FF2B5EF4-FFF2-40B4-BE49-F238E27FC236}">
                <a16:creationId xmlns:a16="http://schemas.microsoft.com/office/drawing/2014/main" id="{649180C8-07F1-767C-4F1A-AF0A912BE46F}"/>
              </a:ext>
            </a:extLst>
          </p:cNvPr>
          <p:cNvSpPr txBox="1"/>
          <p:nvPr/>
        </p:nvSpPr>
        <p:spPr>
          <a:xfrm>
            <a:off x="6210137" y="4376703"/>
            <a:ext cx="5560523"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The primary function of the fetch stage is to register the instruction cache output which is unregistered.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there is a cache miss, NOPs are inserted into the pipeline.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Two 512-bit cache lines are fetched to allow instructions to span a cache line.</a:t>
            </a:r>
            <a:endParaRPr lang="en-CA" dirty="0"/>
          </a:p>
        </p:txBody>
      </p:sp>
    </p:spTree>
    <p:extLst>
      <p:ext uri="{BB962C8B-B14F-4D97-AF65-F5344CB8AC3E}">
        <p14:creationId xmlns:p14="http://schemas.microsoft.com/office/powerpoint/2010/main" val="3556507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rrow: Right 29">
            <a:extLst>
              <a:ext uri="{FF2B5EF4-FFF2-40B4-BE49-F238E27FC236}">
                <a16:creationId xmlns:a16="http://schemas.microsoft.com/office/drawing/2014/main" id="{EC8FD731-006D-9392-BA7E-6C81F749273D}"/>
              </a:ext>
            </a:extLst>
          </p:cNvPr>
          <p:cNvSpPr/>
          <p:nvPr/>
        </p:nvSpPr>
        <p:spPr>
          <a:xfrm flipH="1">
            <a:off x="1139687" y="6301036"/>
            <a:ext cx="3265958" cy="956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589C157B-1C51-0E6E-C43E-CBBA43BA6BE8}"/>
              </a:ext>
            </a:extLst>
          </p:cNvPr>
          <p:cNvSpPr>
            <a:spLocks noGrp="1"/>
          </p:cNvSpPr>
          <p:nvPr>
            <p:ph type="title"/>
          </p:nvPr>
        </p:nvSpPr>
        <p:spPr>
          <a:xfrm>
            <a:off x="0" y="2655095"/>
            <a:ext cx="10515600" cy="1325563"/>
          </a:xfrm>
        </p:spPr>
        <p:txBody>
          <a:bodyPr>
            <a:normAutofit fontScale="90000"/>
          </a:bodyPr>
          <a:lstStyle/>
          <a:p>
            <a:r>
              <a:rPr lang="en-US" dirty="0"/>
              <a:t>Qupls4: Instruction Extract Stage (*_mux)</a:t>
            </a:r>
            <a:endParaRPr lang="en-CA" dirty="0"/>
          </a:p>
        </p:txBody>
      </p:sp>
      <p:sp>
        <p:nvSpPr>
          <p:cNvPr id="4" name="Rectangle 3">
            <a:extLst>
              <a:ext uri="{FF2B5EF4-FFF2-40B4-BE49-F238E27FC236}">
                <a16:creationId xmlns:a16="http://schemas.microsoft.com/office/drawing/2014/main" id="{ED9E9027-BDD8-40F6-C371-8BC28F2C3BAD}"/>
              </a:ext>
            </a:extLst>
          </p:cNvPr>
          <p:cNvSpPr/>
          <p:nvPr/>
        </p:nvSpPr>
        <p:spPr>
          <a:xfrm>
            <a:off x="1870502" y="5120929"/>
            <a:ext cx="3236652" cy="300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Instruction Aligner</a:t>
            </a:r>
            <a:endParaRPr lang="en-CA" sz="1100" dirty="0"/>
          </a:p>
        </p:txBody>
      </p:sp>
      <p:sp>
        <p:nvSpPr>
          <p:cNvPr id="5" name="TextBox 4">
            <a:extLst>
              <a:ext uri="{FF2B5EF4-FFF2-40B4-BE49-F238E27FC236}">
                <a16:creationId xmlns:a16="http://schemas.microsoft.com/office/drawing/2014/main" id="{C672087E-2142-B630-8F6A-5BC9C7EBB006}"/>
              </a:ext>
            </a:extLst>
          </p:cNvPr>
          <p:cNvSpPr txBox="1"/>
          <p:nvPr/>
        </p:nvSpPr>
        <p:spPr>
          <a:xfrm>
            <a:off x="298377" y="5123051"/>
            <a:ext cx="638316" cy="261610"/>
          </a:xfrm>
          <a:prstGeom prst="rect">
            <a:avLst/>
          </a:prstGeom>
          <a:noFill/>
        </p:spPr>
        <p:txBody>
          <a:bodyPr wrap="none" rtlCol="0">
            <a:spAutoFit/>
          </a:bodyPr>
          <a:lstStyle/>
          <a:p>
            <a:r>
              <a:rPr lang="en-US" sz="1100" dirty="0"/>
              <a:t>PC</a:t>
            </a:r>
            <a:r>
              <a:rPr lang="en-US" sz="1100"/>
              <a:t>[5:1]</a:t>
            </a:r>
            <a:endParaRPr lang="en-CA" sz="1100" dirty="0"/>
          </a:p>
        </p:txBody>
      </p:sp>
      <p:sp>
        <p:nvSpPr>
          <p:cNvPr id="6" name="Arrow: Right 5">
            <a:extLst>
              <a:ext uri="{FF2B5EF4-FFF2-40B4-BE49-F238E27FC236}">
                <a16:creationId xmlns:a16="http://schemas.microsoft.com/office/drawing/2014/main" id="{449EF98E-5C8D-4F68-896A-FA1451A87E8F}"/>
              </a:ext>
            </a:extLst>
          </p:cNvPr>
          <p:cNvSpPr/>
          <p:nvPr/>
        </p:nvSpPr>
        <p:spPr>
          <a:xfrm>
            <a:off x="1139687" y="5194553"/>
            <a:ext cx="712042" cy="1384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Arrow: Down 6">
            <a:extLst>
              <a:ext uri="{FF2B5EF4-FFF2-40B4-BE49-F238E27FC236}">
                <a16:creationId xmlns:a16="http://schemas.microsoft.com/office/drawing/2014/main" id="{D2ED940B-FECC-5AFE-06CF-9E5B830F4097}"/>
              </a:ext>
            </a:extLst>
          </p:cNvPr>
          <p:cNvSpPr/>
          <p:nvPr/>
        </p:nvSpPr>
        <p:spPr>
          <a:xfrm>
            <a:off x="2154128" y="4751977"/>
            <a:ext cx="1943652" cy="3666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Cache line in 1024</a:t>
            </a:r>
            <a:endParaRPr lang="en-CA" sz="1100" dirty="0"/>
          </a:p>
        </p:txBody>
      </p:sp>
      <p:sp>
        <p:nvSpPr>
          <p:cNvPr id="8" name="Rectangle 7">
            <a:extLst>
              <a:ext uri="{FF2B5EF4-FFF2-40B4-BE49-F238E27FC236}">
                <a16:creationId xmlns:a16="http://schemas.microsoft.com/office/drawing/2014/main" id="{A176668B-8EB3-48D2-42FF-7FC2CCF7F3E5}"/>
              </a:ext>
            </a:extLst>
          </p:cNvPr>
          <p:cNvSpPr/>
          <p:nvPr/>
        </p:nvSpPr>
        <p:spPr>
          <a:xfrm>
            <a:off x="4200293" y="5744397"/>
            <a:ext cx="583096" cy="300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Extract</a:t>
            </a:r>
          </a:p>
          <a:p>
            <a:pPr algn="ctr"/>
            <a:r>
              <a:rPr lang="en-US" sz="1000" dirty="0"/>
              <a:t>Ins #0</a:t>
            </a:r>
            <a:endParaRPr lang="en-CA" sz="1000" dirty="0"/>
          </a:p>
        </p:txBody>
      </p:sp>
      <p:sp>
        <p:nvSpPr>
          <p:cNvPr id="9" name="Rectangle 8">
            <a:extLst>
              <a:ext uri="{FF2B5EF4-FFF2-40B4-BE49-F238E27FC236}">
                <a16:creationId xmlns:a16="http://schemas.microsoft.com/office/drawing/2014/main" id="{10446022-A4BE-40D7-EABF-0A19BD6EA9F1}"/>
              </a:ext>
            </a:extLst>
          </p:cNvPr>
          <p:cNvSpPr/>
          <p:nvPr/>
        </p:nvSpPr>
        <p:spPr>
          <a:xfrm>
            <a:off x="3539893" y="5744394"/>
            <a:ext cx="583096" cy="300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Extract</a:t>
            </a:r>
          </a:p>
          <a:p>
            <a:pPr algn="ctr"/>
            <a:r>
              <a:rPr lang="en-US" sz="1000" dirty="0"/>
              <a:t>Ins #1</a:t>
            </a:r>
            <a:endParaRPr lang="en-CA" sz="1000" dirty="0"/>
          </a:p>
        </p:txBody>
      </p:sp>
      <p:sp>
        <p:nvSpPr>
          <p:cNvPr id="10" name="Rectangle 9">
            <a:extLst>
              <a:ext uri="{FF2B5EF4-FFF2-40B4-BE49-F238E27FC236}">
                <a16:creationId xmlns:a16="http://schemas.microsoft.com/office/drawing/2014/main" id="{670499CB-1C4C-9C30-8C3D-35EC44909A91}"/>
              </a:ext>
            </a:extLst>
          </p:cNvPr>
          <p:cNvSpPr/>
          <p:nvPr/>
        </p:nvSpPr>
        <p:spPr>
          <a:xfrm>
            <a:off x="2879493" y="5744393"/>
            <a:ext cx="583096" cy="300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Extract</a:t>
            </a:r>
          </a:p>
          <a:p>
            <a:pPr algn="ctr"/>
            <a:r>
              <a:rPr lang="en-US" sz="1000" dirty="0"/>
              <a:t>Ins #2</a:t>
            </a:r>
            <a:endParaRPr lang="en-CA" sz="1000" dirty="0"/>
          </a:p>
        </p:txBody>
      </p:sp>
      <p:sp>
        <p:nvSpPr>
          <p:cNvPr id="12" name="Arrow: Down 11">
            <a:extLst>
              <a:ext uri="{FF2B5EF4-FFF2-40B4-BE49-F238E27FC236}">
                <a16:creationId xmlns:a16="http://schemas.microsoft.com/office/drawing/2014/main" id="{6F5C0FF4-A309-FD98-0F3D-7343E3539E19}"/>
              </a:ext>
            </a:extLst>
          </p:cNvPr>
          <p:cNvSpPr/>
          <p:nvPr/>
        </p:nvSpPr>
        <p:spPr>
          <a:xfrm>
            <a:off x="4181520" y="5426692"/>
            <a:ext cx="620642" cy="3003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48</a:t>
            </a:r>
            <a:endParaRPr lang="en-CA" sz="900" dirty="0"/>
          </a:p>
        </p:txBody>
      </p:sp>
      <p:sp>
        <p:nvSpPr>
          <p:cNvPr id="13" name="Arrow: Down 12">
            <a:extLst>
              <a:ext uri="{FF2B5EF4-FFF2-40B4-BE49-F238E27FC236}">
                <a16:creationId xmlns:a16="http://schemas.microsoft.com/office/drawing/2014/main" id="{72840A09-4AC9-B5D4-618A-A9F35B8DDFDA}"/>
              </a:ext>
            </a:extLst>
          </p:cNvPr>
          <p:cNvSpPr/>
          <p:nvPr/>
        </p:nvSpPr>
        <p:spPr>
          <a:xfrm>
            <a:off x="3521120" y="5435929"/>
            <a:ext cx="620642" cy="3003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48</a:t>
            </a:r>
            <a:endParaRPr lang="en-CA" sz="900" dirty="0"/>
          </a:p>
        </p:txBody>
      </p:sp>
      <p:sp>
        <p:nvSpPr>
          <p:cNvPr id="14" name="Arrow: Down 13">
            <a:extLst>
              <a:ext uri="{FF2B5EF4-FFF2-40B4-BE49-F238E27FC236}">
                <a16:creationId xmlns:a16="http://schemas.microsoft.com/office/drawing/2014/main" id="{F4F39427-84A3-4D39-9505-6877F7B36440}"/>
              </a:ext>
            </a:extLst>
          </p:cNvPr>
          <p:cNvSpPr/>
          <p:nvPr/>
        </p:nvSpPr>
        <p:spPr>
          <a:xfrm>
            <a:off x="2860720" y="5433694"/>
            <a:ext cx="620642" cy="3003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48</a:t>
            </a:r>
            <a:endParaRPr lang="en-CA" sz="900" dirty="0"/>
          </a:p>
        </p:txBody>
      </p:sp>
      <p:sp>
        <p:nvSpPr>
          <p:cNvPr id="17" name="Rectangle 16">
            <a:extLst>
              <a:ext uri="{FF2B5EF4-FFF2-40B4-BE49-F238E27FC236}">
                <a16:creationId xmlns:a16="http://schemas.microsoft.com/office/drawing/2014/main" id="{0444BF74-CFF6-951A-87EC-16B2A330A5A0}"/>
              </a:ext>
            </a:extLst>
          </p:cNvPr>
          <p:cNvSpPr/>
          <p:nvPr/>
        </p:nvSpPr>
        <p:spPr>
          <a:xfrm>
            <a:off x="4193668" y="6130914"/>
            <a:ext cx="620642" cy="480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Branch Decode #0</a:t>
            </a:r>
            <a:endParaRPr lang="en-CA" sz="1000" dirty="0"/>
          </a:p>
        </p:txBody>
      </p:sp>
      <p:sp>
        <p:nvSpPr>
          <p:cNvPr id="18" name="Rectangle 17">
            <a:extLst>
              <a:ext uri="{FF2B5EF4-FFF2-40B4-BE49-F238E27FC236}">
                <a16:creationId xmlns:a16="http://schemas.microsoft.com/office/drawing/2014/main" id="{09928937-A9AD-DE98-8A49-0F15062A99DD}"/>
              </a:ext>
            </a:extLst>
          </p:cNvPr>
          <p:cNvSpPr/>
          <p:nvPr/>
        </p:nvSpPr>
        <p:spPr>
          <a:xfrm>
            <a:off x="3539893" y="6130913"/>
            <a:ext cx="620642" cy="480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Branch Decode #1</a:t>
            </a:r>
            <a:endParaRPr lang="en-CA" sz="1000" dirty="0"/>
          </a:p>
        </p:txBody>
      </p:sp>
      <p:sp>
        <p:nvSpPr>
          <p:cNvPr id="19" name="Rectangle 18">
            <a:extLst>
              <a:ext uri="{FF2B5EF4-FFF2-40B4-BE49-F238E27FC236}">
                <a16:creationId xmlns:a16="http://schemas.microsoft.com/office/drawing/2014/main" id="{0E55A60A-01AE-6211-2F8A-CA5112759DAE}"/>
              </a:ext>
            </a:extLst>
          </p:cNvPr>
          <p:cNvSpPr/>
          <p:nvPr/>
        </p:nvSpPr>
        <p:spPr>
          <a:xfrm>
            <a:off x="2877285" y="6130913"/>
            <a:ext cx="620642" cy="480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Branch Decode #2</a:t>
            </a:r>
            <a:endParaRPr lang="en-CA" sz="1000" dirty="0"/>
          </a:p>
        </p:txBody>
      </p:sp>
      <p:sp>
        <p:nvSpPr>
          <p:cNvPr id="25" name="Arrow: Down 24">
            <a:extLst>
              <a:ext uri="{FF2B5EF4-FFF2-40B4-BE49-F238E27FC236}">
                <a16:creationId xmlns:a16="http://schemas.microsoft.com/office/drawing/2014/main" id="{B215621A-79D3-2B7B-FC60-D55C0FCEA00D}"/>
              </a:ext>
            </a:extLst>
          </p:cNvPr>
          <p:cNvSpPr/>
          <p:nvPr/>
        </p:nvSpPr>
        <p:spPr>
          <a:xfrm>
            <a:off x="4181520" y="6611655"/>
            <a:ext cx="632790" cy="9137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48 + 240</a:t>
            </a:r>
          </a:p>
          <a:p>
            <a:pPr algn="ctr"/>
            <a:r>
              <a:rPr lang="en-US" sz="600" dirty="0"/>
              <a:t>raw</a:t>
            </a:r>
            <a:endParaRPr lang="en-CA" sz="600" dirty="0"/>
          </a:p>
        </p:txBody>
      </p:sp>
      <p:sp>
        <p:nvSpPr>
          <p:cNvPr id="26" name="Arrow: Down 25">
            <a:extLst>
              <a:ext uri="{FF2B5EF4-FFF2-40B4-BE49-F238E27FC236}">
                <a16:creationId xmlns:a16="http://schemas.microsoft.com/office/drawing/2014/main" id="{DBFAFD0E-DD28-429F-60D4-DE976D8D29A4}"/>
              </a:ext>
            </a:extLst>
          </p:cNvPr>
          <p:cNvSpPr/>
          <p:nvPr/>
        </p:nvSpPr>
        <p:spPr>
          <a:xfrm>
            <a:off x="3539892" y="6615748"/>
            <a:ext cx="620642" cy="9032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48 + 240 raw</a:t>
            </a:r>
            <a:endParaRPr lang="en-CA" sz="600" dirty="0"/>
          </a:p>
        </p:txBody>
      </p:sp>
      <p:sp>
        <p:nvSpPr>
          <p:cNvPr id="27" name="Arrow: Down 26">
            <a:extLst>
              <a:ext uri="{FF2B5EF4-FFF2-40B4-BE49-F238E27FC236}">
                <a16:creationId xmlns:a16="http://schemas.microsoft.com/office/drawing/2014/main" id="{2B30CE28-37BB-4E0F-2446-CA1F48B6C715}"/>
              </a:ext>
            </a:extLst>
          </p:cNvPr>
          <p:cNvSpPr/>
          <p:nvPr/>
        </p:nvSpPr>
        <p:spPr>
          <a:xfrm>
            <a:off x="2877285" y="6615748"/>
            <a:ext cx="620642" cy="9137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48 + 240 raw</a:t>
            </a:r>
            <a:endParaRPr lang="en-CA" sz="600" dirty="0"/>
          </a:p>
        </p:txBody>
      </p:sp>
      <p:sp>
        <p:nvSpPr>
          <p:cNvPr id="31" name="TextBox 30">
            <a:extLst>
              <a:ext uri="{FF2B5EF4-FFF2-40B4-BE49-F238E27FC236}">
                <a16:creationId xmlns:a16="http://schemas.microsoft.com/office/drawing/2014/main" id="{CB10116E-5EA6-D599-32FD-6193DFFAC637}"/>
              </a:ext>
            </a:extLst>
          </p:cNvPr>
          <p:cNvSpPr txBox="1"/>
          <p:nvPr/>
        </p:nvSpPr>
        <p:spPr>
          <a:xfrm>
            <a:off x="33946" y="6236178"/>
            <a:ext cx="1220014" cy="276999"/>
          </a:xfrm>
          <a:prstGeom prst="rect">
            <a:avLst/>
          </a:prstGeom>
          <a:noFill/>
        </p:spPr>
        <p:txBody>
          <a:bodyPr wrap="none" rtlCol="0">
            <a:spAutoFit/>
          </a:bodyPr>
          <a:lstStyle/>
          <a:p>
            <a:r>
              <a:rPr lang="en-US" sz="1200" dirty="0"/>
              <a:t>To next PC logic</a:t>
            </a:r>
            <a:endParaRPr lang="en-CA" sz="1200" dirty="0"/>
          </a:p>
        </p:txBody>
      </p:sp>
      <p:sp>
        <p:nvSpPr>
          <p:cNvPr id="37" name="TextBox 36">
            <a:extLst>
              <a:ext uri="{FF2B5EF4-FFF2-40B4-BE49-F238E27FC236}">
                <a16:creationId xmlns:a16="http://schemas.microsoft.com/office/drawing/2014/main" id="{BFE648D1-A322-D6B7-E90B-0B7323D0D095}"/>
              </a:ext>
            </a:extLst>
          </p:cNvPr>
          <p:cNvSpPr txBox="1"/>
          <p:nvPr/>
        </p:nvSpPr>
        <p:spPr>
          <a:xfrm>
            <a:off x="2438819" y="7974167"/>
            <a:ext cx="3446072" cy="276999"/>
          </a:xfrm>
          <a:prstGeom prst="rect">
            <a:avLst/>
          </a:prstGeom>
          <a:noFill/>
        </p:spPr>
        <p:txBody>
          <a:bodyPr wrap="none" rtlCol="0">
            <a:spAutoFit/>
          </a:bodyPr>
          <a:lstStyle/>
          <a:p>
            <a:r>
              <a:rPr lang="en-US" sz="1200" dirty="0"/>
              <a:t>Four Instructions plus cache line to decode stage</a:t>
            </a:r>
            <a:endParaRPr lang="en-CA" sz="1200" dirty="0"/>
          </a:p>
        </p:txBody>
      </p:sp>
      <p:sp>
        <p:nvSpPr>
          <p:cNvPr id="38" name="TextBox 37">
            <a:extLst>
              <a:ext uri="{FF2B5EF4-FFF2-40B4-BE49-F238E27FC236}">
                <a16:creationId xmlns:a16="http://schemas.microsoft.com/office/drawing/2014/main" id="{15067C78-238E-0C37-463C-051DD16AD52D}"/>
              </a:ext>
            </a:extLst>
          </p:cNvPr>
          <p:cNvSpPr txBox="1"/>
          <p:nvPr/>
        </p:nvSpPr>
        <p:spPr>
          <a:xfrm>
            <a:off x="5884892" y="4059479"/>
            <a:ext cx="5215315"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t>The cache line is fed in and right aligned according to the PC value.</a:t>
            </a:r>
          </a:p>
          <a:p>
            <a:pPr marL="285750" indent="-285750">
              <a:buFont typeface="Arial" panose="020B0604020202020204" pitchFamily="34" charset="0"/>
              <a:buChar char="•"/>
            </a:pPr>
            <a:r>
              <a:rPr lang="en-US" sz="1400" dirty="0"/>
              <a:t>Four instructions are extracted from the right.</a:t>
            </a:r>
          </a:p>
          <a:p>
            <a:pPr marL="285750" indent="-285750">
              <a:buFont typeface="Arial" panose="020B0604020202020204" pitchFamily="34" charset="0"/>
              <a:buChar char="•"/>
            </a:pPr>
            <a:r>
              <a:rPr lang="en-US" sz="1400" dirty="0"/>
              <a:t>Branch instructions are decoded to feed the next PC logic</a:t>
            </a:r>
          </a:p>
          <a:p>
            <a:pPr marL="285750" indent="-285750">
              <a:buFont typeface="Arial" panose="020B0604020202020204" pitchFamily="34" charset="0"/>
              <a:buChar char="•"/>
            </a:pPr>
            <a:r>
              <a:rPr lang="en-US" sz="1400" dirty="0"/>
              <a:t>Both instructions and raw cache line data are passed to the decode stage.</a:t>
            </a:r>
          </a:p>
          <a:p>
            <a:pPr marL="285750" indent="-285750">
              <a:buFont typeface="Arial" panose="020B0604020202020204" pitchFamily="34" charset="0"/>
              <a:buChar char="•"/>
            </a:pPr>
            <a:r>
              <a:rPr lang="en-US" sz="1400" dirty="0"/>
              <a:t>Raw cache line data is to detect constant zones.</a:t>
            </a:r>
            <a:endParaRPr lang="en-CA" sz="1400" dirty="0"/>
          </a:p>
        </p:txBody>
      </p:sp>
      <p:cxnSp>
        <p:nvCxnSpPr>
          <p:cNvPr id="40" name="Straight Connector 39">
            <a:extLst>
              <a:ext uri="{FF2B5EF4-FFF2-40B4-BE49-F238E27FC236}">
                <a16:creationId xmlns:a16="http://schemas.microsoft.com/office/drawing/2014/main" id="{0D3E1EAB-8C54-2C4D-CBE5-F4D132E74ADA}"/>
              </a:ext>
            </a:extLst>
          </p:cNvPr>
          <p:cNvCxnSpPr>
            <a:cxnSpLocks/>
          </p:cNvCxnSpPr>
          <p:nvPr/>
        </p:nvCxnSpPr>
        <p:spPr>
          <a:xfrm>
            <a:off x="788408" y="7541019"/>
            <a:ext cx="5833263" cy="7188"/>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78CEC9CD-987F-19C4-9645-8582CAB8B8E1}"/>
              </a:ext>
            </a:extLst>
          </p:cNvPr>
          <p:cNvSpPr txBox="1"/>
          <p:nvPr/>
        </p:nvSpPr>
        <p:spPr>
          <a:xfrm>
            <a:off x="5381041" y="7264021"/>
            <a:ext cx="1297086" cy="276999"/>
          </a:xfrm>
          <a:prstGeom prst="rect">
            <a:avLst/>
          </a:prstGeom>
          <a:noFill/>
        </p:spPr>
        <p:txBody>
          <a:bodyPr wrap="none" rtlCol="0">
            <a:spAutoFit/>
          </a:bodyPr>
          <a:lstStyle/>
          <a:p>
            <a:r>
              <a:rPr lang="en-US" sz="1200" dirty="0"/>
              <a:t>Pipeline Register</a:t>
            </a:r>
            <a:endParaRPr lang="en-CA" sz="1200" dirty="0"/>
          </a:p>
        </p:txBody>
      </p:sp>
      <p:sp>
        <p:nvSpPr>
          <p:cNvPr id="42" name="TextBox 41">
            <a:extLst>
              <a:ext uri="{FF2B5EF4-FFF2-40B4-BE49-F238E27FC236}">
                <a16:creationId xmlns:a16="http://schemas.microsoft.com/office/drawing/2014/main" id="{03CE8FF0-7A85-E9A2-3D8D-2E0A8C026A36}"/>
              </a:ext>
            </a:extLst>
          </p:cNvPr>
          <p:cNvSpPr txBox="1"/>
          <p:nvPr/>
        </p:nvSpPr>
        <p:spPr>
          <a:xfrm>
            <a:off x="1412266" y="4410322"/>
            <a:ext cx="3464923" cy="276999"/>
          </a:xfrm>
          <a:prstGeom prst="rect">
            <a:avLst/>
          </a:prstGeom>
          <a:noFill/>
        </p:spPr>
        <p:txBody>
          <a:bodyPr wrap="none" rtlCol="0">
            <a:spAutoFit/>
          </a:bodyPr>
          <a:lstStyle/>
          <a:p>
            <a:r>
              <a:rPr lang="en-US" sz="1200" dirty="0"/>
              <a:t>1024b cache  line pair from instruction fetch stage</a:t>
            </a:r>
            <a:endParaRPr lang="en-CA" sz="1200" dirty="0"/>
          </a:p>
        </p:txBody>
      </p:sp>
      <p:sp>
        <p:nvSpPr>
          <p:cNvPr id="3" name="Arrow: Down 2">
            <a:extLst>
              <a:ext uri="{FF2B5EF4-FFF2-40B4-BE49-F238E27FC236}">
                <a16:creationId xmlns:a16="http://schemas.microsoft.com/office/drawing/2014/main" id="{6BEEB1B9-7B1F-13BE-10C6-585A270710C2}"/>
              </a:ext>
            </a:extLst>
          </p:cNvPr>
          <p:cNvSpPr/>
          <p:nvPr/>
        </p:nvSpPr>
        <p:spPr>
          <a:xfrm>
            <a:off x="2200320" y="5433693"/>
            <a:ext cx="620642" cy="3003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48</a:t>
            </a:r>
            <a:endParaRPr lang="en-CA" sz="900" dirty="0"/>
          </a:p>
        </p:txBody>
      </p:sp>
      <p:sp>
        <p:nvSpPr>
          <p:cNvPr id="43" name="Rectangle 42">
            <a:extLst>
              <a:ext uri="{FF2B5EF4-FFF2-40B4-BE49-F238E27FC236}">
                <a16:creationId xmlns:a16="http://schemas.microsoft.com/office/drawing/2014/main" id="{B5A87727-E716-AAA1-E489-9C1DA738B6D5}"/>
              </a:ext>
            </a:extLst>
          </p:cNvPr>
          <p:cNvSpPr/>
          <p:nvPr/>
        </p:nvSpPr>
        <p:spPr>
          <a:xfrm>
            <a:off x="2237866" y="5745324"/>
            <a:ext cx="583096" cy="3003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Extract</a:t>
            </a:r>
          </a:p>
          <a:p>
            <a:pPr algn="ctr"/>
            <a:r>
              <a:rPr lang="en-US" sz="1000" dirty="0"/>
              <a:t>Ins #3</a:t>
            </a:r>
            <a:endParaRPr lang="en-CA" sz="1000" dirty="0"/>
          </a:p>
        </p:txBody>
      </p:sp>
      <p:sp>
        <p:nvSpPr>
          <p:cNvPr id="45" name="Rectangle 44">
            <a:extLst>
              <a:ext uri="{FF2B5EF4-FFF2-40B4-BE49-F238E27FC236}">
                <a16:creationId xmlns:a16="http://schemas.microsoft.com/office/drawing/2014/main" id="{E345E55C-95CE-16C5-C38E-EFE57BA529CA}"/>
              </a:ext>
            </a:extLst>
          </p:cNvPr>
          <p:cNvSpPr/>
          <p:nvPr/>
        </p:nvSpPr>
        <p:spPr>
          <a:xfrm>
            <a:off x="2212011" y="6104849"/>
            <a:ext cx="620642" cy="480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Branch Decode #3</a:t>
            </a:r>
            <a:endParaRPr lang="en-CA" sz="1000" dirty="0"/>
          </a:p>
        </p:txBody>
      </p:sp>
      <p:sp>
        <p:nvSpPr>
          <p:cNvPr id="47" name="Arrow: Down 46">
            <a:extLst>
              <a:ext uri="{FF2B5EF4-FFF2-40B4-BE49-F238E27FC236}">
                <a16:creationId xmlns:a16="http://schemas.microsoft.com/office/drawing/2014/main" id="{FDB2C585-DCB8-330F-C09D-48F6756F9307}"/>
              </a:ext>
            </a:extLst>
          </p:cNvPr>
          <p:cNvSpPr/>
          <p:nvPr/>
        </p:nvSpPr>
        <p:spPr>
          <a:xfrm>
            <a:off x="2193692" y="6605232"/>
            <a:ext cx="620642" cy="9137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48 + 240 raw</a:t>
            </a:r>
            <a:endParaRPr lang="en-CA" sz="600" dirty="0"/>
          </a:p>
        </p:txBody>
      </p:sp>
    </p:spTree>
    <p:extLst>
      <p:ext uri="{BB962C8B-B14F-4D97-AF65-F5344CB8AC3E}">
        <p14:creationId xmlns:p14="http://schemas.microsoft.com/office/powerpoint/2010/main" val="2650679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B9395-D48D-D2C9-3B68-4D26BC937E22}"/>
              </a:ext>
            </a:extLst>
          </p:cNvPr>
          <p:cNvSpPr>
            <a:spLocks noGrp="1"/>
          </p:cNvSpPr>
          <p:nvPr>
            <p:ph type="title"/>
          </p:nvPr>
        </p:nvSpPr>
        <p:spPr>
          <a:xfrm>
            <a:off x="34235" y="2673350"/>
            <a:ext cx="10515600" cy="1325563"/>
          </a:xfrm>
        </p:spPr>
        <p:txBody>
          <a:bodyPr/>
          <a:lstStyle/>
          <a:p>
            <a:r>
              <a:rPr lang="en-US" dirty="0"/>
              <a:t>Qupls4: Decode Stage (*_dec)</a:t>
            </a:r>
            <a:endParaRPr lang="en-CA" dirty="0"/>
          </a:p>
        </p:txBody>
      </p:sp>
      <p:sp>
        <p:nvSpPr>
          <p:cNvPr id="4" name="Rectangle 3">
            <a:extLst>
              <a:ext uri="{FF2B5EF4-FFF2-40B4-BE49-F238E27FC236}">
                <a16:creationId xmlns:a16="http://schemas.microsoft.com/office/drawing/2014/main" id="{A1521FF0-16AA-8A4C-5185-A6BE8CA2AF64}"/>
              </a:ext>
            </a:extLst>
          </p:cNvPr>
          <p:cNvSpPr/>
          <p:nvPr/>
        </p:nvSpPr>
        <p:spPr>
          <a:xfrm>
            <a:off x="5430145" y="6002089"/>
            <a:ext cx="602974" cy="242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0</a:t>
            </a:r>
            <a:endParaRPr lang="en-CA" sz="1000" dirty="0"/>
          </a:p>
        </p:txBody>
      </p:sp>
      <p:sp>
        <p:nvSpPr>
          <p:cNvPr id="5" name="Rectangle 4">
            <a:extLst>
              <a:ext uri="{FF2B5EF4-FFF2-40B4-BE49-F238E27FC236}">
                <a16:creationId xmlns:a16="http://schemas.microsoft.com/office/drawing/2014/main" id="{0CAB3B1D-1078-99ED-30C9-DFBCF4E3CC21}"/>
              </a:ext>
            </a:extLst>
          </p:cNvPr>
          <p:cNvSpPr/>
          <p:nvPr/>
        </p:nvSpPr>
        <p:spPr>
          <a:xfrm>
            <a:off x="4810627" y="6002089"/>
            <a:ext cx="602974" cy="242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1</a:t>
            </a:r>
            <a:endParaRPr lang="en-CA" sz="1000" dirty="0"/>
          </a:p>
        </p:txBody>
      </p:sp>
      <p:sp>
        <p:nvSpPr>
          <p:cNvPr id="6" name="Rectangle 5">
            <a:extLst>
              <a:ext uri="{FF2B5EF4-FFF2-40B4-BE49-F238E27FC236}">
                <a16:creationId xmlns:a16="http://schemas.microsoft.com/office/drawing/2014/main" id="{162AFF2E-C847-9432-5A43-1B06D005C39B}"/>
              </a:ext>
            </a:extLst>
          </p:cNvPr>
          <p:cNvSpPr/>
          <p:nvPr/>
        </p:nvSpPr>
        <p:spPr>
          <a:xfrm>
            <a:off x="1072389" y="6007895"/>
            <a:ext cx="602974" cy="242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31</a:t>
            </a:r>
            <a:endParaRPr lang="en-CA" sz="1000" dirty="0"/>
          </a:p>
        </p:txBody>
      </p:sp>
      <p:sp>
        <p:nvSpPr>
          <p:cNvPr id="7" name="Rectangle 6">
            <a:extLst>
              <a:ext uri="{FF2B5EF4-FFF2-40B4-BE49-F238E27FC236}">
                <a16:creationId xmlns:a16="http://schemas.microsoft.com/office/drawing/2014/main" id="{AE46EF95-477A-2994-C3AB-36A8ABE4781F}"/>
              </a:ext>
            </a:extLst>
          </p:cNvPr>
          <p:cNvSpPr/>
          <p:nvPr/>
        </p:nvSpPr>
        <p:spPr>
          <a:xfrm>
            <a:off x="1688614" y="6007895"/>
            <a:ext cx="602974" cy="242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30</a:t>
            </a:r>
            <a:endParaRPr lang="en-CA" sz="1000" dirty="0"/>
          </a:p>
        </p:txBody>
      </p:sp>
      <p:cxnSp>
        <p:nvCxnSpPr>
          <p:cNvPr id="14" name="Straight Connector 13">
            <a:extLst>
              <a:ext uri="{FF2B5EF4-FFF2-40B4-BE49-F238E27FC236}">
                <a16:creationId xmlns:a16="http://schemas.microsoft.com/office/drawing/2014/main" id="{32FC212D-082A-DD72-F557-EFDFDD7E81AE}"/>
              </a:ext>
            </a:extLst>
          </p:cNvPr>
          <p:cNvCxnSpPr>
            <a:stCxn id="7" idx="3"/>
            <a:endCxn id="5" idx="1"/>
          </p:cNvCxnSpPr>
          <p:nvPr/>
        </p:nvCxnSpPr>
        <p:spPr>
          <a:xfrm flipV="1">
            <a:off x="2291589" y="6123567"/>
            <a:ext cx="2519039" cy="5806"/>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8E2CCC9A-50A2-4505-C9BD-E02C96FA3D21}"/>
              </a:ext>
            </a:extLst>
          </p:cNvPr>
          <p:cNvSpPr/>
          <p:nvPr/>
        </p:nvSpPr>
        <p:spPr>
          <a:xfrm>
            <a:off x="922478" y="5676357"/>
            <a:ext cx="5356905" cy="803965"/>
          </a:xfrm>
          <a:prstGeom prst="rect">
            <a:avLst/>
          </a:prstGeom>
          <a:solidFill>
            <a:schemeClr val="accent1">
              <a:alpha val="37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µop Buffer</a:t>
            </a:r>
            <a:endParaRPr lang="en-CA" dirty="0">
              <a:solidFill>
                <a:schemeClr val="tx1"/>
              </a:solidFill>
            </a:endParaRPr>
          </a:p>
        </p:txBody>
      </p:sp>
      <p:sp>
        <p:nvSpPr>
          <p:cNvPr id="18" name="Rectangle 17">
            <a:extLst>
              <a:ext uri="{FF2B5EF4-FFF2-40B4-BE49-F238E27FC236}">
                <a16:creationId xmlns:a16="http://schemas.microsoft.com/office/drawing/2014/main" id="{F8B25F58-38F6-83C5-4F48-A2B549834C2D}"/>
              </a:ext>
            </a:extLst>
          </p:cNvPr>
          <p:cNvSpPr/>
          <p:nvPr/>
        </p:nvSpPr>
        <p:spPr>
          <a:xfrm>
            <a:off x="2976934" y="4829942"/>
            <a:ext cx="1055758"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ISA Instruction To µop map</a:t>
            </a:r>
            <a:endParaRPr lang="en-CA" sz="1000" dirty="0"/>
          </a:p>
        </p:txBody>
      </p:sp>
      <p:sp>
        <p:nvSpPr>
          <p:cNvPr id="19" name="Rectangle 18">
            <a:extLst>
              <a:ext uri="{FF2B5EF4-FFF2-40B4-BE49-F238E27FC236}">
                <a16:creationId xmlns:a16="http://schemas.microsoft.com/office/drawing/2014/main" id="{B37A4C80-2BCC-3C11-C923-3C4DAB8C4306}"/>
              </a:ext>
            </a:extLst>
          </p:cNvPr>
          <p:cNvSpPr/>
          <p:nvPr/>
        </p:nvSpPr>
        <p:spPr>
          <a:xfrm>
            <a:off x="4101351" y="4835945"/>
            <a:ext cx="1055758"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ISA Instruction To µop map</a:t>
            </a:r>
            <a:endParaRPr lang="en-CA" sz="1000" dirty="0"/>
          </a:p>
        </p:txBody>
      </p:sp>
      <p:sp>
        <p:nvSpPr>
          <p:cNvPr id="20" name="Rectangle 19">
            <a:extLst>
              <a:ext uri="{FF2B5EF4-FFF2-40B4-BE49-F238E27FC236}">
                <a16:creationId xmlns:a16="http://schemas.microsoft.com/office/drawing/2014/main" id="{1021077F-E5D9-F73E-DB1C-EEC6A67D0F78}"/>
              </a:ext>
            </a:extLst>
          </p:cNvPr>
          <p:cNvSpPr/>
          <p:nvPr/>
        </p:nvSpPr>
        <p:spPr>
          <a:xfrm>
            <a:off x="5235490" y="4829941"/>
            <a:ext cx="1055758"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ISA Instruction To µop map</a:t>
            </a:r>
            <a:endParaRPr lang="en-CA" sz="1000" dirty="0"/>
          </a:p>
        </p:txBody>
      </p:sp>
      <p:sp>
        <p:nvSpPr>
          <p:cNvPr id="23" name="Arrow: Down 22">
            <a:extLst>
              <a:ext uri="{FF2B5EF4-FFF2-40B4-BE49-F238E27FC236}">
                <a16:creationId xmlns:a16="http://schemas.microsoft.com/office/drawing/2014/main" id="{57DAD130-1EBA-D481-F1A5-B3A938F02835}"/>
              </a:ext>
            </a:extLst>
          </p:cNvPr>
          <p:cNvSpPr/>
          <p:nvPr/>
        </p:nvSpPr>
        <p:spPr>
          <a:xfrm>
            <a:off x="3064523" y="5223135"/>
            <a:ext cx="880165" cy="456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8 max</a:t>
            </a:r>
            <a:endParaRPr lang="en-CA" sz="1000" dirty="0"/>
          </a:p>
        </p:txBody>
      </p:sp>
      <p:sp>
        <p:nvSpPr>
          <p:cNvPr id="24" name="Arrow: Down 23">
            <a:extLst>
              <a:ext uri="{FF2B5EF4-FFF2-40B4-BE49-F238E27FC236}">
                <a16:creationId xmlns:a16="http://schemas.microsoft.com/office/drawing/2014/main" id="{50CA5ED3-322C-7559-35C4-043568DD8612}"/>
              </a:ext>
            </a:extLst>
          </p:cNvPr>
          <p:cNvSpPr/>
          <p:nvPr/>
        </p:nvSpPr>
        <p:spPr>
          <a:xfrm>
            <a:off x="4206154" y="5227430"/>
            <a:ext cx="880165" cy="456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8 max</a:t>
            </a:r>
            <a:endParaRPr lang="en-CA" sz="1000" dirty="0"/>
          </a:p>
        </p:txBody>
      </p:sp>
      <p:sp>
        <p:nvSpPr>
          <p:cNvPr id="25" name="Arrow: Down 24">
            <a:extLst>
              <a:ext uri="{FF2B5EF4-FFF2-40B4-BE49-F238E27FC236}">
                <a16:creationId xmlns:a16="http://schemas.microsoft.com/office/drawing/2014/main" id="{A8A5A8C7-2086-0573-E87A-438924545018}"/>
              </a:ext>
            </a:extLst>
          </p:cNvPr>
          <p:cNvSpPr/>
          <p:nvPr/>
        </p:nvSpPr>
        <p:spPr>
          <a:xfrm>
            <a:off x="5331263" y="5215706"/>
            <a:ext cx="880165" cy="456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8 max</a:t>
            </a:r>
            <a:endParaRPr lang="en-CA" sz="1000" dirty="0"/>
          </a:p>
        </p:txBody>
      </p:sp>
      <p:sp>
        <p:nvSpPr>
          <p:cNvPr id="26" name="Rectangle 25">
            <a:extLst>
              <a:ext uri="{FF2B5EF4-FFF2-40B4-BE49-F238E27FC236}">
                <a16:creationId xmlns:a16="http://schemas.microsoft.com/office/drawing/2014/main" id="{4C036E97-6A6E-91A6-00FA-5A0CA58B6258}"/>
              </a:ext>
            </a:extLst>
          </p:cNvPr>
          <p:cNvSpPr/>
          <p:nvPr/>
        </p:nvSpPr>
        <p:spPr>
          <a:xfrm>
            <a:off x="5016016" y="6864870"/>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a:t>
            </a:r>
          </a:p>
          <a:p>
            <a:pPr algn="ctr"/>
            <a:r>
              <a:rPr lang="en-US" sz="1000" dirty="0"/>
              <a:t>Decoder</a:t>
            </a:r>
            <a:endParaRPr lang="en-CA" sz="1000" dirty="0"/>
          </a:p>
        </p:txBody>
      </p:sp>
      <p:sp>
        <p:nvSpPr>
          <p:cNvPr id="27" name="Rectangle 26">
            <a:extLst>
              <a:ext uri="{FF2B5EF4-FFF2-40B4-BE49-F238E27FC236}">
                <a16:creationId xmlns:a16="http://schemas.microsoft.com/office/drawing/2014/main" id="{459D117E-4CA7-3EB2-4D18-F030347E7E1D}"/>
              </a:ext>
            </a:extLst>
          </p:cNvPr>
          <p:cNvSpPr/>
          <p:nvPr/>
        </p:nvSpPr>
        <p:spPr>
          <a:xfrm>
            <a:off x="4112660" y="6864869"/>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Decoder</a:t>
            </a:r>
            <a:endParaRPr lang="en-CA" sz="1000" dirty="0"/>
          </a:p>
        </p:txBody>
      </p:sp>
      <p:sp>
        <p:nvSpPr>
          <p:cNvPr id="28" name="Rectangle 27">
            <a:extLst>
              <a:ext uri="{FF2B5EF4-FFF2-40B4-BE49-F238E27FC236}">
                <a16:creationId xmlns:a16="http://schemas.microsoft.com/office/drawing/2014/main" id="{1AB56C27-13CD-C453-B21B-1441EA8F9B66}"/>
              </a:ext>
            </a:extLst>
          </p:cNvPr>
          <p:cNvSpPr/>
          <p:nvPr/>
        </p:nvSpPr>
        <p:spPr>
          <a:xfrm>
            <a:off x="3212620" y="6864868"/>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Decoder</a:t>
            </a:r>
            <a:endParaRPr lang="en-CA" sz="1000" dirty="0"/>
          </a:p>
        </p:txBody>
      </p:sp>
      <p:sp>
        <p:nvSpPr>
          <p:cNvPr id="30" name="Arrow: Down 29">
            <a:extLst>
              <a:ext uri="{FF2B5EF4-FFF2-40B4-BE49-F238E27FC236}">
                <a16:creationId xmlns:a16="http://schemas.microsoft.com/office/drawing/2014/main" id="{28FD4ACE-E61A-FB57-8942-C9CC134B29B5}"/>
              </a:ext>
            </a:extLst>
          </p:cNvPr>
          <p:cNvSpPr/>
          <p:nvPr/>
        </p:nvSpPr>
        <p:spPr>
          <a:xfrm>
            <a:off x="5094424" y="6486075"/>
            <a:ext cx="671444" cy="3787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1" name="Arrow: Down 30">
            <a:extLst>
              <a:ext uri="{FF2B5EF4-FFF2-40B4-BE49-F238E27FC236}">
                <a16:creationId xmlns:a16="http://schemas.microsoft.com/office/drawing/2014/main" id="{8EB2289B-AE34-9E99-3CC6-12D783C305CB}"/>
              </a:ext>
            </a:extLst>
          </p:cNvPr>
          <p:cNvSpPr/>
          <p:nvPr/>
        </p:nvSpPr>
        <p:spPr>
          <a:xfrm>
            <a:off x="4191068" y="6486075"/>
            <a:ext cx="671444" cy="3787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2" name="Arrow: Down 31">
            <a:extLst>
              <a:ext uri="{FF2B5EF4-FFF2-40B4-BE49-F238E27FC236}">
                <a16:creationId xmlns:a16="http://schemas.microsoft.com/office/drawing/2014/main" id="{E53DA602-1E6E-0D37-E743-3B75023AF73F}"/>
              </a:ext>
            </a:extLst>
          </p:cNvPr>
          <p:cNvSpPr/>
          <p:nvPr/>
        </p:nvSpPr>
        <p:spPr>
          <a:xfrm>
            <a:off x="3287712" y="6486075"/>
            <a:ext cx="671444" cy="3787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5" name="Arrow: Down 34">
            <a:extLst>
              <a:ext uri="{FF2B5EF4-FFF2-40B4-BE49-F238E27FC236}">
                <a16:creationId xmlns:a16="http://schemas.microsoft.com/office/drawing/2014/main" id="{8E88E834-F2D0-8CBB-4152-1AD564EECC86}"/>
              </a:ext>
            </a:extLst>
          </p:cNvPr>
          <p:cNvSpPr/>
          <p:nvPr/>
        </p:nvSpPr>
        <p:spPr>
          <a:xfrm>
            <a:off x="3151773" y="4316204"/>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6" name="Arrow: Down 35">
            <a:extLst>
              <a:ext uri="{FF2B5EF4-FFF2-40B4-BE49-F238E27FC236}">
                <a16:creationId xmlns:a16="http://schemas.microsoft.com/office/drawing/2014/main" id="{500454C3-33B4-2D69-4E9E-1E9A00CFD8D0}"/>
              </a:ext>
            </a:extLst>
          </p:cNvPr>
          <p:cNvSpPr/>
          <p:nvPr/>
        </p:nvSpPr>
        <p:spPr>
          <a:xfrm>
            <a:off x="4278537" y="4316204"/>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7" name="Arrow: Down 36">
            <a:extLst>
              <a:ext uri="{FF2B5EF4-FFF2-40B4-BE49-F238E27FC236}">
                <a16:creationId xmlns:a16="http://schemas.microsoft.com/office/drawing/2014/main" id="{C0945E42-19F8-4A70-3D8A-3A2C77D87313}"/>
              </a:ext>
            </a:extLst>
          </p:cNvPr>
          <p:cNvSpPr/>
          <p:nvPr/>
        </p:nvSpPr>
        <p:spPr>
          <a:xfrm>
            <a:off x="5413602" y="4309298"/>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8" name="TextBox 37">
            <a:extLst>
              <a:ext uri="{FF2B5EF4-FFF2-40B4-BE49-F238E27FC236}">
                <a16:creationId xmlns:a16="http://schemas.microsoft.com/office/drawing/2014/main" id="{E011F6C4-3F05-4093-DF1A-05D8225E0985}"/>
              </a:ext>
            </a:extLst>
          </p:cNvPr>
          <p:cNvSpPr txBox="1"/>
          <p:nvPr/>
        </p:nvSpPr>
        <p:spPr>
          <a:xfrm>
            <a:off x="1462221" y="3900680"/>
            <a:ext cx="3734484" cy="369332"/>
          </a:xfrm>
          <a:prstGeom prst="rect">
            <a:avLst/>
          </a:prstGeom>
          <a:noFill/>
        </p:spPr>
        <p:txBody>
          <a:bodyPr wrap="none" rtlCol="0">
            <a:spAutoFit/>
          </a:bodyPr>
          <a:lstStyle/>
          <a:p>
            <a:r>
              <a:rPr lang="en-US" dirty="0"/>
              <a:t>Four instructions from Extract Stage</a:t>
            </a:r>
            <a:endParaRPr lang="en-CA" dirty="0"/>
          </a:p>
        </p:txBody>
      </p:sp>
      <p:sp>
        <p:nvSpPr>
          <p:cNvPr id="40" name="Arrow: Down 39">
            <a:extLst>
              <a:ext uri="{FF2B5EF4-FFF2-40B4-BE49-F238E27FC236}">
                <a16:creationId xmlns:a16="http://schemas.microsoft.com/office/drawing/2014/main" id="{5D206A29-C880-3014-024D-37528635716B}"/>
              </a:ext>
            </a:extLst>
          </p:cNvPr>
          <p:cNvSpPr/>
          <p:nvPr/>
        </p:nvSpPr>
        <p:spPr>
          <a:xfrm>
            <a:off x="3308693" y="7243656"/>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41" name="Arrow: Down 40">
            <a:extLst>
              <a:ext uri="{FF2B5EF4-FFF2-40B4-BE49-F238E27FC236}">
                <a16:creationId xmlns:a16="http://schemas.microsoft.com/office/drawing/2014/main" id="{88EB1D7B-9441-432D-DDC9-5420CB809BB7}"/>
              </a:ext>
            </a:extLst>
          </p:cNvPr>
          <p:cNvSpPr/>
          <p:nvPr/>
        </p:nvSpPr>
        <p:spPr>
          <a:xfrm>
            <a:off x="4193916" y="7248239"/>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42" name="Arrow: Down 41">
            <a:extLst>
              <a:ext uri="{FF2B5EF4-FFF2-40B4-BE49-F238E27FC236}">
                <a16:creationId xmlns:a16="http://schemas.microsoft.com/office/drawing/2014/main" id="{EE3858D5-56C8-D169-924B-EBFBE71AA31C}"/>
              </a:ext>
            </a:extLst>
          </p:cNvPr>
          <p:cNvSpPr/>
          <p:nvPr/>
        </p:nvSpPr>
        <p:spPr>
          <a:xfrm>
            <a:off x="5088947" y="7243656"/>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43" name="TextBox 42">
            <a:extLst>
              <a:ext uri="{FF2B5EF4-FFF2-40B4-BE49-F238E27FC236}">
                <a16:creationId xmlns:a16="http://schemas.microsoft.com/office/drawing/2014/main" id="{6E2C7DB7-1FAD-B106-9935-8AE626DD9E8A}"/>
              </a:ext>
            </a:extLst>
          </p:cNvPr>
          <p:cNvSpPr txBox="1"/>
          <p:nvPr/>
        </p:nvSpPr>
        <p:spPr>
          <a:xfrm>
            <a:off x="2186762" y="7748512"/>
            <a:ext cx="3927422" cy="369332"/>
          </a:xfrm>
          <a:prstGeom prst="rect">
            <a:avLst/>
          </a:prstGeom>
          <a:noFill/>
        </p:spPr>
        <p:txBody>
          <a:bodyPr wrap="none" rtlCol="0">
            <a:spAutoFit/>
          </a:bodyPr>
          <a:lstStyle/>
          <a:p>
            <a:r>
              <a:rPr lang="en-US" dirty="0"/>
              <a:t>Four decode busses to Rename Stage</a:t>
            </a:r>
            <a:endParaRPr lang="en-CA" dirty="0"/>
          </a:p>
        </p:txBody>
      </p:sp>
      <p:sp>
        <p:nvSpPr>
          <p:cNvPr id="44" name="TextBox 43">
            <a:extLst>
              <a:ext uri="{FF2B5EF4-FFF2-40B4-BE49-F238E27FC236}">
                <a16:creationId xmlns:a16="http://schemas.microsoft.com/office/drawing/2014/main" id="{4D129218-44F0-AFD7-A77E-D2949684502A}"/>
              </a:ext>
            </a:extLst>
          </p:cNvPr>
          <p:cNvSpPr txBox="1"/>
          <p:nvPr/>
        </p:nvSpPr>
        <p:spPr>
          <a:xfrm>
            <a:off x="6248591" y="4270013"/>
            <a:ext cx="5761994" cy="4524315"/>
          </a:xfrm>
          <a:prstGeom prst="rect">
            <a:avLst/>
          </a:prstGeom>
          <a:noFill/>
        </p:spPr>
        <p:txBody>
          <a:bodyPr wrap="square" rtlCol="0">
            <a:spAutoFit/>
          </a:bodyPr>
          <a:lstStyle/>
          <a:p>
            <a:pPr marL="285750" indent="-285750">
              <a:buFont typeface="Arial" panose="020B0604020202020204" pitchFamily="34" charset="0"/>
              <a:buChar char="•"/>
            </a:pPr>
            <a:r>
              <a:rPr lang="en-US" dirty="0"/>
              <a:t>Every clock cycle four micro-ops are decoded and sent to the rename stage.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micro-op buffer is shifted right by four micro-ops. When the buffer has four or fewer micro-ops left in it, a request is made to the extract stage for more instructions.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Incoming instructions are mapped very quickly onto one to eight micro-ops.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Micro-ops are stored in the buffer; between four and thirty-two micro-ops will fill the buffer.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Micro-ops are packed as they are stored in the buffer so there are no “holes”.</a:t>
            </a:r>
            <a:endParaRPr lang="en-CA" dirty="0"/>
          </a:p>
        </p:txBody>
      </p:sp>
      <p:sp>
        <p:nvSpPr>
          <p:cNvPr id="45" name="Arrow: Bent-Up 44">
            <a:extLst>
              <a:ext uri="{FF2B5EF4-FFF2-40B4-BE49-F238E27FC236}">
                <a16:creationId xmlns:a16="http://schemas.microsoft.com/office/drawing/2014/main" id="{2CE723E4-9607-4DCE-9A39-21A48CCB278A}"/>
              </a:ext>
            </a:extLst>
          </p:cNvPr>
          <p:cNvSpPr/>
          <p:nvPr/>
        </p:nvSpPr>
        <p:spPr>
          <a:xfrm flipH="1">
            <a:off x="482430" y="4295608"/>
            <a:ext cx="440045" cy="1860807"/>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17E9BD94-01FF-2408-B713-1605D4AE6EE5}"/>
              </a:ext>
            </a:extLst>
          </p:cNvPr>
          <p:cNvSpPr txBox="1"/>
          <p:nvPr/>
        </p:nvSpPr>
        <p:spPr>
          <a:xfrm>
            <a:off x="251891" y="3919291"/>
            <a:ext cx="871141" cy="400110"/>
          </a:xfrm>
          <a:prstGeom prst="rect">
            <a:avLst/>
          </a:prstGeom>
          <a:noFill/>
        </p:spPr>
        <p:txBody>
          <a:bodyPr wrap="square" rtlCol="0">
            <a:spAutoFit/>
          </a:bodyPr>
          <a:lstStyle/>
          <a:p>
            <a:r>
              <a:rPr lang="en-US" sz="1000" dirty="0"/>
              <a:t>Instruction Request</a:t>
            </a:r>
            <a:endParaRPr lang="en-CA" sz="1000" dirty="0"/>
          </a:p>
        </p:txBody>
      </p:sp>
      <p:cxnSp>
        <p:nvCxnSpPr>
          <p:cNvPr id="47" name="Straight Connector 46">
            <a:extLst>
              <a:ext uri="{FF2B5EF4-FFF2-40B4-BE49-F238E27FC236}">
                <a16:creationId xmlns:a16="http://schemas.microsoft.com/office/drawing/2014/main" id="{BF458A2C-37D6-CBDA-6D34-AC5227237AA2}"/>
              </a:ext>
            </a:extLst>
          </p:cNvPr>
          <p:cNvCxnSpPr>
            <a:cxnSpLocks/>
          </p:cNvCxnSpPr>
          <p:nvPr/>
        </p:nvCxnSpPr>
        <p:spPr>
          <a:xfrm>
            <a:off x="699249" y="7740425"/>
            <a:ext cx="5244353" cy="2127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F7A2CB9A-6489-5872-503C-6BE8C8D7D1B7}"/>
              </a:ext>
            </a:extLst>
          </p:cNvPr>
          <p:cNvSpPr txBox="1"/>
          <p:nvPr/>
        </p:nvSpPr>
        <p:spPr>
          <a:xfrm>
            <a:off x="447787" y="7484697"/>
            <a:ext cx="1297086" cy="276999"/>
          </a:xfrm>
          <a:prstGeom prst="rect">
            <a:avLst/>
          </a:prstGeom>
          <a:noFill/>
        </p:spPr>
        <p:txBody>
          <a:bodyPr wrap="square" rtlCol="0">
            <a:spAutoFit/>
          </a:bodyPr>
          <a:lstStyle/>
          <a:p>
            <a:r>
              <a:rPr lang="en-US" sz="1200" dirty="0"/>
              <a:t>Pipeline Register</a:t>
            </a:r>
            <a:endParaRPr lang="en-CA" sz="1200" dirty="0"/>
          </a:p>
        </p:txBody>
      </p:sp>
      <p:sp>
        <p:nvSpPr>
          <p:cNvPr id="3" name="Arrow: Down 2">
            <a:extLst>
              <a:ext uri="{FF2B5EF4-FFF2-40B4-BE49-F238E27FC236}">
                <a16:creationId xmlns:a16="http://schemas.microsoft.com/office/drawing/2014/main" id="{1C99CBB6-2A2D-F548-B0CB-76D152B61BEF}"/>
              </a:ext>
            </a:extLst>
          </p:cNvPr>
          <p:cNvSpPr/>
          <p:nvPr/>
        </p:nvSpPr>
        <p:spPr>
          <a:xfrm>
            <a:off x="2377645" y="6491596"/>
            <a:ext cx="671444" cy="3787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8" name="Rectangle 7">
            <a:extLst>
              <a:ext uri="{FF2B5EF4-FFF2-40B4-BE49-F238E27FC236}">
                <a16:creationId xmlns:a16="http://schemas.microsoft.com/office/drawing/2014/main" id="{32E55B2F-F886-D360-2A28-E02105DB82B2}"/>
              </a:ext>
            </a:extLst>
          </p:cNvPr>
          <p:cNvSpPr/>
          <p:nvPr/>
        </p:nvSpPr>
        <p:spPr>
          <a:xfrm>
            <a:off x="2309836" y="6874054"/>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Decoder</a:t>
            </a:r>
            <a:endParaRPr lang="en-CA" sz="1000" dirty="0"/>
          </a:p>
        </p:txBody>
      </p:sp>
      <p:sp>
        <p:nvSpPr>
          <p:cNvPr id="9" name="Arrow: Down 8">
            <a:extLst>
              <a:ext uri="{FF2B5EF4-FFF2-40B4-BE49-F238E27FC236}">
                <a16:creationId xmlns:a16="http://schemas.microsoft.com/office/drawing/2014/main" id="{78A1C8BD-019C-4B6E-8163-4823757689DC}"/>
              </a:ext>
            </a:extLst>
          </p:cNvPr>
          <p:cNvSpPr/>
          <p:nvPr/>
        </p:nvSpPr>
        <p:spPr>
          <a:xfrm>
            <a:off x="2393899" y="726259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13" name="Rectangle 12">
            <a:extLst>
              <a:ext uri="{FF2B5EF4-FFF2-40B4-BE49-F238E27FC236}">
                <a16:creationId xmlns:a16="http://schemas.microsoft.com/office/drawing/2014/main" id="{3A74FD05-F8BC-B23B-4D15-A392433EF47C}"/>
              </a:ext>
            </a:extLst>
          </p:cNvPr>
          <p:cNvSpPr/>
          <p:nvPr/>
        </p:nvSpPr>
        <p:spPr>
          <a:xfrm>
            <a:off x="1854101" y="4832396"/>
            <a:ext cx="1055758"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ISA Instruction To µop map</a:t>
            </a:r>
            <a:endParaRPr lang="en-CA" sz="1000" dirty="0"/>
          </a:p>
        </p:txBody>
      </p:sp>
      <p:sp>
        <p:nvSpPr>
          <p:cNvPr id="15" name="Arrow: Down 14">
            <a:extLst>
              <a:ext uri="{FF2B5EF4-FFF2-40B4-BE49-F238E27FC236}">
                <a16:creationId xmlns:a16="http://schemas.microsoft.com/office/drawing/2014/main" id="{D4B7D24E-7521-1BB3-73FE-FF986C506178}"/>
              </a:ext>
            </a:extLst>
          </p:cNvPr>
          <p:cNvSpPr/>
          <p:nvPr/>
        </p:nvSpPr>
        <p:spPr>
          <a:xfrm>
            <a:off x="1916719" y="5215937"/>
            <a:ext cx="880165" cy="456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8 max</a:t>
            </a:r>
            <a:endParaRPr lang="en-CA" sz="1000" dirty="0"/>
          </a:p>
        </p:txBody>
      </p:sp>
      <p:sp>
        <p:nvSpPr>
          <p:cNvPr id="21" name="Arrow: Down 20">
            <a:extLst>
              <a:ext uri="{FF2B5EF4-FFF2-40B4-BE49-F238E27FC236}">
                <a16:creationId xmlns:a16="http://schemas.microsoft.com/office/drawing/2014/main" id="{B716BC00-0FF1-C3E5-C4EF-900E736199DB}"/>
              </a:ext>
            </a:extLst>
          </p:cNvPr>
          <p:cNvSpPr/>
          <p:nvPr/>
        </p:nvSpPr>
        <p:spPr>
          <a:xfrm>
            <a:off x="2009902" y="4309298"/>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Tree>
    <p:extLst>
      <p:ext uri="{BB962C8B-B14F-4D97-AF65-F5344CB8AC3E}">
        <p14:creationId xmlns:p14="http://schemas.microsoft.com/office/powerpoint/2010/main" val="259429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E7671-DA3D-5C66-D0DC-22B672A22041}"/>
              </a:ext>
            </a:extLst>
          </p:cNvPr>
          <p:cNvSpPr>
            <a:spLocks noGrp="1"/>
          </p:cNvSpPr>
          <p:nvPr>
            <p:ph type="title"/>
          </p:nvPr>
        </p:nvSpPr>
        <p:spPr/>
        <p:txBody>
          <a:bodyPr/>
          <a:lstStyle/>
          <a:p>
            <a:r>
              <a:rPr lang="en-US" dirty="0"/>
              <a:t>Qupls4: Decode Stage (more)</a:t>
            </a:r>
            <a:endParaRPr lang="en-CA" dirty="0"/>
          </a:p>
        </p:txBody>
      </p:sp>
      <p:sp>
        <p:nvSpPr>
          <p:cNvPr id="4" name="Rectangle 3">
            <a:extLst>
              <a:ext uri="{FF2B5EF4-FFF2-40B4-BE49-F238E27FC236}">
                <a16:creationId xmlns:a16="http://schemas.microsoft.com/office/drawing/2014/main" id="{244AD4A4-17BF-2703-AB80-4C6C1AAA3027}"/>
              </a:ext>
            </a:extLst>
          </p:cNvPr>
          <p:cNvSpPr/>
          <p:nvPr/>
        </p:nvSpPr>
        <p:spPr>
          <a:xfrm>
            <a:off x="5370512" y="5097911"/>
            <a:ext cx="602974" cy="242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0</a:t>
            </a:r>
            <a:endParaRPr lang="en-CA" sz="1000" dirty="0"/>
          </a:p>
        </p:txBody>
      </p:sp>
      <p:sp>
        <p:nvSpPr>
          <p:cNvPr id="5" name="Rectangle 4">
            <a:extLst>
              <a:ext uri="{FF2B5EF4-FFF2-40B4-BE49-F238E27FC236}">
                <a16:creationId xmlns:a16="http://schemas.microsoft.com/office/drawing/2014/main" id="{5CF24EA5-DFAE-FB83-6A50-D69CF1C2B5C9}"/>
              </a:ext>
            </a:extLst>
          </p:cNvPr>
          <p:cNvSpPr/>
          <p:nvPr/>
        </p:nvSpPr>
        <p:spPr>
          <a:xfrm>
            <a:off x="4754287" y="5097911"/>
            <a:ext cx="602974" cy="242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1</a:t>
            </a:r>
            <a:endParaRPr lang="en-CA" sz="1000" dirty="0"/>
          </a:p>
        </p:txBody>
      </p:sp>
      <p:sp>
        <p:nvSpPr>
          <p:cNvPr id="6" name="Rectangle 5">
            <a:extLst>
              <a:ext uri="{FF2B5EF4-FFF2-40B4-BE49-F238E27FC236}">
                <a16:creationId xmlns:a16="http://schemas.microsoft.com/office/drawing/2014/main" id="{B17E7B95-30A7-75E7-609B-7E49FA75F5AE}"/>
              </a:ext>
            </a:extLst>
          </p:cNvPr>
          <p:cNvSpPr/>
          <p:nvPr/>
        </p:nvSpPr>
        <p:spPr>
          <a:xfrm>
            <a:off x="1394860" y="5097911"/>
            <a:ext cx="602974" cy="242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31</a:t>
            </a:r>
            <a:endParaRPr lang="en-CA" sz="1000" dirty="0"/>
          </a:p>
        </p:txBody>
      </p:sp>
      <p:sp>
        <p:nvSpPr>
          <p:cNvPr id="7" name="Rectangle 6">
            <a:extLst>
              <a:ext uri="{FF2B5EF4-FFF2-40B4-BE49-F238E27FC236}">
                <a16:creationId xmlns:a16="http://schemas.microsoft.com/office/drawing/2014/main" id="{3A7BB0F3-B210-B42C-7680-42C0E660F87F}"/>
              </a:ext>
            </a:extLst>
          </p:cNvPr>
          <p:cNvSpPr/>
          <p:nvPr/>
        </p:nvSpPr>
        <p:spPr>
          <a:xfrm>
            <a:off x="2011085" y="5097911"/>
            <a:ext cx="602974" cy="2429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30</a:t>
            </a:r>
            <a:endParaRPr lang="en-CA" sz="1000" dirty="0"/>
          </a:p>
        </p:txBody>
      </p:sp>
      <p:cxnSp>
        <p:nvCxnSpPr>
          <p:cNvPr id="8" name="Straight Connector 7">
            <a:extLst>
              <a:ext uri="{FF2B5EF4-FFF2-40B4-BE49-F238E27FC236}">
                <a16:creationId xmlns:a16="http://schemas.microsoft.com/office/drawing/2014/main" id="{E9E68FD5-C5F9-6F14-44AD-C6A022421526}"/>
              </a:ext>
            </a:extLst>
          </p:cNvPr>
          <p:cNvCxnSpPr>
            <a:stCxn id="7" idx="3"/>
            <a:endCxn id="5" idx="1"/>
          </p:cNvCxnSpPr>
          <p:nvPr/>
        </p:nvCxnSpPr>
        <p:spPr>
          <a:xfrm>
            <a:off x="2614059" y="5219389"/>
            <a:ext cx="2140228" cy="0"/>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14B384DD-9D81-9F38-26B7-8F5F8B7F8585}"/>
              </a:ext>
            </a:extLst>
          </p:cNvPr>
          <p:cNvSpPr/>
          <p:nvPr/>
        </p:nvSpPr>
        <p:spPr>
          <a:xfrm>
            <a:off x="1229207" y="4771421"/>
            <a:ext cx="4909933" cy="803965"/>
          </a:xfrm>
          <a:prstGeom prst="rect">
            <a:avLst/>
          </a:prstGeom>
          <a:solidFill>
            <a:schemeClr val="accent1">
              <a:alpha val="37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µop Buffer</a:t>
            </a:r>
            <a:endParaRPr lang="en-CA" dirty="0">
              <a:solidFill>
                <a:schemeClr val="tx1"/>
              </a:solidFill>
            </a:endParaRPr>
          </a:p>
        </p:txBody>
      </p:sp>
      <p:sp>
        <p:nvSpPr>
          <p:cNvPr id="10" name="Rectangle 9">
            <a:extLst>
              <a:ext uri="{FF2B5EF4-FFF2-40B4-BE49-F238E27FC236}">
                <a16:creationId xmlns:a16="http://schemas.microsoft.com/office/drawing/2014/main" id="{ECAC6772-5CAE-D455-76B9-125EBA8890A0}"/>
              </a:ext>
            </a:extLst>
          </p:cNvPr>
          <p:cNvSpPr/>
          <p:nvPr/>
        </p:nvSpPr>
        <p:spPr>
          <a:xfrm>
            <a:off x="5338487" y="5954886"/>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Constant</a:t>
            </a:r>
          </a:p>
          <a:p>
            <a:pPr algn="ctr"/>
            <a:r>
              <a:rPr lang="en-US" sz="1000" dirty="0"/>
              <a:t>Decoder</a:t>
            </a:r>
            <a:endParaRPr lang="en-CA" sz="1000" dirty="0"/>
          </a:p>
        </p:txBody>
      </p:sp>
      <p:sp>
        <p:nvSpPr>
          <p:cNvPr id="11" name="Rectangle 10">
            <a:extLst>
              <a:ext uri="{FF2B5EF4-FFF2-40B4-BE49-F238E27FC236}">
                <a16:creationId xmlns:a16="http://schemas.microsoft.com/office/drawing/2014/main" id="{BD66567A-F74A-5D9D-884D-C2834A78E3C1}"/>
              </a:ext>
            </a:extLst>
          </p:cNvPr>
          <p:cNvSpPr/>
          <p:nvPr/>
        </p:nvSpPr>
        <p:spPr>
          <a:xfrm>
            <a:off x="4435131" y="5954885"/>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Constant Decoder</a:t>
            </a:r>
            <a:endParaRPr lang="en-CA" sz="1000" dirty="0"/>
          </a:p>
        </p:txBody>
      </p:sp>
      <p:sp>
        <p:nvSpPr>
          <p:cNvPr id="12" name="Rectangle 11">
            <a:extLst>
              <a:ext uri="{FF2B5EF4-FFF2-40B4-BE49-F238E27FC236}">
                <a16:creationId xmlns:a16="http://schemas.microsoft.com/office/drawing/2014/main" id="{3AC8B6FA-7594-683E-4007-B926AA8E9AF7}"/>
              </a:ext>
            </a:extLst>
          </p:cNvPr>
          <p:cNvSpPr/>
          <p:nvPr/>
        </p:nvSpPr>
        <p:spPr>
          <a:xfrm>
            <a:off x="3535091" y="5954884"/>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Constant Decoder</a:t>
            </a:r>
            <a:endParaRPr lang="en-CA" sz="1000" dirty="0"/>
          </a:p>
        </p:txBody>
      </p:sp>
      <p:sp>
        <p:nvSpPr>
          <p:cNvPr id="14" name="Arrow: Down 13">
            <a:extLst>
              <a:ext uri="{FF2B5EF4-FFF2-40B4-BE49-F238E27FC236}">
                <a16:creationId xmlns:a16="http://schemas.microsoft.com/office/drawing/2014/main" id="{2B24E940-0B48-B6F9-43EE-ACD39C492235}"/>
              </a:ext>
            </a:extLst>
          </p:cNvPr>
          <p:cNvSpPr/>
          <p:nvPr/>
        </p:nvSpPr>
        <p:spPr>
          <a:xfrm>
            <a:off x="5416895" y="5576091"/>
            <a:ext cx="671444" cy="3787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15" name="Arrow: Down 14">
            <a:extLst>
              <a:ext uri="{FF2B5EF4-FFF2-40B4-BE49-F238E27FC236}">
                <a16:creationId xmlns:a16="http://schemas.microsoft.com/office/drawing/2014/main" id="{3A842CB9-063C-921F-FDA3-3CF2596102FF}"/>
              </a:ext>
            </a:extLst>
          </p:cNvPr>
          <p:cNvSpPr/>
          <p:nvPr/>
        </p:nvSpPr>
        <p:spPr>
          <a:xfrm>
            <a:off x="4513539" y="5576091"/>
            <a:ext cx="671444" cy="3787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16" name="Arrow: Down 15">
            <a:extLst>
              <a:ext uri="{FF2B5EF4-FFF2-40B4-BE49-F238E27FC236}">
                <a16:creationId xmlns:a16="http://schemas.microsoft.com/office/drawing/2014/main" id="{772DF459-39E8-C005-6FD2-D052727A0B36}"/>
              </a:ext>
            </a:extLst>
          </p:cNvPr>
          <p:cNvSpPr/>
          <p:nvPr/>
        </p:nvSpPr>
        <p:spPr>
          <a:xfrm>
            <a:off x="3610183" y="5576091"/>
            <a:ext cx="671444" cy="3787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19" name="Arrow: Down 18">
            <a:extLst>
              <a:ext uri="{FF2B5EF4-FFF2-40B4-BE49-F238E27FC236}">
                <a16:creationId xmlns:a16="http://schemas.microsoft.com/office/drawing/2014/main" id="{6764D332-B889-AF93-14C7-5BC631FE0D2D}"/>
              </a:ext>
            </a:extLst>
          </p:cNvPr>
          <p:cNvSpPr/>
          <p:nvPr/>
        </p:nvSpPr>
        <p:spPr>
          <a:xfrm>
            <a:off x="3631164" y="633367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3</a:t>
            </a:r>
            <a:endParaRPr lang="en-CA" sz="1000" dirty="0"/>
          </a:p>
        </p:txBody>
      </p:sp>
      <p:sp>
        <p:nvSpPr>
          <p:cNvPr id="20" name="Arrow: Down 19">
            <a:extLst>
              <a:ext uri="{FF2B5EF4-FFF2-40B4-BE49-F238E27FC236}">
                <a16:creationId xmlns:a16="http://schemas.microsoft.com/office/drawing/2014/main" id="{BCB05E56-0A5C-3EB0-890A-604E7BC1B2F4}"/>
              </a:ext>
            </a:extLst>
          </p:cNvPr>
          <p:cNvSpPr/>
          <p:nvPr/>
        </p:nvSpPr>
        <p:spPr>
          <a:xfrm>
            <a:off x="4516387" y="6338255"/>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3</a:t>
            </a:r>
            <a:endParaRPr lang="en-CA" sz="1000" dirty="0"/>
          </a:p>
        </p:txBody>
      </p:sp>
      <p:sp>
        <p:nvSpPr>
          <p:cNvPr id="21" name="Arrow: Down 20">
            <a:extLst>
              <a:ext uri="{FF2B5EF4-FFF2-40B4-BE49-F238E27FC236}">
                <a16:creationId xmlns:a16="http://schemas.microsoft.com/office/drawing/2014/main" id="{7DC7C2C0-1EEB-76FA-DAB3-351C6C3A3840}"/>
              </a:ext>
            </a:extLst>
          </p:cNvPr>
          <p:cNvSpPr/>
          <p:nvPr/>
        </p:nvSpPr>
        <p:spPr>
          <a:xfrm>
            <a:off x="5411418" y="633367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3</a:t>
            </a:r>
            <a:endParaRPr lang="en-CA" sz="1000" dirty="0"/>
          </a:p>
        </p:txBody>
      </p:sp>
      <p:sp>
        <p:nvSpPr>
          <p:cNvPr id="22" name="TextBox 21">
            <a:extLst>
              <a:ext uri="{FF2B5EF4-FFF2-40B4-BE49-F238E27FC236}">
                <a16:creationId xmlns:a16="http://schemas.microsoft.com/office/drawing/2014/main" id="{4BD60F5D-0A1C-F533-8A90-2EA3F585F33B}"/>
              </a:ext>
            </a:extLst>
          </p:cNvPr>
          <p:cNvSpPr txBox="1"/>
          <p:nvPr/>
        </p:nvSpPr>
        <p:spPr>
          <a:xfrm>
            <a:off x="2509233" y="6838528"/>
            <a:ext cx="3630866" cy="369332"/>
          </a:xfrm>
          <a:prstGeom prst="rect">
            <a:avLst/>
          </a:prstGeom>
          <a:noFill/>
        </p:spPr>
        <p:txBody>
          <a:bodyPr wrap="none" rtlCol="0">
            <a:spAutoFit/>
          </a:bodyPr>
          <a:lstStyle/>
          <a:p>
            <a:r>
              <a:rPr lang="en-US" dirty="0"/>
              <a:t>Twelve constants to Rename Stage</a:t>
            </a:r>
            <a:endParaRPr lang="en-CA" dirty="0"/>
          </a:p>
        </p:txBody>
      </p:sp>
      <p:sp>
        <p:nvSpPr>
          <p:cNvPr id="23" name="Arrow: Right 22">
            <a:extLst>
              <a:ext uri="{FF2B5EF4-FFF2-40B4-BE49-F238E27FC236}">
                <a16:creationId xmlns:a16="http://schemas.microsoft.com/office/drawing/2014/main" id="{7D89D6E8-8402-28E1-B2C1-45D30B4E48D0}"/>
              </a:ext>
            </a:extLst>
          </p:cNvPr>
          <p:cNvSpPr/>
          <p:nvPr/>
        </p:nvSpPr>
        <p:spPr>
          <a:xfrm>
            <a:off x="1289879" y="5986976"/>
            <a:ext cx="1324180" cy="3048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TextBox 23">
            <a:extLst>
              <a:ext uri="{FF2B5EF4-FFF2-40B4-BE49-F238E27FC236}">
                <a16:creationId xmlns:a16="http://schemas.microsoft.com/office/drawing/2014/main" id="{5355F8F2-3C54-61B6-A69B-0BD7ED6565C5}"/>
              </a:ext>
            </a:extLst>
          </p:cNvPr>
          <p:cNvSpPr txBox="1"/>
          <p:nvPr/>
        </p:nvSpPr>
        <p:spPr>
          <a:xfrm>
            <a:off x="46709" y="5715578"/>
            <a:ext cx="2794419" cy="307777"/>
          </a:xfrm>
          <a:prstGeom prst="rect">
            <a:avLst/>
          </a:prstGeom>
          <a:noFill/>
        </p:spPr>
        <p:txBody>
          <a:bodyPr wrap="none" rtlCol="0">
            <a:spAutoFit/>
          </a:bodyPr>
          <a:lstStyle/>
          <a:p>
            <a:r>
              <a:rPr lang="en-US" sz="1400" dirty="0"/>
              <a:t>Cache line from decode (512 bits)</a:t>
            </a:r>
            <a:endParaRPr lang="en-CA" sz="1400" dirty="0"/>
          </a:p>
        </p:txBody>
      </p:sp>
      <p:sp>
        <p:nvSpPr>
          <p:cNvPr id="25" name="TextBox 24">
            <a:extLst>
              <a:ext uri="{FF2B5EF4-FFF2-40B4-BE49-F238E27FC236}">
                <a16:creationId xmlns:a16="http://schemas.microsoft.com/office/drawing/2014/main" id="{2BA53338-E8D4-C04A-D5CE-71EE6678BA98}"/>
              </a:ext>
            </a:extLst>
          </p:cNvPr>
          <p:cNvSpPr txBox="1"/>
          <p:nvPr/>
        </p:nvSpPr>
        <p:spPr>
          <a:xfrm>
            <a:off x="6519486" y="4451997"/>
            <a:ext cx="5367715" cy="1477328"/>
          </a:xfrm>
          <a:prstGeom prst="rect">
            <a:avLst/>
          </a:prstGeom>
          <a:noFill/>
        </p:spPr>
        <p:txBody>
          <a:bodyPr wrap="square" rtlCol="0">
            <a:spAutoFit/>
          </a:bodyPr>
          <a:lstStyle/>
          <a:p>
            <a:pPr marL="285750" indent="-285750">
              <a:buFont typeface="Arial" panose="020B0604020202020204" pitchFamily="34" charset="0"/>
              <a:buChar char="•"/>
            </a:pPr>
            <a:r>
              <a:rPr lang="en-US" dirty="0"/>
              <a:t>Indexes to cache line constants are decoded from the micro-ops and the cache line.</a:t>
            </a:r>
          </a:p>
          <a:p>
            <a:endParaRPr lang="en-US" dirty="0"/>
          </a:p>
          <a:p>
            <a:pPr marL="285750" indent="-285750">
              <a:buFont typeface="Arial" panose="020B0604020202020204" pitchFamily="34" charset="0"/>
              <a:buChar char="•"/>
            </a:pPr>
            <a:r>
              <a:rPr lang="en-US" dirty="0"/>
              <a:t>There may be three cache line constants per micro-op.</a:t>
            </a:r>
            <a:endParaRPr lang="en-CA" dirty="0"/>
          </a:p>
        </p:txBody>
      </p:sp>
      <p:cxnSp>
        <p:nvCxnSpPr>
          <p:cNvPr id="26" name="Straight Connector 25">
            <a:extLst>
              <a:ext uri="{FF2B5EF4-FFF2-40B4-BE49-F238E27FC236}">
                <a16:creationId xmlns:a16="http://schemas.microsoft.com/office/drawing/2014/main" id="{A546485E-E911-C3C8-8592-D1C3A1AE9D55}"/>
              </a:ext>
            </a:extLst>
          </p:cNvPr>
          <p:cNvCxnSpPr>
            <a:cxnSpLocks/>
          </p:cNvCxnSpPr>
          <p:nvPr/>
        </p:nvCxnSpPr>
        <p:spPr>
          <a:xfrm>
            <a:off x="982471" y="6827891"/>
            <a:ext cx="5244353" cy="2127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D879055E-A3B6-33BB-6AA1-1E14C0F80EF3}"/>
              </a:ext>
            </a:extLst>
          </p:cNvPr>
          <p:cNvSpPr txBox="1"/>
          <p:nvPr/>
        </p:nvSpPr>
        <p:spPr>
          <a:xfrm>
            <a:off x="731009" y="6572163"/>
            <a:ext cx="1297086" cy="276999"/>
          </a:xfrm>
          <a:prstGeom prst="rect">
            <a:avLst/>
          </a:prstGeom>
          <a:noFill/>
        </p:spPr>
        <p:txBody>
          <a:bodyPr wrap="square" rtlCol="0">
            <a:spAutoFit/>
          </a:bodyPr>
          <a:lstStyle/>
          <a:p>
            <a:r>
              <a:rPr lang="en-US" sz="1200" dirty="0"/>
              <a:t>Pipeline Register</a:t>
            </a:r>
            <a:endParaRPr lang="en-CA" sz="1200" dirty="0"/>
          </a:p>
        </p:txBody>
      </p:sp>
      <p:sp>
        <p:nvSpPr>
          <p:cNvPr id="28" name="Rectangle 27">
            <a:extLst>
              <a:ext uri="{FF2B5EF4-FFF2-40B4-BE49-F238E27FC236}">
                <a16:creationId xmlns:a16="http://schemas.microsoft.com/office/drawing/2014/main" id="{CBED6292-BB18-2FAE-6D6C-93BDEAE38338}"/>
              </a:ext>
            </a:extLst>
          </p:cNvPr>
          <p:cNvSpPr/>
          <p:nvPr/>
        </p:nvSpPr>
        <p:spPr>
          <a:xfrm>
            <a:off x="9834545" y="6557413"/>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Rd</a:t>
            </a:r>
          </a:p>
          <a:p>
            <a:pPr algn="ctr"/>
            <a:r>
              <a:rPr lang="en-US" sz="1000" dirty="0"/>
              <a:t>Decoder</a:t>
            </a:r>
            <a:endParaRPr lang="en-CA" sz="1000" dirty="0"/>
          </a:p>
        </p:txBody>
      </p:sp>
      <p:sp>
        <p:nvSpPr>
          <p:cNvPr id="29" name="Rectangle 28">
            <a:extLst>
              <a:ext uri="{FF2B5EF4-FFF2-40B4-BE49-F238E27FC236}">
                <a16:creationId xmlns:a16="http://schemas.microsoft.com/office/drawing/2014/main" id="{8ADBB742-49D9-B694-015D-E5AD3D66E5EF}"/>
              </a:ext>
            </a:extLst>
          </p:cNvPr>
          <p:cNvSpPr/>
          <p:nvPr/>
        </p:nvSpPr>
        <p:spPr>
          <a:xfrm>
            <a:off x="8931189" y="6557412"/>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Rd Decoder</a:t>
            </a:r>
            <a:endParaRPr lang="en-CA" sz="1000" dirty="0"/>
          </a:p>
        </p:txBody>
      </p:sp>
      <p:sp>
        <p:nvSpPr>
          <p:cNvPr id="30" name="Rectangle 29">
            <a:extLst>
              <a:ext uri="{FF2B5EF4-FFF2-40B4-BE49-F238E27FC236}">
                <a16:creationId xmlns:a16="http://schemas.microsoft.com/office/drawing/2014/main" id="{F4EE2ED6-9B55-325E-7669-24BFEBA54FB0}"/>
              </a:ext>
            </a:extLst>
          </p:cNvPr>
          <p:cNvSpPr/>
          <p:nvPr/>
        </p:nvSpPr>
        <p:spPr>
          <a:xfrm>
            <a:off x="8031149" y="6557411"/>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Rd Decoder</a:t>
            </a:r>
            <a:endParaRPr lang="en-CA" sz="1000" dirty="0"/>
          </a:p>
        </p:txBody>
      </p:sp>
      <p:sp>
        <p:nvSpPr>
          <p:cNvPr id="33" name="Arrow: Down 32">
            <a:extLst>
              <a:ext uri="{FF2B5EF4-FFF2-40B4-BE49-F238E27FC236}">
                <a16:creationId xmlns:a16="http://schemas.microsoft.com/office/drawing/2014/main" id="{691A6D0B-6F39-DDB9-0073-6641DDC9D3E1}"/>
              </a:ext>
            </a:extLst>
          </p:cNvPr>
          <p:cNvSpPr/>
          <p:nvPr/>
        </p:nvSpPr>
        <p:spPr>
          <a:xfrm>
            <a:off x="8127222" y="6936199"/>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4" name="Arrow: Down 33">
            <a:extLst>
              <a:ext uri="{FF2B5EF4-FFF2-40B4-BE49-F238E27FC236}">
                <a16:creationId xmlns:a16="http://schemas.microsoft.com/office/drawing/2014/main" id="{4A1DCE78-6AF5-928D-9C75-DFD072429CA4}"/>
              </a:ext>
            </a:extLst>
          </p:cNvPr>
          <p:cNvSpPr/>
          <p:nvPr/>
        </p:nvSpPr>
        <p:spPr>
          <a:xfrm>
            <a:off x="9012445" y="694078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5" name="Arrow: Down 34">
            <a:extLst>
              <a:ext uri="{FF2B5EF4-FFF2-40B4-BE49-F238E27FC236}">
                <a16:creationId xmlns:a16="http://schemas.microsoft.com/office/drawing/2014/main" id="{E5E3A3FE-6736-FC9C-DA77-F9B694541F34}"/>
              </a:ext>
            </a:extLst>
          </p:cNvPr>
          <p:cNvSpPr/>
          <p:nvPr/>
        </p:nvSpPr>
        <p:spPr>
          <a:xfrm>
            <a:off x="9907476" y="6936199"/>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36" name="TextBox 35">
            <a:extLst>
              <a:ext uri="{FF2B5EF4-FFF2-40B4-BE49-F238E27FC236}">
                <a16:creationId xmlns:a16="http://schemas.microsoft.com/office/drawing/2014/main" id="{44F5672D-C543-A461-3B78-FBF971DAEE0C}"/>
              </a:ext>
            </a:extLst>
          </p:cNvPr>
          <p:cNvSpPr txBox="1"/>
          <p:nvPr/>
        </p:nvSpPr>
        <p:spPr>
          <a:xfrm>
            <a:off x="6991458" y="8397818"/>
            <a:ext cx="4263860" cy="369332"/>
          </a:xfrm>
          <a:prstGeom prst="rect">
            <a:avLst/>
          </a:prstGeom>
          <a:noFill/>
        </p:spPr>
        <p:txBody>
          <a:bodyPr wrap="none" rtlCol="0">
            <a:spAutoFit/>
          </a:bodyPr>
          <a:lstStyle/>
          <a:p>
            <a:r>
              <a:rPr lang="en-US" dirty="0"/>
              <a:t>Four destination names to Rename Stage</a:t>
            </a:r>
            <a:endParaRPr lang="en-CA" dirty="0"/>
          </a:p>
        </p:txBody>
      </p:sp>
      <p:sp>
        <p:nvSpPr>
          <p:cNvPr id="37" name="Rectangle 36">
            <a:extLst>
              <a:ext uri="{FF2B5EF4-FFF2-40B4-BE49-F238E27FC236}">
                <a16:creationId xmlns:a16="http://schemas.microsoft.com/office/drawing/2014/main" id="{712B7482-2A08-6F41-E94E-C497C87E31DA}"/>
              </a:ext>
            </a:extLst>
          </p:cNvPr>
          <p:cNvSpPr/>
          <p:nvPr/>
        </p:nvSpPr>
        <p:spPr>
          <a:xfrm>
            <a:off x="6966667" y="7441056"/>
            <a:ext cx="3806021"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Name Supplier</a:t>
            </a:r>
            <a:endParaRPr lang="en-CA" sz="1400" dirty="0"/>
          </a:p>
        </p:txBody>
      </p:sp>
      <p:sp>
        <p:nvSpPr>
          <p:cNvPr id="39" name="Arrow: Down 38">
            <a:extLst>
              <a:ext uri="{FF2B5EF4-FFF2-40B4-BE49-F238E27FC236}">
                <a16:creationId xmlns:a16="http://schemas.microsoft.com/office/drawing/2014/main" id="{FE7656EC-8295-5EF1-371B-D581D82F9972}"/>
              </a:ext>
            </a:extLst>
          </p:cNvPr>
          <p:cNvSpPr/>
          <p:nvPr/>
        </p:nvSpPr>
        <p:spPr>
          <a:xfrm>
            <a:off x="8177011" y="7827747"/>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40" name="Arrow: Down 39">
            <a:extLst>
              <a:ext uri="{FF2B5EF4-FFF2-40B4-BE49-F238E27FC236}">
                <a16:creationId xmlns:a16="http://schemas.microsoft.com/office/drawing/2014/main" id="{E29C00F9-653E-273D-EFAC-AC16EDD7B1F0}"/>
              </a:ext>
            </a:extLst>
          </p:cNvPr>
          <p:cNvSpPr/>
          <p:nvPr/>
        </p:nvSpPr>
        <p:spPr>
          <a:xfrm>
            <a:off x="9023610" y="7812196"/>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41" name="Arrow: Down 40">
            <a:extLst>
              <a:ext uri="{FF2B5EF4-FFF2-40B4-BE49-F238E27FC236}">
                <a16:creationId xmlns:a16="http://schemas.microsoft.com/office/drawing/2014/main" id="{C4049C58-6EF9-C4EE-3743-CEA155E40310}"/>
              </a:ext>
            </a:extLst>
          </p:cNvPr>
          <p:cNvSpPr/>
          <p:nvPr/>
        </p:nvSpPr>
        <p:spPr>
          <a:xfrm>
            <a:off x="9959727" y="781984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cxnSp>
        <p:nvCxnSpPr>
          <p:cNvPr id="42" name="Straight Connector 41">
            <a:extLst>
              <a:ext uri="{FF2B5EF4-FFF2-40B4-BE49-F238E27FC236}">
                <a16:creationId xmlns:a16="http://schemas.microsoft.com/office/drawing/2014/main" id="{D1E26CE4-3F48-FC77-2A5C-1DEC527936D1}"/>
              </a:ext>
            </a:extLst>
          </p:cNvPr>
          <p:cNvCxnSpPr>
            <a:cxnSpLocks/>
          </p:cNvCxnSpPr>
          <p:nvPr/>
        </p:nvCxnSpPr>
        <p:spPr>
          <a:xfrm>
            <a:off x="5672000" y="8324698"/>
            <a:ext cx="5244353" cy="2127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AE1F377B-99D7-DE06-8836-5BF77A01FA42}"/>
              </a:ext>
            </a:extLst>
          </p:cNvPr>
          <p:cNvSpPr txBox="1"/>
          <p:nvPr/>
        </p:nvSpPr>
        <p:spPr>
          <a:xfrm>
            <a:off x="5669580" y="8100961"/>
            <a:ext cx="1297086" cy="276999"/>
          </a:xfrm>
          <a:prstGeom prst="rect">
            <a:avLst/>
          </a:prstGeom>
          <a:noFill/>
        </p:spPr>
        <p:txBody>
          <a:bodyPr wrap="square" rtlCol="0">
            <a:spAutoFit/>
          </a:bodyPr>
          <a:lstStyle/>
          <a:p>
            <a:r>
              <a:rPr lang="en-US" sz="1200" dirty="0"/>
              <a:t>Pipeline Register</a:t>
            </a:r>
            <a:endParaRPr lang="en-CA" sz="1200" dirty="0"/>
          </a:p>
        </p:txBody>
      </p:sp>
      <p:sp>
        <p:nvSpPr>
          <p:cNvPr id="44" name="TextBox 43">
            <a:extLst>
              <a:ext uri="{FF2B5EF4-FFF2-40B4-BE49-F238E27FC236}">
                <a16:creationId xmlns:a16="http://schemas.microsoft.com/office/drawing/2014/main" id="{A62323E0-9BAE-F6C4-714E-F9E79BCCEBD7}"/>
              </a:ext>
            </a:extLst>
          </p:cNvPr>
          <p:cNvSpPr txBox="1"/>
          <p:nvPr/>
        </p:nvSpPr>
        <p:spPr>
          <a:xfrm>
            <a:off x="462791" y="7810388"/>
            <a:ext cx="4800600"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The destination register from each micro-op decoder is fed to the name supplier which supplies a rename for the register.</a:t>
            </a:r>
            <a:endParaRPr lang="en-CA" dirty="0"/>
          </a:p>
        </p:txBody>
      </p:sp>
      <p:sp>
        <p:nvSpPr>
          <p:cNvPr id="3" name="Arrow: Down 2">
            <a:extLst>
              <a:ext uri="{FF2B5EF4-FFF2-40B4-BE49-F238E27FC236}">
                <a16:creationId xmlns:a16="http://schemas.microsoft.com/office/drawing/2014/main" id="{1C63C0F5-DD13-944B-7406-0229744035D4}"/>
              </a:ext>
            </a:extLst>
          </p:cNvPr>
          <p:cNvSpPr/>
          <p:nvPr/>
        </p:nvSpPr>
        <p:spPr>
          <a:xfrm>
            <a:off x="2706827" y="5573870"/>
            <a:ext cx="671444" cy="3787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45" name="Rectangle 44">
            <a:extLst>
              <a:ext uri="{FF2B5EF4-FFF2-40B4-BE49-F238E27FC236}">
                <a16:creationId xmlns:a16="http://schemas.microsoft.com/office/drawing/2014/main" id="{A54DFADE-6461-BE11-6516-7F0481608F40}"/>
              </a:ext>
            </a:extLst>
          </p:cNvPr>
          <p:cNvSpPr/>
          <p:nvPr/>
        </p:nvSpPr>
        <p:spPr>
          <a:xfrm>
            <a:off x="2642221" y="5960796"/>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Constant Decoder</a:t>
            </a:r>
            <a:endParaRPr lang="en-CA" sz="1000" dirty="0"/>
          </a:p>
        </p:txBody>
      </p:sp>
      <p:sp>
        <p:nvSpPr>
          <p:cNvPr id="46" name="Arrow: Down 45">
            <a:extLst>
              <a:ext uri="{FF2B5EF4-FFF2-40B4-BE49-F238E27FC236}">
                <a16:creationId xmlns:a16="http://schemas.microsoft.com/office/drawing/2014/main" id="{3BA76494-59BD-BBA6-0C26-88DE139CCB57}"/>
              </a:ext>
            </a:extLst>
          </p:cNvPr>
          <p:cNvSpPr/>
          <p:nvPr/>
        </p:nvSpPr>
        <p:spPr>
          <a:xfrm>
            <a:off x="2706828" y="6345108"/>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3</a:t>
            </a:r>
            <a:endParaRPr lang="en-CA" sz="1000" dirty="0"/>
          </a:p>
        </p:txBody>
      </p:sp>
      <p:sp>
        <p:nvSpPr>
          <p:cNvPr id="47" name="Rectangle 46">
            <a:extLst>
              <a:ext uri="{FF2B5EF4-FFF2-40B4-BE49-F238E27FC236}">
                <a16:creationId xmlns:a16="http://schemas.microsoft.com/office/drawing/2014/main" id="{D9738219-BF0F-73E1-B3BF-0ABF674AEF79}"/>
              </a:ext>
            </a:extLst>
          </p:cNvPr>
          <p:cNvSpPr/>
          <p:nvPr/>
        </p:nvSpPr>
        <p:spPr>
          <a:xfrm>
            <a:off x="7133038" y="6556456"/>
            <a:ext cx="828260" cy="3843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µop Rd Decoder</a:t>
            </a:r>
            <a:endParaRPr lang="en-CA" sz="1000" dirty="0"/>
          </a:p>
        </p:txBody>
      </p:sp>
      <p:sp>
        <p:nvSpPr>
          <p:cNvPr id="48" name="Arrow: Down 47">
            <a:extLst>
              <a:ext uri="{FF2B5EF4-FFF2-40B4-BE49-F238E27FC236}">
                <a16:creationId xmlns:a16="http://schemas.microsoft.com/office/drawing/2014/main" id="{9AF7ABA2-89A2-AED6-67CE-918A8BD4D988}"/>
              </a:ext>
            </a:extLst>
          </p:cNvPr>
          <p:cNvSpPr/>
          <p:nvPr/>
        </p:nvSpPr>
        <p:spPr>
          <a:xfrm>
            <a:off x="7205969" y="694078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49" name="Arrow: Down 48">
            <a:extLst>
              <a:ext uri="{FF2B5EF4-FFF2-40B4-BE49-F238E27FC236}">
                <a16:creationId xmlns:a16="http://schemas.microsoft.com/office/drawing/2014/main" id="{E6834225-5EDD-04D9-745E-B28DD8D19548}"/>
              </a:ext>
            </a:extLst>
          </p:cNvPr>
          <p:cNvSpPr/>
          <p:nvPr/>
        </p:nvSpPr>
        <p:spPr>
          <a:xfrm>
            <a:off x="7220385" y="7821933"/>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Tree>
    <p:extLst>
      <p:ext uri="{BB962C8B-B14F-4D97-AF65-F5344CB8AC3E}">
        <p14:creationId xmlns:p14="http://schemas.microsoft.com/office/powerpoint/2010/main" val="2694914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33C03-86BC-47B3-352E-CEAFA8E49E87}"/>
              </a:ext>
            </a:extLst>
          </p:cNvPr>
          <p:cNvSpPr>
            <a:spLocks noGrp="1"/>
          </p:cNvSpPr>
          <p:nvPr>
            <p:ph type="title"/>
          </p:nvPr>
        </p:nvSpPr>
        <p:spPr>
          <a:xfrm>
            <a:off x="60739" y="2724255"/>
            <a:ext cx="10515600" cy="858492"/>
          </a:xfrm>
        </p:spPr>
        <p:txBody>
          <a:bodyPr>
            <a:normAutofit fontScale="90000"/>
          </a:bodyPr>
          <a:lstStyle/>
          <a:p>
            <a:r>
              <a:rPr lang="en-US" dirty="0"/>
              <a:t>Qupls4: Rename Stage (*_ren)</a:t>
            </a:r>
            <a:endParaRPr lang="en-CA" dirty="0"/>
          </a:p>
        </p:txBody>
      </p:sp>
      <p:sp>
        <p:nvSpPr>
          <p:cNvPr id="4" name="Rectangle 3">
            <a:extLst>
              <a:ext uri="{FF2B5EF4-FFF2-40B4-BE49-F238E27FC236}">
                <a16:creationId xmlns:a16="http://schemas.microsoft.com/office/drawing/2014/main" id="{714B65C0-C075-F47A-4C2D-095EB317A5EB}"/>
              </a:ext>
            </a:extLst>
          </p:cNvPr>
          <p:cNvSpPr/>
          <p:nvPr/>
        </p:nvSpPr>
        <p:spPr>
          <a:xfrm>
            <a:off x="1236870" y="4878559"/>
            <a:ext cx="3335131" cy="745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RAT – Register Alias Table</a:t>
            </a:r>
            <a:endParaRPr lang="en-CA" dirty="0"/>
          </a:p>
        </p:txBody>
      </p:sp>
      <p:sp>
        <p:nvSpPr>
          <p:cNvPr id="6" name="Arrow: Down 5">
            <a:extLst>
              <a:ext uri="{FF2B5EF4-FFF2-40B4-BE49-F238E27FC236}">
                <a16:creationId xmlns:a16="http://schemas.microsoft.com/office/drawing/2014/main" id="{21F37D6B-60A6-4809-18D2-0553D99F0657}"/>
              </a:ext>
            </a:extLst>
          </p:cNvPr>
          <p:cNvSpPr/>
          <p:nvPr/>
        </p:nvSpPr>
        <p:spPr>
          <a:xfrm>
            <a:off x="1374619" y="437370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7" name="Arrow: Down 6">
            <a:extLst>
              <a:ext uri="{FF2B5EF4-FFF2-40B4-BE49-F238E27FC236}">
                <a16:creationId xmlns:a16="http://schemas.microsoft.com/office/drawing/2014/main" id="{3E05A981-F263-3DEA-4B79-93D96CD6F334}"/>
              </a:ext>
            </a:extLst>
          </p:cNvPr>
          <p:cNvSpPr/>
          <p:nvPr/>
        </p:nvSpPr>
        <p:spPr>
          <a:xfrm>
            <a:off x="3012704" y="437370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8" name="Arrow: Down 7">
            <a:extLst>
              <a:ext uri="{FF2B5EF4-FFF2-40B4-BE49-F238E27FC236}">
                <a16:creationId xmlns:a16="http://schemas.microsoft.com/office/drawing/2014/main" id="{6B408B6E-9266-6253-28A7-D617276ACB7E}"/>
              </a:ext>
            </a:extLst>
          </p:cNvPr>
          <p:cNvSpPr/>
          <p:nvPr/>
        </p:nvSpPr>
        <p:spPr>
          <a:xfrm>
            <a:off x="3803629" y="437370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9" name="TextBox 8">
            <a:extLst>
              <a:ext uri="{FF2B5EF4-FFF2-40B4-BE49-F238E27FC236}">
                <a16:creationId xmlns:a16="http://schemas.microsoft.com/office/drawing/2014/main" id="{EE884DDB-E400-F85E-C54B-73F8148E9286}"/>
              </a:ext>
            </a:extLst>
          </p:cNvPr>
          <p:cNvSpPr txBox="1"/>
          <p:nvPr/>
        </p:nvSpPr>
        <p:spPr>
          <a:xfrm>
            <a:off x="449759" y="4000456"/>
            <a:ext cx="5231007" cy="261610"/>
          </a:xfrm>
          <a:prstGeom prst="rect">
            <a:avLst/>
          </a:prstGeom>
          <a:noFill/>
        </p:spPr>
        <p:txBody>
          <a:bodyPr wrap="square" rtlCol="0">
            <a:spAutoFit/>
          </a:bodyPr>
          <a:lstStyle/>
          <a:p>
            <a:r>
              <a:rPr lang="en-US" sz="1100" dirty="0"/>
              <a:t>Four pairs of destination registers and corresponding renames from decode stage.</a:t>
            </a:r>
            <a:endParaRPr lang="en-CA" sz="1100" dirty="0"/>
          </a:p>
        </p:txBody>
      </p:sp>
      <p:sp>
        <p:nvSpPr>
          <p:cNvPr id="10" name="Rectangle 9">
            <a:extLst>
              <a:ext uri="{FF2B5EF4-FFF2-40B4-BE49-F238E27FC236}">
                <a16:creationId xmlns:a16="http://schemas.microsoft.com/office/drawing/2014/main" id="{18F59A06-E107-C4DA-E239-7FFF06028AB4}"/>
              </a:ext>
            </a:extLst>
          </p:cNvPr>
          <p:cNvSpPr/>
          <p:nvPr/>
        </p:nvSpPr>
        <p:spPr>
          <a:xfrm>
            <a:off x="1236870" y="5885312"/>
            <a:ext cx="3335131" cy="8912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Asynchronous Architectural Register to Physical Register Mapping Process</a:t>
            </a:r>
          </a:p>
          <a:p>
            <a:pPr algn="ctr"/>
            <a:r>
              <a:rPr lang="en-US" sz="1400" dirty="0"/>
              <a:t>12 micro-op Window</a:t>
            </a:r>
            <a:endParaRPr lang="en-CA" sz="1400" dirty="0"/>
          </a:p>
        </p:txBody>
      </p:sp>
      <p:sp>
        <p:nvSpPr>
          <p:cNvPr id="11" name="Arrow: Down 10">
            <a:extLst>
              <a:ext uri="{FF2B5EF4-FFF2-40B4-BE49-F238E27FC236}">
                <a16:creationId xmlns:a16="http://schemas.microsoft.com/office/drawing/2014/main" id="{3FFFE904-FC5E-7191-48EF-8681D2D72CFC}"/>
              </a:ext>
            </a:extLst>
          </p:cNvPr>
          <p:cNvSpPr/>
          <p:nvPr/>
        </p:nvSpPr>
        <p:spPr>
          <a:xfrm>
            <a:off x="2210904" y="5623581"/>
            <a:ext cx="1387061" cy="2617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endParaRPr lang="en-CA" sz="1200" dirty="0"/>
          </a:p>
        </p:txBody>
      </p:sp>
      <p:sp>
        <p:nvSpPr>
          <p:cNvPr id="12" name="Rectangle 11">
            <a:extLst>
              <a:ext uri="{FF2B5EF4-FFF2-40B4-BE49-F238E27FC236}">
                <a16:creationId xmlns:a16="http://schemas.microsoft.com/office/drawing/2014/main" id="{78F84A15-A557-90EA-5304-0D62AFC89888}"/>
              </a:ext>
            </a:extLst>
          </p:cNvPr>
          <p:cNvSpPr/>
          <p:nvPr/>
        </p:nvSpPr>
        <p:spPr>
          <a:xfrm>
            <a:off x="1236869" y="7279144"/>
            <a:ext cx="8941712" cy="4910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ROB – Reordering Buffer</a:t>
            </a:r>
            <a:endParaRPr lang="en-CA" dirty="0"/>
          </a:p>
        </p:txBody>
      </p:sp>
      <p:sp>
        <p:nvSpPr>
          <p:cNvPr id="14" name="Arrow: Up-Down 13">
            <a:extLst>
              <a:ext uri="{FF2B5EF4-FFF2-40B4-BE49-F238E27FC236}">
                <a16:creationId xmlns:a16="http://schemas.microsoft.com/office/drawing/2014/main" id="{B0919AED-0038-7998-4F1A-E2D1E32EF48B}"/>
              </a:ext>
            </a:extLst>
          </p:cNvPr>
          <p:cNvSpPr/>
          <p:nvPr/>
        </p:nvSpPr>
        <p:spPr>
          <a:xfrm>
            <a:off x="2693415" y="6788121"/>
            <a:ext cx="371846" cy="491023"/>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Arrow: Down 14">
            <a:extLst>
              <a:ext uri="{FF2B5EF4-FFF2-40B4-BE49-F238E27FC236}">
                <a16:creationId xmlns:a16="http://schemas.microsoft.com/office/drawing/2014/main" id="{8D0B9637-390A-B8AE-5174-22A11D566EB8}"/>
              </a:ext>
            </a:extLst>
          </p:cNvPr>
          <p:cNvSpPr/>
          <p:nvPr/>
        </p:nvSpPr>
        <p:spPr>
          <a:xfrm>
            <a:off x="6665218" y="6522841"/>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16" name="Arrow: Down 15">
            <a:extLst>
              <a:ext uri="{FF2B5EF4-FFF2-40B4-BE49-F238E27FC236}">
                <a16:creationId xmlns:a16="http://schemas.microsoft.com/office/drawing/2014/main" id="{0AEF3255-2792-1393-10C7-EACB7FE6FA25}"/>
              </a:ext>
            </a:extLst>
          </p:cNvPr>
          <p:cNvSpPr/>
          <p:nvPr/>
        </p:nvSpPr>
        <p:spPr>
          <a:xfrm>
            <a:off x="7582922" y="6522841"/>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17" name="Arrow: Down 16">
            <a:extLst>
              <a:ext uri="{FF2B5EF4-FFF2-40B4-BE49-F238E27FC236}">
                <a16:creationId xmlns:a16="http://schemas.microsoft.com/office/drawing/2014/main" id="{185D9C73-D53B-6B12-9071-3F3AAC435CBE}"/>
              </a:ext>
            </a:extLst>
          </p:cNvPr>
          <p:cNvSpPr/>
          <p:nvPr/>
        </p:nvSpPr>
        <p:spPr>
          <a:xfrm>
            <a:off x="8468145" y="6527424"/>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19" name="TextBox 18">
            <a:extLst>
              <a:ext uri="{FF2B5EF4-FFF2-40B4-BE49-F238E27FC236}">
                <a16:creationId xmlns:a16="http://schemas.microsoft.com/office/drawing/2014/main" id="{E6BA68F8-B915-B07A-3079-B8213D03056F}"/>
              </a:ext>
            </a:extLst>
          </p:cNvPr>
          <p:cNvSpPr txBox="1"/>
          <p:nvPr/>
        </p:nvSpPr>
        <p:spPr>
          <a:xfrm>
            <a:off x="6113495" y="6177067"/>
            <a:ext cx="4065087" cy="307777"/>
          </a:xfrm>
          <a:prstGeom prst="rect">
            <a:avLst/>
          </a:prstGeom>
          <a:noFill/>
        </p:spPr>
        <p:txBody>
          <a:bodyPr wrap="none" rtlCol="0">
            <a:spAutoFit/>
          </a:bodyPr>
          <a:lstStyle/>
          <a:p>
            <a:r>
              <a:rPr lang="en-US" sz="1400" dirty="0"/>
              <a:t>Four micro-ops with constants from Decode Stage</a:t>
            </a:r>
            <a:endParaRPr lang="en-CA" sz="1400" dirty="0"/>
          </a:p>
        </p:txBody>
      </p:sp>
      <p:cxnSp>
        <p:nvCxnSpPr>
          <p:cNvPr id="20" name="Straight Connector 19">
            <a:extLst>
              <a:ext uri="{FF2B5EF4-FFF2-40B4-BE49-F238E27FC236}">
                <a16:creationId xmlns:a16="http://schemas.microsoft.com/office/drawing/2014/main" id="{CA094BEB-D5B3-E416-38DC-9104BC8E8895}"/>
              </a:ext>
            </a:extLst>
          </p:cNvPr>
          <p:cNvCxnSpPr>
            <a:cxnSpLocks/>
          </p:cNvCxnSpPr>
          <p:nvPr/>
        </p:nvCxnSpPr>
        <p:spPr>
          <a:xfrm>
            <a:off x="4934229" y="7017060"/>
            <a:ext cx="5244353" cy="2127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42CF461-9B0D-FE66-E0EC-66372F248F2F}"/>
              </a:ext>
            </a:extLst>
          </p:cNvPr>
          <p:cNvSpPr txBox="1"/>
          <p:nvPr/>
        </p:nvSpPr>
        <p:spPr>
          <a:xfrm>
            <a:off x="4682767" y="6761332"/>
            <a:ext cx="1297086" cy="276999"/>
          </a:xfrm>
          <a:prstGeom prst="rect">
            <a:avLst/>
          </a:prstGeom>
          <a:noFill/>
        </p:spPr>
        <p:txBody>
          <a:bodyPr wrap="square" rtlCol="0">
            <a:spAutoFit/>
          </a:bodyPr>
          <a:lstStyle/>
          <a:p>
            <a:r>
              <a:rPr lang="en-US" sz="1200" dirty="0"/>
              <a:t>Pipeline Register</a:t>
            </a:r>
            <a:endParaRPr lang="en-CA" sz="1200" dirty="0"/>
          </a:p>
        </p:txBody>
      </p:sp>
      <p:sp>
        <p:nvSpPr>
          <p:cNvPr id="22" name="Arrow: Down 21">
            <a:extLst>
              <a:ext uri="{FF2B5EF4-FFF2-40B4-BE49-F238E27FC236}">
                <a16:creationId xmlns:a16="http://schemas.microsoft.com/office/drawing/2014/main" id="{63B6F1BE-8984-CBE6-5587-9F69C8F532A4}"/>
              </a:ext>
            </a:extLst>
          </p:cNvPr>
          <p:cNvSpPr/>
          <p:nvPr/>
        </p:nvSpPr>
        <p:spPr>
          <a:xfrm>
            <a:off x="7673203" y="7038330"/>
            <a:ext cx="1387061" cy="2617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4</a:t>
            </a:r>
            <a:endParaRPr lang="en-CA" sz="1200" dirty="0"/>
          </a:p>
        </p:txBody>
      </p:sp>
      <p:sp>
        <p:nvSpPr>
          <p:cNvPr id="23" name="TextBox 22">
            <a:extLst>
              <a:ext uri="{FF2B5EF4-FFF2-40B4-BE49-F238E27FC236}">
                <a16:creationId xmlns:a16="http://schemas.microsoft.com/office/drawing/2014/main" id="{61F40078-1B1A-C5F3-E335-3852214F2A33}"/>
              </a:ext>
            </a:extLst>
          </p:cNvPr>
          <p:cNvSpPr txBox="1"/>
          <p:nvPr/>
        </p:nvSpPr>
        <p:spPr>
          <a:xfrm>
            <a:off x="5715000" y="3815790"/>
            <a:ext cx="6027242"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register alias table is updated with info from the decode stage.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An asynchronous process matches unmapped architectural registers to physical register and maps them.</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Micro-op and constants are enqueued in the re-order buffer</a:t>
            </a:r>
            <a:endParaRPr lang="en-CA" sz="1600" dirty="0"/>
          </a:p>
        </p:txBody>
      </p:sp>
      <p:sp>
        <p:nvSpPr>
          <p:cNvPr id="3" name="Arrow: Down 2">
            <a:extLst>
              <a:ext uri="{FF2B5EF4-FFF2-40B4-BE49-F238E27FC236}">
                <a16:creationId xmlns:a16="http://schemas.microsoft.com/office/drawing/2014/main" id="{A7487C35-0C63-3388-3805-0DB75FA788A0}"/>
              </a:ext>
            </a:extLst>
          </p:cNvPr>
          <p:cNvSpPr/>
          <p:nvPr/>
        </p:nvSpPr>
        <p:spPr>
          <a:xfrm>
            <a:off x="2196940" y="436218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
        <p:nvSpPr>
          <p:cNvPr id="13" name="Arrow: Down 12">
            <a:extLst>
              <a:ext uri="{FF2B5EF4-FFF2-40B4-BE49-F238E27FC236}">
                <a16:creationId xmlns:a16="http://schemas.microsoft.com/office/drawing/2014/main" id="{CC8DE211-FE85-5EE1-1044-649C28555208}"/>
              </a:ext>
            </a:extLst>
          </p:cNvPr>
          <p:cNvSpPr/>
          <p:nvPr/>
        </p:nvSpPr>
        <p:spPr>
          <a:xfrm>
            <a:off x="9256396" y="6535692"/>
            <a:ext cx="682399" cy="5048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a:t>
            </a:r>
            <a:endParaRPr lang="en-CA" sz="1000" dirty="0"/>
          </a:p>
        </p:txBody>
      </p:sp>
    </p:spTree>
    <p:extLst>
      <p:ext uri="{BB962C8B-B14F-4D97-AF65-F5344CB8AC3E}">
        <p14:creationId xmlns:p14="http://schemas.microsoft.com/office/powerpoint/2010/main" val="52292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8B3A-A683-8752-1741-E8C440233DED}"/>
              </a:ext>
            </a:extLst>
          </p:cNvPr>
          <p:cNvSpPr>
            <a:spLocks noGrp="1"/>
          </p:cNvSpPr>
          <p:nvPr>
            <p:ph type="title"/>
          </p:nvPr>
        </p:nvSpPr>
        <p:spPr>
          <a:xfrm>
            <a:off x="26904" y="2655095"/>
            <a:ext cx="10515600" cy="1325563"/>
          </a:xfrm>
        </p:spPr>
        <p:txBody>
          <a:bodyPr/>
          <a:lstStyle/>
          <a:p>
            <a:r>
              <a:rPr lang="en-US" dirty="0"/>
              <a:t>Qupls4 Rename Stage</a:t>
            </a:r>
            <a:endParaRPr lang="en-CA" dirty="0"/>
          </a:p>
        </p:txBody>
      </p:sp>
      <p:sp>
        <p:nvSpPr>
          <p:cNvPr id="4" name="Rectangle 3">
            <a:extLst>
              <a:ext uri="{FF2B5EF4-FFF2-40B4-BE49-F238E27FC236}">
                <a16:creationId xmlns:a16="http://schemas.microsoft.com/office/drawing/2014/main" id="{2B7859E3-E08A-3F38-43FA-24A38CBEC646}"/>
              </a:ext>
            </a:extLst>
          </p:cNvPr>
          <p:cNvSpPr/>
          <p:nvPr/>
        </p:nvSpPr>
        <p:spPr>
          <a:xfrm>
            <a:off x="1033670" y="4960972"/>
            <a:ext cx="4121427" cy="9674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Rename Lookup:</a:t>
            </a:r>
          </a:p>
          <a:p>
            <a:pPr algn="ctr"/>
            <a:r>
              <a:rPr lang="en-US" dirty="0"/>
              <a:t>16 source rename ports</a:t>
            </a:r>
            <a:endParaRPr lang="en-CA" dirty="0"/>
          </a:p>
        </p:txBody>
      </p:sp>
      <p:sp>
        <p:nvSpPr>
          <p:cNvPr id="5" name="Arrow: Down 4">
            <a:extLst>
              <a:ext uri="{FF2B5EF4-FFF2-40B4-BE49-F238E27FC236}">
                <a16:creationId xmlns:a16="http://schemas.microsoft.com/office/drawing/2014/main" id="{598B2C0B-C2EF-FDD7-4A6C-569A848FEC25}"/>
              </a:ext>
            </a:extLst>
          </p:cNvPr>
          <p:cNvSpPr/>
          <p:nvPr/>
        </p:nvSpPr>
        <p:spPr>
          <a:xfrm>
            <a:off x="1358348" y="5928381"/>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6" name="Arrow: Down 5">
            <a:extLst>
              <a:ext uri="{FF2B5EF4-FFF2-40B4-BE49-F238E27FC236}">
                <a16:creationId xmlns:a16="http://schemas.microsoft.com/office/drawing/2014/main" id="{058706D6-A0DC-F14F-32E9-9D1D3BD5D1A2}"/>
              </a:ext>
            </a:extLst>
          </p:cNvPr>
          <p:cNvSpPr/>
          <p:nvPr/>
        </p:nvSpPr>
        <p:spPr>
          <a:xfrm>
            <a:off x="2392946" y="5928381"/>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7" name="Arrow: Down 6">
            <a:extLst>
              <a:ext uri="{FF2B5EF4-FFF2-40B4-BE49-F238E27FC236}">
                <a16:creationId xmlns:a16="http://schemas.microsoft.com/office/drawing/2014/main" id="{E5DB2768-F205-4A32-5C39-CC17A3492A9A}"/>
              </a:ext>
            </a:extLst>
          </p:cNvPr>
          <p:cNvSpPr/>
          <p:nvPr/>
        </p:nvSpPr>
        <p:spPr>
          <a:xfrm>
            <a:off x="3427544" y="5928381"/>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8" name="Arrow: Down 7">
            <a:extLst>
              <a:ext uri="{FF2B5EF4-FFF2-40B4-BE49-F238E27FC236}">
                <a16:creationId xmlns:a16="http://schemas.microsoft.com/office/drawing/2014/main" id="{2558796B-544B-5272-F0BB-2BC48FE7E188}"/>
              </a:ext>
            </a:extLst>
          </p:cNvPr>
          <p:cNvSpPr/>
          <p:nvPr/>
        </p:nvSpPr>
        <p:spPr>
          <a:xfrm>
            <a:off x="4386470" y="5928381"/>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9" name="Rectangle 8">
            <a:extLst>
              <a:ext uri="{FF2B5EF4-FFF2-40B4-BE49-F238E27FC236}">
                <a16:creationId xmlns:a16="http://schemas.microsoft.com/office/drawing/2014/main" id="{78D5E879-92DB-848A-FA8B-E2E5DAA09DC2}"/>
              </a:ext>
            </a:extLst>
          </p:cNvPr>
          <p:cNvSpPr/>
          <p:nvPr/>
        </p:nvSpPr>
        <p:spPr>
          <a:xfrm>
            <a:off x="1054476" y="6488285"/>
            <a:ext cx="4121427" cy="9674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Registe File</a:t>
            </a:r>
          </a:p>
        </p:txBody>
      </p:sp>
      <p:sp>
        <p:nvSpPr>
          <p:cNvPr id="10" name="Arrow: Down 9">
            <a:extLst>
              <a:ext uri="{FF2B5EF4-FFF2-40B4-BE49-F238E27FC236}">
                <a16:creationId xmlns:a16="http://schemas.microsoft.com/office/drawing/2014/main" id="{A21F5AF9-6A8D-D5D7-E9D4-242AAC27E0D2}"/>
              </a:ext>
            </a:extLst>
          </p:cNvPr>
          <p:cNvSpPr/>
          <p:nvPr/>
        </p:nvSpPr>
        <p:spPr>
          <a:xfrm>
            <a:off x="1399032" y="7455695"/>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11" name="Arrow: Down 10">
            <a:extLst>
              <a:ext uri="{FF2B5EF4-FFF2-40B4-BE49-F238E27FC236}">
                <a16:creationId xmlns:a16="http://schemas.microsoft.com/office/drawing/2014/main" id="{C79C5D08-890F-798D-C9C5-708BC2D26606}"/>
              </a:ext>
            </a:extLst>
          </p:cNvPr>
          <p:cNvSpPr/>
          <p:nvPr/>
        </p:nvSpPr>
        <p:spPr>
          <a:xfrm>
            <a:off x="2392946" y="7455695"/>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12" name="Arrow: Down 11">
            <a:extLst>
              <a:ext uri="{FF2B5EF4-FFF2-40B4-BE49-F238E27FC236}">
                <a16:creationId xmlns:a16="http://schemas.microsoft.com/office/drawing/2014/main" id="{6B0F37EF-F017-57D0-4872-AD2AD10FA7A9}"/>
              </a:ext>
            </a:extLst>
          </p:cNvPr>
          <p:cNvSpPr/>
          <p:nvPr/>
        </p:nvSpPr>
        <p:spPr>
          <a:xfrm>
            <a:off x="3427544" y="7455694"/>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13" name="Arrow: Down 12">
            <a:extLst>
              <a:ext uri="{FF2B5EF4-FFF2-40B4-BE49-F238E27FC236}">
                <a16:creationId xmlns:a16="http://schemas.microsoft.com/office/drawing/2014/main" id="{F4164B68-08C4-6F80-D73D-B7626DE6ED79}"/>
              </a:ext>
            </a:extLst>
          </p:cNvPr>
          <p:cNvSpPr/>
          <p:nvPr/>
        </p:nvSpPr>
        <p:spPr>
          <a:xfrm>
            <a:off x="4462142" y="7455694"/>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14" name="Rectangle 13">
            <a:extLst>
              <a:ext uri="{FF2B5EF4-FFF2-40B4-BE49-F238E27FC236}">
                <a16:creationId xmlns:a16="http://schemas.microsoft.com/office/drawing/2014/main" id="{BAAA02F7-7FC9-127F-968E-0255888AC958}"/>
              </a:ext>
            </a:extLst>
          </p:cNvPr>
          <p:cNvSpPr/>
          <p:nvPr/>
        </p:nvSpPr>
        <p:spPr>
          <a:xfrm>
            <a:off x="1033670" y="8015598"/>
            <a:ext cx="4121427" cy="5599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Rename Stage Pipeline Register</a:t>
            </a:r>
          </a:p>
        </p:txBody>
      </p:sp>
      <p:sp>
        <p:nvSpPr>
          <p:cNvPr id="15" name="Arrow: Down 14">
            <a:extLst>
              <a:ext uri="{FF2B5EF4-FFF2-40B4-BE49-F238E27FC236}">
                <a16:creationId xmlns:a16="http://schemas.microsoft.com/office/drawing/2014/main" id="{0A542D08-3F55-9D2E-9336-38B1672F864D}"/>
              </a:ext>
            </a:extLst>
          </p:cNvPr>
          <p:cNvSpPr/>
          <p:nvPr/>
        </p:nvSpPr>
        <p:spPr>
          <a:xfrm>
            <a:off x="1358348" y="4387988"/>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16" name="Arrow: Down 15">
            <a:extLst>
              <a:ext uri="{FF2B5EF4-FFF2-40B4-BE49-F238E27FC236}">
                <a16:creationId xmlns:a16="http://schemas.microsoft.com/office/drawing/2014/main" id="{61BEC1B3-0668-EB4A-B4A4-C93629E6AB3F}"/>
              </a:ext>
            </a:extLst>
          </p:cNvPr>
          <p:cNvSpPr/>
          <p:nvPr/>
        </p:nvSpPr>
        <p:spPr>
          <a:xfrm>
            <a:off x="2400500" y="4371423"/>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17" name="Arrow: Down 16">
            <a:extLst>
              <a:ext uri="{FF2B5EF4-FFF2-40B4-BE49-F238E27FC236}">
                <a16:creationId xmlns:a16="http://schemas.microsoft.com/office/drawing/2014/main" id="{5C3AC004-11D2-793D-9CB8-804FFAD268C5}"/>
              </a:ext>
            </a:extLst>
          </p:cNvPr>
          <p:cNvSpPr/>
          <p:nvPr/>
        </p:nvSpPr>
        <p:spPr>
          <a:xfrm>
            <a:off x="3427544" y="4371423"/>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18" name="Arrow: Down 17">
            <a:extLst>
              <a:ext uri="{FF2B5EF4-FFF2-40B4-BE49-F238E27FC236}">
                <a16:creationId xmlns:a16="http://schemas.microsoft.com/office/drawing/2014/main" id="{B2E25EB5-C25A-D971-6B04-34AF830C9241}"/>
              </a:ext>
            </a:extLst>
          </p:cNvPr>
          <p:cNvSpPr/>
          <p:nvPr/>
        </p:nvSpPr>
        <p:spPr>
          <a:xfrm>
            <a:off x="4381699" y="4386246"/>
            <a:ext cx="484632" cy="559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CA" dirty="0"/>
          </a:p>
        </p:txBody>
      </p:sp>
      <p:sp>
        <p:nvSpPr>
          <p:cNvPr id="19" name="TextBox 18">
            <a:extLst>
              <a:ext uri="{FF2B5EF4-FFF2-40B4-BE49-F238E27FC236}">
                <a16:creationId xmlns:a16="http://schemas.microsoft.com/office/drawing/2014/main" id="{9AE50420-CB0B-C422-0149-59CB1B113DC8}"/>
              </a:ext>
            </a:extLst>
          </p:cNvPr>
          <p:cNvSpPr txBox="1"/>
          <p:nvPr/>
        </p:nvSpPr>
        <p:spPr>
          <a:xfrm>
            <a:off x="760570" y="3844893"/>
            <a:ext cx="4667624" cy="369332"/>
          </a:xfrm>
          <a:prstGeom prst="rect">
            <a:avLst/>
          </a:prstGeom>
          <a:noFill/>
        </p:spPr>
        <p:txBody>
          <a:bodyPr wrap="none" rtlCol="0">
            <a:spAutoFit/>
          </a:bodyPr>
          <a:lstStyle/>
          <a:p>
            <a:r>
              <a:rPr lang="en-US" dirty="0"/>
              <a:t>Decode stage outputs, source register specs.</a:t>
            </a:r>
            <a:endParaRPr lang="en-CA" dirty="0"/>
          </a:p>
        </p:txBody>
      </p:sp>
      <p:sp>
        <p:nvSpPr>
          <p:cNvPr id="20" name="TextBox 19">
            <a:extLst>
              <a:ext uri="{FF2B5EF4-FFF2-40B4-BE49-F238E27FC236}">
                <a16:creationId xmlns:a16="http://schemas.microsoft.com/office/drawing/2014/main" id="{856CC5B6-A66A-CB47-4DDC-6316AB4C2D54}"/>
              </a:ext>
            </a:extLst>
          </p:cNvPr>
          <p:cNvSpPr txBox="1"/>
          <p:nvPr/>
        </p:nvSpPr>
        <p:spPr>
          <a:xfrm>
            <a:off x="1033670" y="7086361"/>
            <a:ext cx="4077591" cy="369332"/>
          </a:xfrm>
          <a:prstGeom prst="rect">
            <a:avLst/>
          </a:prstGeom>
          <a:noFill/>
        </p:spPr>
        <p:txBody>
          <a:bodyPr wrap="none" rtlCol="0">
            <a:spAutoFit/>
          </a:bodyPr>
          <a:lstStyle/>
          <a:p>
            <a:r>
              <a:rPr lang="en-US" dirty="0">
                <a:solidFill>
                  <a:schemeClr val="bg1"/>
                </a:solidFill>
              </a:rPr>
              <a:t>Register File Output: 16 operand values</a:t>
            </a:r>
            <a:endParaRPr lang="en-CA" dirty="0">
              <a:solidFill>
                <a:schemeClr val="bg1"/>
              </a:solidFill>
            </a:endParaRPr>
          </a:p>
        </p:txBody>
      </p:sp>
      <p:sp>
        <p:nvSpPr>
          <p:cNvPr id="21" name="TextBox 20">
            <a:extLst>
              <a:ext uri="{FF2B5EF4-FFF2-40B4-BE49-F238E27FC236}">
                <a16:creationId xmlns:a16="http://schemas.microsoft.com/office/drawing/2014/main" id="{627F7B43-B8E1-55EE-3C84-8CA82C21266F}"/>
              </a:ext>
            </a:extLst>
          </p:cNvPr>
          <p:cNvSpPr txBox="1"/>
          <p:nvPr/>
        </p:nvSpPr>
        <p:spPr>
          <a:xfrm>
            <a:off x="4946775" y="6023667"/>
            <a:ext cx="1294265" cy="369332"/>
          </a:xfrm>
          <a:prstGeom prst="rect">
            <a:avLst/>
          </a:prstGeom>
          <a:noFill/>
        </p:spPr>
        <p:txBody>
          <a:bodyPr wrap="none" rtlCol="0">
            <a:spAutoFit/>
          </a:bodyPr>
          <a:lstStyle/>
          <a:p>
            <a:r>
              <a:rPr lang="en-US" dirty="0" err="1"/>
              <a:t>rf_reg</a:t>
            </a:r>
            <a:r>
              <a:rPr lang="en-US" dirty="0"/>
              <a:t> = prn</a:t>
            </a:r>
            <a:endParaRPr lang="en-CA" dirty="0"/>
          </a:p>
        </p:txBody>
      </p:sp>
      <p:sp>
        <p:nvSpPr>
          <p:cNvPr id="22" name="TextBox 21">
            <a:extLst>
              <a:ext uri="{FF2B5EF4-FFF2-40B4-BE49-F238E27FC236}">
                <a16:creationId xmlns:a16="http://schemas.microsoft.com/office/drawing/2014/main" id="{256A53A6-B8B0-5893-85C8-3695C0F27405}"/>
              </a:ext>
            </a:extLst>
          </p:cNvPr>
          <p:cNvSpPr txBox="1"/>
          <p:nvPr/>
        </p:nvSpPr>
        <p:spPr>
          <a:xfrm>
            <a:off x="5419457" y="7833109"/>
            <a:ext cx="5360504" cy="1200329"/>
          </a:xfrm>
          <a:prstGeom prst="rect">
            <a:avLst/>
          </a:prstGeom>
          <a:noFill/>
        </p:spPr>
        <p:txBody>
          <a:bodyPr wrap="square" rtlCol="0">
            <a:spAutoFit/>
          </a:bodyPr>
          <a:lstStyle/>
          <a:p>
            <a:r>
              <a:rPr lang="en-US" dirty="0"/>
              <a:t>If the register file contained a valid value, the operand is marked valid and does not need further updates. Otherwise, the operand is not valid and will be validated by the reservation station.</a:t>
            </a:r>
            <a:endParaRPr lang="en-CA" dirty="0"/>
          </a:p>
        </p:txBody>
      </p:sp>
      <p:sp>
        <p:nvSpPr>
          <p:cNvPr id="23" name="TextBox 22">
            <a:extLst>
              <a:ext uri="{FF2B5EF4-FFF2-40B4-BE49-F238E27FC236}">
                <a16:creationId xmlns:a16="http://schemas.microsoft.com/office/drawing/2014/main" id="{DEFDA7AB-A81D-8805-4947-5D60708DE4AC}"/>
              </a:ext>
            </a:extLst>
          </p:cNvPr>
          <p:cNvSpPr txBox="1"/>
          <p:nvPr/>
        </p:nvSpPr>
        <p:spPr>
          <a:xfrm>
            <a:off x="6241040" y="3805715"/>
            <a:ext cx="4406591" cy="1477328"/>
          </a:xfrm>
          <a:prstGeom prst="rect">
            <a:avLst/>
          </a:prstGeom>
          <a:noFill/>
        </p:spPr>
        <p:txBody>
          <a:bodyPr wrap="none" rtlCol="0">
            <a:spAutoFit/>
          </a:bodyPr>
          <a:lstStyle/>
          <a:p>
            <a:r>
              <a:rPr lang="en-US" dirty="0"/>
              <a:t>Operands looked up include:</a:t>
            </a:r>
          </a:p>
          <a:p>
            <a:pPr marL="285750" indent="-285750">
              <a:buFont typeface="Arial" panose="020B0604020202020204" pitchFamily="34" charset="0"/>
              <a:buChar char="•"/>
            </a:pPr>
            <a:r>
              <a:rPr lang="en-US" dirty="0" err="1"/>
              <a:t>argA</a:t>
            </a:r>
            <a:r>
              <a:rPr lang="en-US" dirty="0"/>
              <a:t> – first source operand</a:t>
            </a:r>
          </a:p>
          <a:p>
            <a:pPr marL="285750" indent="-285750">
              <a:buFont typeface="Arial" panose="020B0604020202020204" pitchFamily="34" charset="0"/>
              <a:buChar char="•"/>
            </a:pPr>
            <a:r>
              <a:rPr lang="en-US" dirty="0" err="1"/>
              <a:t>argB</a:t>
            </a:r>
            <a:r>
              <a:rPr lang="en-US" dirty="0"/>
              <a:t> – second source operand</a:t>
            </a:r>
          </a:p>
          <a:p>
            <a:pPr marL="285750" indent="-285750">
              <a:buFont typeface="Arial" panose="020B0604020202020204" pitchFamily="34" charset="0"/>
              <a:buChar char="•"/>
            </a:pPr>
            <a:r>
              <a:rPr lang="en-US" dirty="0" err="1"/>
              <a:t>argC</a:t>
            </a:r>
            <a:r>
              <a:rPr lang="en-US" dirty="0"/>
              <a:t> – third source operand</a:t>
            </a:r>
          </a:p>
          <a:p>
            <a:pPr marL="285750" indent="-285750">
              <a:buFont typeface="Arial" panose="020B0604020202020204" pitchFamily="34" charset="0"/>
              <a:buChar char="•"/>
            </a:pPr>
            <a:r>
              <a:rPr lang="en-US" dirty="0" err="1"/>
              <a:t>argT</a:t>
            </a:r>
            <a:r>
              <a:rPr lang="en-US" dirty="0"/>
              <a:t> – destination operand (as a source)</a:t>
            </a:r>
            <a:endParaRPr lang="en-CA" dirty="0"/>
          </a:p>
        </p:txBody>
      </p:sp>
      <p:sp>
        <p:nvSpPr>
          <p:cNvPr id="24" name="TextBox 23">
            <a:extLst>
              <a:ext uri="{FF2B5EF4-FFF2-40B4-BE49-F238E27FC236}">
                <a16:creationId xmlns:a16="http://schemas.microsoft.com/office/drawing/2014/main" id="{FF405EC2-5950-BD34-A460-D99095DC2E7E}"/>
              </a:ext>
            </a:extLst>
          </p:cNvPr>
          <p:cNvSpPr txBox="1"/>
          <p:nvPr/>
        </p:nvSpPr>
        <p:spPr>
          <a:xfrm>
            <a:off x="6181830" y="5423503"/>
            <a:ext cx="6010171" cy="1200329"/>
          </a:xfrm>
          <a:prstGeom prst="rect">
            <a:avLst/>
          </a:prstGeom>
          <a:noFill/>
        </p:spPr>
        <p:txBody>
          <a:bodyPr wrap="none" rtlCol="0">
            <a:spAutoFit/>
          </a:bodyPr>
          <a:lstStyle/>
          <a:p>
            <a:r>
              <a:rPr lang="en-US" dirty="0"/>
              <a:t>Note that instructions may have three more operands:</a:t>
            </a:r>
          </a:p>
          <a:p>
            <a:pPr marL="285750" indent="-285750">
              <a:buFont typeface="Arial" panose="020B0604020202020204" pitchFamily="34" charset="0"/>
              <a:buChar char="•"/>
            </a:pPr>
            <a:r>
              <a:rPr lang="en-US" dirty="0" err="1"/>
              <a:t>argD</a:t>
            </a:r>
            <a:r>
              <a:rPr lang="en-US" dirty="0"/>
              <a:t> – fourth source operand (fused dot-products)</a:t>
            </a:r>
          </a:p>
          <a:p>
            <a:pPr marL="285750" indent="-285750">
              <a:buFont typeface="Arial" panose="020B0604020202020204" pitchFamily="34" charset="0"/>
              <a:buChar char="•"/>
            </a:pPr>
            <a:r>
              <a:rPr lang="en-US" dirty="0" err="1"/>
              <a:t>argS</a:t>
            </a:r>
            <a:r>
              <a:rPr lang="en-US" dirty="0"/>
              <a:t> – floating-point status register</a:t>
            </a:r>
          </a:p>
          <a:p>
            <a:pPr marL="285750" indent="-285750">
              <a:buFont typeface="Arial" panose="020B0604020202020204" pitchFamily="34" charset="0"/>
              <a:buChar char="•"/>
            </a:pPr>
            <a:r>
              <a:rPr lang="en-US" dirty="0"/>
              <a:t>argT2 – second destination operand (floating-point stat).</a:t>
            </a:r>
            <a:endParaRPr lang="en-CA" dirty="0"/>
          </a:p>
        </p:txBody>
      </p:sp>
      <p:sp>
        <p:nvSpPr>
          <p:cNvPr id="25" name="TextBox 24">
            <a:extLst>
              <a:ext uri="{FF2B5EF4-FFF2-40B4-BE49-F238E27FC236}">
                <a16:creationId xmlns:a16="http://schemas.microsoft.com/office/drawing/2014/main" id="{40027630-719A-52D1-D264-CBD1EC109ABF}"/>
              </a:ext>
            </a:extLst>
          </p:cNvPr>
          <p:cNvSpPr txBox="1"/>
          <p:nvPr/>
        </p:nvSpPr>
        <p:spPr>
          <a:xfrm>
            <a:off x="6181829" y="6756080"/>
            <a:ext cx="5917096" cy="646331"/>
          </a:xfrm>
          <a:prstGeom prst="rect">
            <a:avLst/>
          </a:prstGeom>
          <a:noFill/>
        </p:spPr>
        <p:txBody>
          <a:bodyPr wrap="square" rtlCol="0">
            <a:spAutoFit/>
          </a:bodyPr>
          <a:lstStyle/>
          <a:p>
            <a:r>
              <a:rPr lang="en-US" dirty="0"/>
              <a:t>The second set of operands is supplied by a prefix instruction as these operands are often not needed.</a:t>
            </a:r>
            <a:endParaRPr lang="en-CA" dirty="0"/>
          </a:p>
        </p:txBody>
      </p:sp>
    </p:spTree>
    <p:extLst>
      <p:ext uri="{BB962C8B-B14F-4D97-AF65-F5344CB8AC3E}">
        <p14:creationId xmlns:p14="http://schemas.microsoft.com/office/powerpoint/2010/main" val="1753882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a:extLst>
              <a:ext uri="{FF2B5EF4-FFF2-40B4-BE49-F238E27FC236}">
                <a16:creationId xmlns:a16="http://schemas.microsoft.com/office/drawing/2014/main" id="{AA136E37-5431-E8FB-B541-92D80BAE5C5D}"/>
              </a:ext>
            </a:extLst>
          </p:cNvPr>
          <p:cNvSpPr/>
          <p:nvPr/>
        </p:nvSpPr>
        <p:spPr>
          <a:xfrm>
            <a:off x="749631" y="6965102"/>
            <a:ext cx="515549" cy="214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Bitfield </a:t>
            </a:r>
            <a:endParaRPr lang="en-CA" sz="700" dirty="0"/>
          </a:p>
        </p:txBody>
      </p:sp>
      <p:sp>
        <p:nvSpPr>
          <p:cNvPr id="21" name="Rectangle 20">
            <a:extLst>
              <a:ext uri="{FF2B5EF4-FFF2-40B4-BE49-F238E27FC236}">
                <a16:creationId xmlns:a16="http://schemas.microsoft.com/office/drawing/2014/main" id="{68E9CFA1-3825-4851-2C50-2193AC6FE028}"/>
              </a:ext>
            </a:extLst>
          </p:cNvPr>
          <p:cNvSpPr/>
          <p:nvPr/>
        </p:nvSpPr>
        <p:spPr>
          <a:xfrm>
            <a:off x="4413265" y="6406493"/>
            <a:ext cx="598831"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FSQRT</a:t>
            </a:r>
            <a:endParaRPr lang="en-CA" sz="700" dirty="0"/>
          </a:p>
        </p:txBody>
      </p:sp>
      <p:sp>
        <p:nvSpPr>
          <p:cNvPr id="3" name="Rectangle 2">
            <a:extLst>
              <a:ext uri="{FF2B5EF4-FFF2-40B4-BE49-F238E27FC236}">
                <a16:creationId xmlns:a16="http://schemas.microsoft.com/office/drawing/2014/main" id="{A96E320B-18AF-E5BE-A9B7-C628FE8AAB67}"/>
              </a:ext>
            </a:extLst>
          </p:cNvPr>
          <p:cNvSpPr/>
          <p:nvPr/>
        </p:nvSpPr>
        <p:spPr>
          <a:xfrm>
            <a:off x="4413265" y="6157734"/>
            <a:ext cx="598831"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FDIV</a:t>
            </a:r>
            <a:endParaRPr lang="en-CA" sz="700" dirty="0"/>
          </a:p>
        </p:txBody>
      </p:sp>
      <p:sp>
        <p:nvSpPr>
          <p:cNvPr id="81" name="Rectangle 80">
            <a:extLst>
              <a:ext uri="{FF2B5EF4-FFF2-40B4-BE49-F238E27FC236}">
                <a16:creationId xmlns:a16="http://schemas.microsoft.com/office/drawing/2014/main" id="{3FEF0634-1D91-3B54-C02B-6679ACB17214}"/>
              </a:ext>
            </a:extLst>
          </p:cNvPr>
          <p:cNvSpPr/>
          <p:nvPr/>
        </p:nvSpPr>
        <p:spPr>
          <a:xfrm>
            <a:off x="8540352" y="5892010"/>
            <a:ext cx="72000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FPU</a:t>
            </a:r>
            <a:endParaRPr lang="en-CA" sz="700" dirty="0"/>
          </a:p>
        </p:txBody>
      </p:sp>
      <p:sp>
        <p:nvSpPr>
          <p:cNvPr id="2" name="Title 1">
            <a:extLst>
              <a:ext uri="{FF2B5EF4-FFF2-40B4-BE49-F238E27FC236}">
                <a16:creationId xmlns:a16="http://schemas.microsoft.com/office/drawing/2014/main" id="{7730D39D-FAB4-71A0-50A9-AAFD49CFD457}"/>
              </a:ext>
            </a:extLst>
          </p:cNvPr>
          <p:cNvSpPr>
            <a:spLocks noGrp="1"/>
          </p:cNvSpPr>
          <p:nvPr>
            <p:ph type="ctrTitle"/>
          </p:nvPr>
        </p:nvSpPr>
        <p:spPr>
          <a:xfrm>
            <a:off x="163443" y="2924901"/>
            <a:ext cx="9144000" cy="529741"/>
          </a:xfrm>
        </p:spPr>
        <p:txBody>
          <a:bodyPr>
            <a:normAutofit fontScale="90000"/>
          </a:bodyPr>
          <a:lstStyle/>
          <a:p>
            <a:pPr algn="l"/>
            <a:r>
              <a:rPr lang="en-US" dirty="0"/>
              <a:t>Qupls4: Execute Stage</a:t>
            </a:r>
            <a:endParaRPr lang="en-CA" dirty="0"/>
          </a:p>
        </p:txBody>
      </p:sp>
      <p:sp>
        <p:nvSpPr>
          <p:cNvPr id="4" name="Rectangle 3">
            <a:extLst>
              <a:ext uri="{FF2B5EF4-FFF2-40B4-BE49-F238E27FC236}">
                <a16:creationId xmlns:a16="http://schemas.microsoft.com/office/drawing/2014/main" id="{F20B9CAB-33A3-DF06-299D-C7D0E79C34DD}"/>
              </a:ext>
            </a:extLst>
          </p:cNvPr>
          <p:cNvSpPr/>
          <p:nvPr/>
        </p:nvSpPr>
        <p:spPr>
          <a:xfrm>
            <a:off x="740186" y="5894016"/>
            <a:ext cx="50050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SAU #0</a:t>
            </a:r>
            <a:endParaRPr lang="en-CA" sz="700" dirty="0"/>
          </a:p>
        </p:txBody>
      </p:sp>
      <p:sp>
        <p:nvSpPr>
          <p:cNvPr id="5" name="Rectangle 4">
            <a:extLst>
              <a:ext uri="{FF2B5EF4-FFF2-40B4-BE49-F238E27FC236}">
                <a16:creationId xmlns:a16="http://schemas.microsoft.com/office/drawing/2014/main" id="{C865363E-0D61-E897-910A-F370A5032ED8}"/>
              </a:ext>
            </a:extLst>
          </p:cNvPr>
          <p:cNvSpPr/>
          <p:nvPr/>
        </p:nvSpPr>
        <p:spPr>
          <a:xfrm>
            <a:off x="1331351" y="5891876"/>
            <a:ext cx="514437"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SAU #1</a:t>
            </a:r>
            <a:endParaRPr lang="en-CA" sz="700" dirty="0"/>
          </a:p>
        </p:txBody>
      </p:sp>
      <p:sp>
        <p:nvSpPr>
          <p:cNvPr id="6" name="Rectangle 5">
            <a:extLst>
              <a:ext uri="{FF2B5EF4-FFF2-40B4-BE49-F238E27FC236}">
                <a16:creationId xmlns:a16="http://schemas.microsoft.com/office/drawing/2014/main" id="{DAD6549B-CBC1-E564-88F0-22B7DD569F76}"/>
              </a:ext>
            </a:extLst>
          </p:cNvPr>
          <p:cNvSpPr/>
          <p:nvPr/>
        </p:nvSpPr>
        <p:spPr>
          <a:xfrm>
            <a:off x="1957865" y="5893563"/>
            <a:ext cx="52400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IMUL</a:t>
            </a:r>
            <a:endParaRPr lang="en-CA" sz="700" dirty="0"/>
          </a:p>
        </p:txBody>
      </p:sp>
      <p:sp>
        <p:nvSpPr>
          <p:cNvPr id="7" name="Rectangle 6">
            <a:extLst>
              <a:ext uri="{FF2B5EF4-FFF2-40B4-BE49-F238E27FC236}">
                <a16:creationId xmlns:a16="http://schemas.microsoft.com/office/drawing/2014/main" id="{FD8F65F8-FB16-5708-1549-E0B42AB137A9}"/>
              </a:ext>
            </a:extLst>
          </p:cNvPr>
          <p:cNvSpPr/>
          <p:nvPr/>
        </p:nvSpPr>
        <p:spPr>
          <a:xfrm>
            <a:off x="2550440" y="5895602"/>
            <a:ext cx="534491"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IDIV</a:t>
            </a:r>
          </a:p>
        </p:txBody>
      </p:sp>
      <p:sp>
        <p:nvSpPr>
          <p:cNvPr id="8" name="Rectangle 7">
            <a:extLst>
              <a:ext uri="{FF2B5EF4-FFF2-40B4-BE49-F238E27FC236}">
                <a16:creationId xmlns:a16="http://schemas.microsoft.com/office/drawing/2014/main" id="{A0B19B70-FD33-3B9B-AEC7-C546F3CD38AC}"/>
              </a:ext>
            </a:extLst>
          </p:cNvPr>
          <p:cNvSpPr/>
          <p:nvPr/>
        </p:nvSpPr>
        <p:spPr>
          <a:xfrm>
            <a:off x="3159582" y="5908079"/>
            <a:ext cx="565321"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FDP #0</a:t>
            </a:r>
            <a:endParaRPr lang="en-CA" sz="700" dirty="0"/>
          </a:p>
        </p:txBody>
      </p:sp>
      <p:sp>
        <p:nvSpPr>
          <p:cNvPr id="9" name="Rectangle 8">
            <a:extLst>
              <a:ext uri="{FF2B5EF4-FFF2-40B4-BE49-F238E27FC236}">
                <a16:creationId xmlns:a16="http://schemas.microsoft.com/office/drawing/2014/main" id="{43B13E1A-8BA1-FD2E-298B-39A9773492D9}"/>
              </a:ext>
            </a:extLst>
          </p:cNvPr>
          <p:cNvSpPr/>
          <p:nvPr/>
        </p:nvSpPr>
        <p:spPr>
          <a:xfrm>
            <a:off x="4423283" y="5908079"/>
            <a:ext cx="588813"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TRIG</a:t>
            </a:r>
            <a:endParaRPr lang="en-CA" sz="700" dirty="0"/>
          </a:p>
        </p:txBody>
      </p:sp>
      <p:sp>
        <p:nvSpPr>
          <p:cNvPr id="10" name="Rectangle 9">
            <a:extLst>
              <a:ext uri="{FF2B5EF4-FFF2-40B4-BE49-F238E27FC236}">
                <a16:creationId xmlns:a16="http://schemas.microsoft.com/office/drawing/2014/main" id="{C2CE30D4-A510-082C-C771-FC867429D4A3}"/>
              </a:ext>
            </a:extLst>
          </p:cNvPr>
          <p:cNvSpPr/>
          <p:nvPr/>
        </p:nvSpPr>
        <p:spPr>
          <a:xfrm>
            <a:off x="740185" y="6172312"/>
            <a:ext cx="50050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CSRs</a:t>
            </a:r>
            <a:endParaRPr lang="en-CA" sz="700" dirty="0"/>
          </a:p>
        </p:txBody>
      </p:sp>
      <p:sp>
        <p:nvSpPr>
          <p:cNvPr id="11" name="Rectangle 10">
            <a:extLst>
              <a:ext uri="{FF2B5EF4-FFF2-40B4-BE49-F238E27FC236}">
                <a16:creationId xmlns:a16="http://schemas.microsoft.com/office/drawing/2014/main" id="{5EC13761-4A16-527F-25C4-63929CC12475}"/>
              </a:ext>
            </a:extLst>
          </p:cNvPr>
          <p:cNvSpPr/>
          <p:nvPr/>
        </p:nvSpPr>
        <p:spPr>
          <a:xfrm>
            <a:off x="740186" y="6450608"/>
            <a:ext cx="51554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Counts</a:t>
            </a:r>
            <a:endParaRPr lang="en-CA" sz="700" dirty="0"/>
          </a:p>
        </p:txBody>
      </p:sp>
      <p:sp>
        <p:nvSpPr>
          <p:cNvPr id="12" name="Rectangle 11">
            <a:extLst>
              <a:ext uri="{FF2B5EF4-FFF2-40B4-BE49-F238E27FC236}">
                <a16:creationId xmlns:a16="http://schemas.microsoft.com/office/drawing/2014/main" id="{5B401EC6-5825-9E44-80EC-6B43B4C0A313}"/>
              </a:ext>
            </a:extLst>
          </p:cNvPr>
          <p:cNvSpPr/>
          <p:nvPr/>
        </p:nvSpPr>
        <p:spPr>
          <a:xfrm>
            <a:off x="750937" y="6712221"/>
            <a:ext cx="515549" cy="214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Shift </a:t>
            </a:r>
            <a:endParaRPr lang="en-CA" sz="700" dirty="0"/>
          </a:p>
        </p:txBody>
      </p:sp>
      <p:sp>
        <p:nvSpPr>
          <p:cNvPr id="13" name="Rectangle 12">
            <a:extLst>
              <a:ext uri="{FF2B5EF4-FFF2-40B4-BE49-F238E27FC236}">
                <a16:creationId xmlns:a16="http://schemas.microsoft.com/office/drawing/2014/main" id="{91946394-63E9-5D59-33ED-942F6365F6CE}"/>
              </a:ext>
            </a:extLst>
          </p:cNvPr>
          <p:cNvSpPr/>
          <p:nvPr/>
        </p:nvSpPr>
        <p:spPr>
          <a:xfrm>
            <a:off x="2539408" y="6164136"/>
            <a:ext cx="55379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ISQRT</a:t>
            </a:r>
          </a:p>
        </p:txBody>
      </p:sp>
      <p:sp>
        <p:nvSpPr>
          <p:cNvPr id="14" name="Rectangle 13">
            <a:extLst>
              <a:ext uri="{FF2B5EF4-FFF2-40B4-BE49-F238E27FC236}">
                <a16:creationId xmlns:a16="http://schemas.microsoft.com/office/drawing/2014/main" id="{304F8560-A650-9E36-82DA-6D5649A6C0D1}"/>
              </a:ext>
            </a:extLst>
          </p:cNvPr>
          <p:cNvSpPr/>
          <p:nvPr/>
        </p:nvSpPr>
        <p:spPr>
          <a:xfrm>
            <a:off x="3803814" y="5915413"/>
            <a:ext cx="565321"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FDP #1</a:t>
            </a:r>
            <a:endParaRPr lang="en-CA" sz="700" dirty="0"/>
          </a:p>
        </p:txBody>
      </p:sp>
      <p:sp>
        <p:nvSpPr>
          <p:cNvPr id="15" name="Rectangle 14">
            <a:extLst>
              <a:ext uri="{FF2B5EF4-FFF2-40B4-BE49-F238E27FC236}">
                <a16:creationId xmlns:a16="http://schemas.microsoft.com/office/drawing/2014/main" id="{8A60914A-135B-535E-A4E6-CB047D1389AE}"/>
              </a:ext>
            </a:extLst>
          </p:cNvPr>
          <p:cNvSpPr/>
          <p:nvPr/>
        </p:nvSpPr>
        <p:spPr>
          <a:xfrm>
            <a:off x="5086778" y="5913115"/>
            <a:ext cx="62709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FCU</a:t>
            </a:r>
            <a:endParaRPr lang="en-CA" sz="700" dirty="0"/>
          </a:p>
        </p:txBody>
      </p:sp>
      <p:sp>
        <p:nvSpPr>
          <p:cNvPr id="16" name="Rectangle 15">
            <a:extLst>
              <a:ext uri="{FF2B5EF4-FFF2-40B4-BE49-F238E27FC236}">
                <a16:creationId xmlns:a16="http://schemas.microsoft.com/office/drawing/2014/main" id="{FF436A42-A1EB-0562-B784-8E229D49CA6A}"/>
              </a:ext>
            </a:extLst>
          </p:cNvPr>
          <p:cNvSpPr/>
          <p:nvPr/>
        </p:nvSpPr>
        <p:spPr>
          <a:xfrm>
            <a:off x="5775135" y="5913115"/>
            <a:ext cx="62709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AGEN #0</a:t>
            </a:r>
            <a:endParaRPr lang="en-CA" sz="700" dirty="0"/>
          </a:p>
        </p:txBody>
      </p:sp>
      <p:sp>
        <p:nvSpPr>
          <p:cNvPr id="17" name="Rectangle 16">
            <a:extLst>
              <a:ext uri="{FF2B5EF4-FFF2-40B4-BE49-F238E27FC236}">
                <a16:creationId xmlns:a16="http://schemas.microsoft.com/office/drawing/2014/main" id="{B774D86D-B698-D078-FAC0-735B59942F5E}"/>
              </a:ext>
            </a:extLst>
          </p:cNvPr>
          <p:cNvSpPr/>
          <p:nvPr/>
        </p:nvSpPr>
        <p:spPr>
          <a:xfrm>
            <a:off x="6455303" y="5908079"/>
            <a:ext cx="62243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AGEN #1</a:t>
            </a:r>
            <a:endParaRPr lang="en-CA" sz="700" dirty="0"/>
          </a:p>
        </p:txBody>
      </p:sp>
      <p:sp>
        <p:nvSpPr>
          <p:cNvPr id="18" name="Rectangle 17">
            <a:extLst>
              <a:ext uri="{FF2B5EF4-FFF2-40B4-BE49-F238E27FC236}">
                <a16:creationId xmlns:a16="http://schemas.microsoft.com/office/drawing/2014/main" id="{7B8498E8-92C8-F13C-33EB-F8E9FB749EAD}"/>
              </a:ext>
            </a:extLst>
          </p:cNvPr>
          <p:cNvSpPr/>
          <p:nvPr/>
        </p:nvSpPr>
        <p:spPr>
          <a:xfrm>
            <a:off x="7137299" y="5893563"/>
            <a:ext cx="642428"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DRAM #0</a:t>
            </a:r>
            <a:endParaRPr lang="en-CA" sz="700" dirty="0"/>
          </a:p>
        </p:txBody>
      </p:sp>
      <p:sp>
        <p:nvSpPr>
          <p:cNvPr id="19" name="Rectangle 18">
            <a:extLst>
              <a:ext uri="{FF2B5EF4-FFF2-40B4-BE49-F238E27FC236}">
                <a16:creationId xmlns:a16="http://schemas.microsoft.com/office/drawing/2014/main" id="{C4E7F9D1-8DF1-12C2-7700-CE06C68FF045}"/>
              </a:ext>
            </a:extLst>
          </p:cNvPr>
          <p:cNvSpPr/>
          <p:nvPr/>
        </p:nvSpPr>
        <p:spPr>
          <a:xfrm>
            <a:off x="7838630" y="5891458"/>
            <a:ext cx="63817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DRAM #1</a:t>
            </a:r>
            <a:endParaRPr lang="en-CA" sz="700" dirty="0"/>
          </a:p>
        </p:txBody>
      </p:sp>
      <p:sp>
        <p:nvSpPr>
          <p:cNvPr id="20" name="Rectangle 19">
            <a:extLst>
              <a:ext uri="{FF2B5EF4-FFF2-40B4-BE49-F238E27FC236}">
                <a16:creationId xmlns:a16="http://schemas.microsoft.com/office/drawing/2014/main" id="{33814D67-A90E-DB11-36FA-64E81BB2218A}"/>
              </a:ext>
            </a:extLst>
          </p:cNvPr>
          <p:cNvSpPr/>
          <p:nvPr/>
        </p:nvSpPr>
        <p:spPr>
          <a:xfrm>
            <a:off x="573589" y="5619561"/>
            <a:ext cx="11410794" cy="2849063"/>
          </a:xfrm>
          <a:prstGeom prst="rect">
            <a:avLst/>
          </a:prstGeom>
          <a:solidFill>
            <a:schemeClr val="accent1">
              <a:alpha val="3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200" dirty="0"/>
          </a:p>
        </p:txBody>
      </p:sp>
      <p:sp>
        <p:nvSpPr>
          <p:cNvPr id="33" name="Rectangle 32">
            <a:extLst>
              <a:ext uri="{FF2B5EF4-FFF2-40B4-BE49-F238E27FC236}">
                <a16:creationId xmlns:a16="http://schemas.microsoft.com/office/drawing/2014/main" id="{11B75455-1537-CCE7-A134-6BACBDF6AB81}"/>
              </a:ext>
            </a:extLst>
          </p:cNvPr>
          <p:cNvSpPr/>
          <p:nvPr/>
        </p:nvSpPr>
        <p:spPr>
          <a:xfrm>
            <a:off x="581211" y="4814662"/>
            <a:ext cx="11372250" cy="3026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13:52 rotating mux/</a:t>
            </a:r>
            <a:r>
              <a:rPr lang="en-US" sz="1100" dirty="0" err="1"/>
              <a:t>demux</a:t>
            </a:r>
            <a:endParaRPr lang="en-CA" sz="1100" dirty="0"/>
          </a:p>
        </p:txBody>
      </p:sp>
      <p:sp>
        <p:nvSpPr>
          <p:cNvPr id="34" name="Arrow: Up-Down 33">
            <a:extLst>
              <a:ext uri="{FF2B5EF4-FFF2-40B4-BE49-F238E27FC236}">
                <a16:creationId xmlns:a16="http://schemas.microsoft.com/office/drawing/2014/main" id="{F4E2F53D-544F-63C5-E91A-887CB965E6BD}"/>
              </a:ext>
            </a:extLst>
          </p:cNvPr>
          <p:cNvSpPr/>
          <p:nvPr/>
        </p:nvSpPr>
        <p:spPr>
          <a:xfrm>
            <a:off x="839646" y="5129807"/>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4</a:t>
            </a:r>
            <a:endParaRPr lang="en-CA" sz="1000" dirty="0">
              <a:solidFill>
                <a:schemeClr val="bg1"/>
              </a:solidFill>
            </a:endParaRPr>
          </a:p>
        </p:txBody>
      </p:sp>
      <p:sp>
        <p:nvSpPr>
          <p:cNvPr id="35" name="Arrow: Up-Down 34">
            <a:extLst>
              <a:ext uri="{FF2B5EF4-FFF2-40B4-BE49-F238E27FC236}">
                <a16:creationId xmlns:a16="http://schemas.microsoft.com/office/drawing/2014/main" id="{25707A37-2146-452E-0E55-34D2DD7327B7}"/>
              </a:ext>
            </a:extLst>
          </p:cNvPr>
          <p:cNvSpPr/>
          <p:nvPr/>
        </p:nvSpPr>
        <p:spPr>
          <a:xfrm>
            <a:off x="1405451" y="5109603"/>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3</a:t>
            </a:r>
            <a:endParaRPr lang="en-CA" sz="1000" dirty="0"/>
          </a:p>
        </p:txBody>
      </p:sp>
      <p:sp>
        <p:nvSpPr>
          <p:cNvPr id="36" name="Arrow: Up-Down 35">
            <a:extLst>
              <a:ext uri="{FF2B5EF4-FFF2-40B4-BE49-F238E27FC236}">
                <a16:creationId xmlns:a16="http://schemas.microsoft.com/office/drawing/2014/main" id="{11E77748-3C95-E25C-76EF-D8273C5CE235}"/>
              </a:ext>
            </a:extLst>
          </p:cNvPr>
          <p:cNvSpPr/>
          <p:nvPr/>
        </p:nvSpPr>
        <p:spPr>
          <a:xfrm>
            <a:off x="2034372" y="5103668"/>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3</a:t>
            </a:r>
            <a:endParaRPr lang="en-CA" sz="1000" dirty="0"/>
          </a:p>
        </p:txBody>
      </p:sp>
      <p:sp>
        <p:nvSpPr>
          <p:cNvPr id="37" name="Arrow: Up-Down 36">
            <a:extLst>
              <a:ext uri="{FF2B5EF4-FFF2-40B4-BE49-F238E27FC236}">
                <a16:creationId xmlns:a16="http://schemas.microsoft.com/office/drawing/2014/main" id="{BFEBD308-3329-3694-F8D8-055311DD8850}"/>
              </a:ext>
            </a:extLst>
          </p:cNvPr>
          <p:cNvSpPr/>
          <p:nvPr/>
        </p:nvSpPr>
        <p:spPr>
          <a:xfrm>
            <a:off x="2645125" y="5110501"/>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2</a:t>
            </a:r>
            <a:endParaRPr lang="en-CA" sz="1000" dirty="0"/>
          </a:p>
        </p:txBody>
      </p:sp>
      <p:sp>
        <p:nvSpPr>
          <p:cNvPr id="38" name="Arrow: Up-Down 37">
            <a:extLst>
              <a:ext uri="{FF2B5EF4-FFF2-40B4-BE49-F238E27FC236}">
                <a16:creationId xmlns:a16="http://schemas.microsoft.com/office/drawing/2014/main" id="{5B781C08-EC3C-DA74-AC8B-933D83D07036}"/>
              </a:ext>
            </a:extLst>
          </p:cNvPr>
          <p:cNvSpPr/>
          <p:nvPr/>
        </p:nvSpPr>
        <p:spPr>
          <a:xfrm>
            <a:off x="4530553" y="5113839"/>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4</a:t>
            </a:r>
            <a:endParaRPr lang="en-CA" sz="1000" dirty="0">
              <a:solidFill>
                <a:schemeClr val="bg1"/>
              </a:solidFill>
            </a:endParaRPr>
          </a:p>
        </p:txBody>
      </p:sp>
      <p:sp>
        <p:nvSpPr>
          <p:cNvPr id="39" name="Arrow: Up-Down 38">
            <a:extLst>
              <a:ext uri="{FF2B5EF4-FFF2-40B4-BE49-F238E27FC236}">
                <a16:creationId xmlns:a16="http://schemas.microsoft.com/office/drawing/2014/main" id="{8AF02345-C9B1-B6BF-B7E9-41DDA4A6902F}"/>
              </a:ext>
            </a:extLst>
          </p:cNvPr>
          <p:cNvSpPr/>
          <p:nvPr/>
        </p:nvSpPr>
        <p:spPr>
          <a:xfrm>
            <a:off x="5198937" y="5123797"/>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3</a:t>
            </a:r>
            <a:endParaRPr lang="en-CA" sz="1000" dirty="0">
              <a:solidFill>
                <a:schemeClr val="bg1"/>
              </a:solidFill>
            </a:endParaRPr>
          </a:p>
        </p:txBody>
      </p:sp>
      <p:sp>
        <p:nvSpPr>
          <p:cNvPr id="40" name="Arrow: Up-Down 39">
            <a:extLst>
              <a:ext uri="{FF2B5EF4-FFF2-40B4-BE49-F238E27FC236}">
                <a16:creationId xmlns:a16="http://schemas.microsoft.com/office/drawing/2014/main" id="{484CA597-998E-8D52-2E20-17E9EDFD37DF}"/>
              </a:ext>
            </a:extLst>
          </p:cNvPr>
          <p:cNvSpPr/>
          <p:nvPr/>
        </p:nvSpPr>
        <p:spPr>
          <a:xfrm>
            <a:off x="3266458" y="5121117"/>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5</a:t>
            </a:r>
            <a:endParaRPr lang="en-CA" sz="1000" dirty="0"/>
          </a:p>
        </p:txBody>
      </p:sp>
      <p:sp>
        <p:nvSpPr>
          <p:cNvPr id="41" name="Arrow: Up-Down 40">
            <a:extLst>
              <a:ext uri="{FF2B5EF4-FFF2-40B4-BE49-F238E27FC236}">
                <a16:creationId xmlns:a16="http://schemas.microsoft.com/office/drawing/2014/main" id="{62D03AFF-D0B3-BE37-A62E-0E325F813B5E}"/>
              </a:ext>
            </a:extLst>
          </p:cNvPr>
          <p:cNvSpPr/>
          <p:nvPr/>
        </p:nvSpPr>
        <p:spPr>
          <a:xfrm>
            <a:off x="3898505" y="5124937"/>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5</a:t>
            </a:r>
            <a:endParaRPr lang="en-CA" sz="1000" dirty="0">
              <a:solidFill>
                <a:schemeClr val="bg1"/>
              </a:solidFill>
            </a:endParaRPr>
          </a:p>
        </p:txBody>
      </p:sp>
      <p:sp>
        <p:nvSpPr>
          <p:cNvPr id="42" name="Arrow: Up-Down 41">
            <a:extLst>
              <a:ext uri="{FF2B5EF4-FFF2-40B4-BE49-F238E27FC236}">
                <a16:creationId xmlns:a16="http://schemas.microsoft.com/office/drawing/2014/main" id="{C9FFACE2-7D7C-FD95-7CF1-4CB0CBE5103F}"/>
              </a:ext>
            </a:extLst>
          </p:cNvPr>
          <p:cNvSpPr/>
          <p:nvPr/>
        </p:nvSpPr>
        <p:spPr>
          <a:xfrm>
            <a:off x="5883146" y="5123797"/>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2</a:t>
            </a:r>
            <a:endParaRPr lang="en-CA" sz="1000" dirty="0">
              <a:solidFill>
                <a:schemeClr val="bg1"/>
              </a:solidFill>
            </a:endParaRPr>
          </a:p>
        </p:txBody>
      </p:sp>
      <p:sp>
        <p:nvSpPr>
          <p:cNvPr id="43" name="Arrow: Up-Down 42">
            <a:extLst>
              <a:ext uri="{FF2B5EF4-FFF2-40B4-BE49-F238E27FC236}">
                <a16:creationId xmlns:a16="http://schemas.microsoft.com/office/drawing/2014/main" id="{19DD16B5-D0C6-56C6-6D1D-356BDF1FC148}"/>
              </a:ext>
            </a:extLst>
          </p:cNvPr>
          <p:cNvSpPr/>
          <p:nvPr/>
        </p:nvSpPr>
        <p:spPr>
          <a:xfrm>
            <a:off x="6547438" y="5121117"/>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2</a:t>
            </a:r>
            <a:endParaRPr lang="en-CA" sz="1000" dirty="0">
              <a:solidFill>
                <a:schemeClr val="bg1"/>
              </a:solidFill>
            </a:endParaRPr>
          </a:p>
        </p:txBody>
      </p:sp>
      <p:sp>
        <p:nvSpPr>
          <p:cNvPr id="44" name="Arrow: Up-Down 43">
            <a:extLst>
              <a:ext uri="{FF2B5EF4-FFF2-40B4-BE49-F238E27FC236}">
                <a16:creationId xmlns:a16="http://schemas.microsoft.com/office/drawing/2014/main" id="{167BD157-E240-85AE-52D0-4AFE67280838}"/>
              </a:ext>
            </a:extLst>
          </p:cNvPr>
          <p:cNvSpPr/>
          <p:nvPr/>
        </p:nvSpPr>
        <p:spPr>
          <a:xfrm>
            <a:off x="7272309" y="5128354"/>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1</a:t>
            </a:r>
            <a:endParaRPr lang="en-CA" sz="1000" dirty="0">
              <a:solidFill>
                <a:schemeClr val="bg1"/>
              </a:solidFill>
            </a:endParaRPr>
          </a:p>
        </p:txBody>
      </p:sp>
      <p:sp>
        <p:nvSpPr>
          <p:cNvPr id="45" name="Arrow: Up-Down 44">
            <a:extLst>
              <a:ext uri="{FF2B5EF4-FFF2-40B4-BE49-F238E27FC236}">
                <a16:creationId xmlns:a16="http://schemas.microsoft.com/office/drawing/2014/main" id="{172682AA-5277-427E-737F-654ABD6B1C6C}"/>
              </a:ext>
            </a:extLst>
          </p:cNvPr>
          <p:cNvSpPr/>
          <p:nvPr/>
        </p:nvSpPr>
        <p:spPr>
          <a:xfrm>
            <a:off x="7963979" y="5109603"/>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1</a:t>
            </a:r>
            <a:endParaRPr lang="en-CA" sz="1000" dirty="0">
              <a:solidFill>
                <a:schemeClr val="bg1"/>
              </a:solidFill>
            </a:endParaRPr>
          </a:p>
        </p:txBody>
      </p:sp>
      <p:sp>
        <p:nvSpPr>
          <p:cNvPr id="46" name="Arrow: Up-Down 45">
            <a:extLst>
              <a:ext uri="{FF2B5EF4-FFF2-40B4-BE49-F238E27FC236}">
                <a16:creationId xmlns:a16="http://schemas.microsoft.com/office/drawing/2014/main" id="{25D4805F-00C2-A8C7-4B1F-08EC0AC68B4E}"/>
              </a:ext>
            </a:extLst>
          </p:cNvPr>
          <p:cNvSpPr/>
          <p:nvPr/>
        </p:nvSpPr>
        <p:spPr>
          <a:xfrm>
            <a:off x="5219450" y="4434821"/>
            <a:ext cx="297671" cy="369332"/>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13</a:t>
            </a:r>
            <a:endParaRPr lang="en-CA" sz="1000" dirty="0"/>
          </a:p>
        </p:txBody>
      </p:sp>
      <p:sp>
        <p:nvSpPr>
          <p:cNvPr id="47" name="TextBox 46">
            <a:extLst>
              <a:ext uri="{FF2B5EF4-FFF2-40B4-BE49-F238E27FC236}">
                <a16:creationId xmlns:a16="http://schemas.microsoft.com/office/drawing/2014/main" id="{20481544-3335-7F85-90A9-B756AF2C6056}"/>
              </a:ext>
            </a:extLst>
          </p:cNvPr>
          <p:cNvSpPr txBox="1"/>
          <p:nvPr/>
        </p:nvSpPr>
        <p:spPr>
          <a:xfrm>
            <a:off x="5527427" y="4425150"/>
            <a:ext cx="2355966" cy="369332"/>
          </a:xfrm>
          <a:prstGeom prst="rect">
            <a:avLst/>
          </a:prstGeom>
          <a:noFill/>
        </p:spPr>
        <p:txBody>
          <a:bodyPr wrap="none" rtlCol="0">
            <a:spAutoFit/>
          </a:bodyPr>
          <a:lstStyle/>
          <a:p>
            <a:r>
              <a:rPr lang="en-US" dirty="0"/>
              <a:t>Read from register file</a:t>
            </a:r>
            <a:endParaRPr lang="en-CA" dirty="0"/>
          </a:p>
        </p:txBody>
      </p:sp>
      <p:sp>
        <p:nvSpPr>
          <p:cNvPr id="61" name="Arrow: Down 60">
            <a:extLst>
              <a:ext uri="{FF2B5EF4-FFF2-40B4-BE49-F238E27FC236}">
                <a16:creationId xmlns:a16="http://schemas.microsoft.com/office/drawing/2014/main" id="{E77A8B29-734E-EC7F-F576-39843C2E7F94}"/>
              </a:ext>
            </a:extLst>
          </p:cNvPr>
          <p:cNvSpPr/>
          <p:nvPr/>
        </p:nvSpPr>
        <p:spPr>
          <a:xfrm>
            <a:off x="801128" y="7187645"/>
            <a:ext cx="412386" cy="4582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CA" dirty="0"/>
          </a:p>
        </p:txBody>
      </p:sp>
      <p:sp>
        <p:nvSpPr>
          <p:cNvPr id="62" name="Arrow: Down 61">
            <a:extLst>
              <a:ext uri="{FF2B5EF4-FFF2-40B4-BE49-F238E27FC236}">
                <a16:creationId xmlns:a16="http://schemas.microsoft.com/office/drawing/2014/main" id="{F11ED450-E4A5-82D3-797A-3FBDBD5B5A63}"/>
              </a:ext>
            </a:extLst>
          </p:cNvPr>
          <p:cNvSpPr/>
          <p:nvPr/>
        </p:nvSpPr>
        <p:spPr>
          <a:xfrm>
            <a:off x="1363130" y="6119564"/>
            <a:ext cx="412386" cy="153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CA" dirty="0"/>
          </a:p>
        </p:txBody>
      </p:sp>
      <p:sp>
        <p:nvSpPr>
          <p:cNvPr id="63" name="Arrow: Down 62">
            <a:extLst>
              <a:ext uri="{FF2B5EF4-FFF2-40B4-BE49-F238E27FC236}">
                <a16:creationId xmlns:a16="http://schemas.microsoft.com/office/drawing/2014/main" id="{80B4887C-AC92-6545-FF32-3106C78F0D5C}"/>
              </a:ext>
            </a:extLst>
          </p:cNvPr>
          <p:cNvSpPr/>
          <p:nvPr/>
        </p:nvSpPr>
        <p:spPr>
          <a:xfrm>
            <a:off x="2004180" y="6123099"/>
            <a:ext cx="412386" cy="153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CA" dirty="0"/>
          </a:p>
        </p:txBody>
      </p:sp>
      <p:sp>
        <p:nvSpPr>
          <p:cNvPr id="64" name="Arrow: Down 63">
            <a:extLst>
              <a:ext uri="{FF2B5EF4-FFF2-40B4-BE49-F238E27FC236}">
                <a16:creationId xmlns:a16="http://schemas.microsoft.com/office/drawing/2014/main" id="{8CC4E98C-122B-753D-15C6-7409B9E8BB46}"/>
              </a:ext>
            </a:extLst>
          </p:cNvPr>
          <p:cNvSpPr/>
          <p:nvPr/>
        </p:nvSpPr>
        <p:spPr>
          <a:xfrm>
            <a:off x="2584031" y="6656178"/>
            <a:ext cx="412386" cy="99797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CA" dirty="0"/>
          </a:p>
        </p:txBody>
      </p:sp>
      <p:sp>
        <p:nvSpPr>
          <p:cNvPr id="65" name="Arrow: Down 64">
            <a:extLst>
              <a:ext uri="{FF2B5EF4-FFF2-40B4-BE49-F238E27FC236}">
                <a16:creationId xmlns:a16="http://schemas.microsoft.com/office/drawing/2014/main" id="{951ABB06-5D96-AAE7-9FD3-EA359A5E8223}"/>
              </a:ext>
            </a:extLst>
          </p:cNvPr>
          <p:cNvSpPr/>
          <p:nvPr/>
        </p:nvSpPr>
        <p:spPr>
          <a:xfrm>
            <a:off x="3218917" y="6109231"/>
            <a:ext cx="412386" cy="153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CA" dirty="0"/>
          </a:p>
        </p:txBody>
      </p:sp>
      <p:sp>
        <p:nvSpPr>
          <p:cNvPr id="66" name="Arrow: Down 65">
            <a:extLst>
              <a:ext uri="{FF2B5EF4-FFF2-40B4-BE49-F238E27FC236}">
                <a16:creationId xmlns:a16="http://schemas.microsoft.com/office/drawing/2014/main" id="{AB5F88CB-D03F-AE66-BD51-FBB1A8CD5B49}"/>
              </a:ext>
            </a:extLst>
          </p:cNvPr>
          <p:cNvSpPr/>
          <p:nvPr/>
        </p:nvSpPr>
        <p:spPr>
          <a:xfrm>
            <a:off x="3860103" y="6121165"/>
            <a:ext cx="412386" cy="153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CA" dirty="0"/>
          </a:p>
        </p:txBody>
      </p:sp>
      <p:sp>
        <p:nvSpPr>
          <p:cNvPr id="67" name="Arrow: Down 66">
            <a:extLst>
              <a:ext uri="{FF2B5EF4-FFF2-40B4-BE49-F238E27FC236}">
                <a16:creationId xmlns:a16="http://schemas.microsoft.com/office/drawing/2014/main" id="{DAF83E3C-C7F5-1498-7118-082DC5426720}"/>
              </a:ext>
            </a:extLst>
          </p:cNvPr>
          <p:cNvSpPr/>
          <p:nvPr/>
        </p:nvSpPr>
        <p:spPr>
          <a:xfrm>
            <a:off x="4522598" y="6624097"/>
            <a:ext cx="412386" cy="10346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CA" dirty="0"/>
          </a:p>
        </p:txBody>
      </p:sp>
      <p:sp>
        <p:nvSpPr>
          <p:cNvPr id="68" name="Arrow: Down 67">
            <a:extLst>
              <a:ext uri="{FF2B5EF4-FFF2-40B4-BE49-F238E27FC236}">
                <a16:creationId xmlns:a16="http://schemas.microsoft.com/office/drawing/2014/main" id="{15F2B693-EEDB-034A-111E-FB5F74852603}"/>
              </a:ext>
            </a:extLst>
          </p:cNvPr>
          <p:cNvSpPr/>
          <p:nvPr/>
        </p:nvSpPr>
        <p:spPr>
          <a:xfrm>
            <a:off x="5179946" y="6141764"/>
            <a:ext cx="412386" cy="153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CA" dirty="0"/>
          </a:p>
        </p:txBody>
      </p:sp>
      <p:sp>
        <p:nvSpPr>
          <p:cNvPr id="69" name="Arrow: Down 68">
            <a:extLst>
              <a:ext uri="{FF2B5EF4-FFF2-40B4-BE49-F238E27FC236}">
                <a16:creationId xmlns:a16="http://schemas.microsoft.com/office/drawing/2014/main" id="{4D58C537-31EA-8880-0C4B-CF20D2ED8B32}"/>
              </a:ext>
            </a:extLst>
          </p:cNvPr>
          <p:cNvSpPr/>
          <p:nvPr/>
        </p:nvSpPr>
        <p:spPr>
          <a:xfrm>
            <a:off x="7927028" y="6121165"/>
            <a:ext cx="412386" cy="153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CA" dirty="0"/>
          </a:p>
        </p:txBody>
      </p:sp>
      <p:sp>
        <p:nvSpPr>
          <p:cNvPr id="70" name="Arrow: Down 69">
            <a:extLst>
              <a:ext uri="{FF2B5EF4-FFF2-40B4-BE49-F238E27FC236}">
                <a16:creationId xmlns:a16="http://schemas.microsoft.com/office/drawing/2014/main" id="{9BB8CC11-8D92-539C-E5E8-DAA6D4EFCA99}"/>
              </a:ext>
            </a:extLst>
          </p:cNvPr>
          <p:cNvSpPr/>
          <p:nvPr/>
        </p:nvSpPr>
        <p:spPr>
          <a:xfrm>
            <a:off x="7262643" y="6128612"/>
            <a:ext cx="412386" cy="153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CA" dirty="0"/>
          </a:p>
        </p:txBody>
      </p:sp>
      <p:sp>
        <p:nvSpPr>
          <p:cNvPr id="71" name="Rectangle 70">
            <a:extLst>
              <a:ext uri="{FF2B5EF4-FFF2-40B4-BE49-F238E27FC236}">
                <a16:creationId xmlns:a16="http://schemas.microsoft.com/office/drawing/2014/main" id="{1C6F6109-CE91-55C0-CDE9-1FA0A55E1768}"/>
              </a:ext>
            </a:extLst>
          </p:cNvPr>
          <p:cNvSpPr/>
          <p:nvPr/>
        </p:nvSpPr>
        <p:spPr>
          <a:xfrm>
            <a:off x="550290" y="7641926"/>
            <a:ext cx="11513606" cy="3399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22 Flow through result queues (32 entry)</a:t>
            </a:r>
            <a:endParaRPr lang="en-CA" sz="1100" dirty="0"/>
          </a:p>
        </p:txBody>
      </p:sp>
      <p:sp>
        <p:nvSpPr>
          <p:cNvPr id="72" name="Rectangle 71">
            <a:extLst>
              <a:ext uri="{FF2B5EF4-FFF2-40B4-BE49-F238E27FC236}">
                <a16:creationId xmlns:a16="http://schemas.microsoft.com/office/drawing/2014/main" id="{089DFE8E-A4B4-4D09-D92F-B051C93C312D}"/>
              </a:ext>
            </a:extLst>
          </p:cNvPr>
          <p:cNvSpPr/>
          <p:nvPr/>
        </p:nvSpPr>
        <p:spPr>
          <a:xfrm>
            <a:off x="550290" y="8299091"/>
            <a:ext cx="11513606" cy="3399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24:4 </a:t>
            </a:r>
            <a:r>
              <a:rPr lang="en-US" sz="1100" dirty="0"/>
              <a:t>rotating multiplex</a:t>
            </a:r>
            <a:endParaRPr lang="en-CA" sz="1100" dirty="0"/>
          </a:p>
        </p:txBody>
      </p:sp>
      <p:sp>
        <p:nvSpPr>
          <p:cNvPr id="73" name="Arrow: Down 72">
            <a:extLst>
              <a:ext uri="{FF2B5EF4-FFF2-40B4-BE49-F238E27FC236}">
                <a16:creationId xmlns:a16="http://schemas.microsoft.com/office/drawing/2014/main" id="{9591EC54-63D4-66BF-6A61-348EBA5DF458}"/>
              </a:ext>
            </a:extLst>
          </p:cNvPr>
          <p:cNvSpPr/>
          <p:nvPr/>
        </p:nvSpPr>
        <p:spPr>
          <a:xfrm>
            <a:off x="4465097" y="7969539"/>
            <a:ext cx="3418296" cy="31830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4" name="Arrow: Down 73">
            <a:extLst>
              <a:ext uri="{FF2B5EF4-FFF2-40B4-BE49-F238E27FC236}">
                <a16:creationId xmlns:a16="http://schemas.microsoft.com/office/drawing/2014/main" id="{4B9836E3-4F30-B303-77D3-E7C70ED48919}"/>
              </a:ext>
            </a:extLst>
          </p:cNvPr>
          <p:cNvSpPr/>
          <p:nvPr/>
        </p:nvSpPr>
        <p:spPr>
          <a:xfrm>
            <a:off x="4420334" y="8652549"/>
            <a:ext cx="3418296" cy="31830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4 results</a:t>
            </a:r>
            <a:endParaRPr lang="en-CA" sz="1100" dirty="0"/>
          </a:p>
        </p:txBody>
      </p:sp>
      <p:sp>
        <p:nvSpPr>
          <p:cNvPr id="75" name="TextBox 74">
            <a:extLst>
              <a:ext uri="{FF2B5EF4-FFF2-40B4-BE49-F238E27FC236}">
                <a16:creationId xmlns:a16="http://schemas.microsoft.com/office/drawing/2014/main" id="{842A2CC6-130A-0169-AA3C-3244405DA334}"/>
              </a:ext>
            </a:extLst>
          </p:cNvPr>
          <p:cNvSpPr txBox="1"/>
          <p:nvPr/>
        </p:nvSpPr>
        <p:spPr>
          <a:xfrm>
            <a:off x="5061138" y="8941184"/>
            <a:ext cx="2106987" cy="369332"/>
          </a:xfrm>
          <a:prstGeom prst="rect">
            <a:avLst/>
          </a:prstGeom>
          <a:noFill/>
        </p:spPr>
        <p:txBody>
          <a:bodyPr wrap="none" rtlCol="0">
            <a:spAutoFit/>
          </a:bodyPr>
          <a:lstStyle/>
          <a:p>
            <a:r>
              <a:rPr lang="en-US" dirty="0"/>
              <a:t>Write to register file</a:t>
            </a:r>
            <a:endParaRPr lang="en-CA" dirty="0"/>
          </a:p>
        </p:txBody>
      </p:sp>
      <p:cxnSp>
        <p:nvCxnSpPr>
          <p:cNvPr id="76" name="Straight Connector 75">
            <a:extLst>
              <a:ext uri="{FF2B5EF4-FFF2-40B4-BE49-F238E27FC236}">
                <a16:creationId xmlns:a16="http://schemas.microsoft.com/office/drawing/2014/main" id="{3CEC3892-632B-818B-78C4-59F223B66684}"/>
              </a:ext>
            </a:extLst>
          </p:cNvPr>
          <p:cNvCxnSpPr>
            <a:cxnSpLocks/>
          </p:cNvCxnSpPr>
          <p:nvPr/>
        </p:nvCxnSpPr>
        <p:spPr>
          <a:xfrm>
            <a:off x="550290" y="8226784"/>
            <a:ext cx="11513606"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84FF6386-F641-CC75-0B08-39487717E665}"/>
              </a:ext>
            </a:extLst>
          </p:cNvPr>
          <p:cNvSpPr txBox="1"/>
          <p:nvPr/>
        </p:nvSpPr>
        <p:spPr>
          <a:xfrm>
            <a:off x="367874" y="8001977"/>
            <a:ext cx="1297086" cy="276999"/>
          </a:xfrm>
          <a:prstGeom prst="rect">
            <a:avLst/>
          </a:prstGeom>
          <a:noFill/>
        </p:spPr>
        <p:txBody>
          <a:bodyPr wrap="square" rtlCol="0">
            <a:spAutoFit/>
          </a:bodyPr>
          <a:lstStyle/>
          <a:p>
            <a:r>
              <a:rPr lang="en-US" sz="1200" dirty="0"/>
              <a:t>Pipeline Register</a:t>
            </a:r>
            <a:endParaRPr lang="en-CA" sz="1200" dirty="0"/>
          </a:p>
        </p:txBody>
      </p:sp>
      <p:sp>
        <p:nvSpPr>
          <p:cNvPr id="79" name="TextBox 78">
            <a:extLst>
              <a:ext uri="{FF2B5EF4-FFF2-40B4-BE49-F238E27FC236}">
                <a16:creationId xmlns:a16="http://schemas.microsoft.com/office/drawing/2014/main" id="{C2658078-6571-A2AC-B706-BC5A4D49B71C}"/>
              </a:ext>
            </a:extLst>
          </p:cNvPr>
          <p:cNvSpPr txBox="1"/>
          <p:nvPr/>
        </p:nvSpPr>
        <p:spPr>
          <a:xfrm>
            <a:off x="8114291" y="2989198"/>
            <a:ext cx="3001143" cy="1785104"/>
          </a:xfrm>
          <a:prstGeom prst="rect">
            <a:avLst/>
          </a:prstGeom>
          <a:noFill/>
        </p:spPr>
        <p:txBody>
          <a:bodyPr wrap="none" rtlCol="0">
            <a:spAutoFit/>
          </a:bodyPr>
          <a:lstStyle/>
          <a:p>
            <a:r>
              <a:rPr lang="en-US" sz="1000" dirty="0"/>
              <a:t>SAU: Simple Arithmetic Unit (integer and float)</a:t>
            </a:r>
          </a:p>
          <a:p>
            <a:r>
              <a:rPr lang="en-US" sz="1000" dirty="0"/>
              <a:t>IMUL: Integer multiplier</a:t>
            </a:r>
          </a:p>
          <a:p>
            <a:r>
              <a:rPr lang="en-US" sz="1000" dirty="0"/>
              <a:t>IDIV: Integer Divider</a:t>
            </a:r>
          </a:p>
          <a:p>
            <a:r>
              <a:rPr lang="en-US" sz="1000" dirty="0"/>
              <a:t>FMA: Floating-point multiply and add</a:t>
            </a:r>
          </a:p>
          <a:p>
            <a:r>
              <a:rPr lang="en-US" sz="1000" dirty="0"/>
              <a:t>TRIG: Floating-point trig, divide and square root</a:t>
            </a:r>
          </a:p>
          <a:p>
            <a:r>
              <a:rPr lang="en-US" sz="1000" dirty="0"/>
              <a:t>FCU: Flow control unit (branch unit)</a:t>
            </a:r>
          </a:p>
          <a:p>
            <a:r>
              <a:rPr lang="en-US" sz="1000" dirty="0"/>
              <a:t>AGEN: Address generator</a:t>
            </a:r>
          </a:p>
          <a:p>
            <a:r>
              <a:rPr lang="en-US" sz="1000" dirty="0"/>
              <a:t>DRAM: Data cache control logic</a:t>
            </a:r>
          </a:p>
          <a:p>
            <a:endParaRPr lang="en-US" sz="1000" dirty="0"/>
          </a:p>
          <a:p>
            <a:r>
              <a:rPr lang="en-US" sz="1000" dirty="0"/>
              <a:t>Read ports are packed into a vector containing only</a:t>
            </a:r>
          </a:p>
          <a:p>
            <a:r>
              <a:rPr lang="en-US" sz="1000" dirty="0"/>
              <a:t>source operands that need reading.</a:t>
            </a:r>
            <a:endParaRPr lang="en-CA" sz="1000" dirty="0"/>
          </a:p>
        </p:txBody>
      </p:sp>
      <p:sp>
        <p:nvSpPr>
          <p:cNvPr id="80" name="Arrow: Up-Down 79">
            <a:extLst>
              <a:ext uri="{FF2B5EF4-FFF2-40B4-BE49-F238E27FC236}">
                <a16:creationId xmlns:a16="http://schemas.microsoft.com/office/drawing/2014/main" id="{23031C47-9C51-2E3C-8044-86E760B0C279}"/>
              </a:ext>
            </a:extLst>
          </p:cNvPr>
          <p:cNvSpPr/>
          <p:nvPr/>
        </p:nvSpPr>
        <p:spPr>
          <a:xfrm>
            <a:off x="8715765" y="5118725"/>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4</a:t>
            </a:r>
            <a:endParaRPr lang="en-CA" sz="1000" dirty="0">
              <a:solidFill>
                <a:schemeClr val="bg1"/>
              </a:solidFill>
            </a:endParaRPr>
          </a:p>
        </p:txBody>
      </p:sp>
      <p:sp>
        <p:nvSpPr>
          <p:cNvPr id="82" name="Arrow: Down 81">
            <a:extLst>
              <a:ext uri="{FF2B5EF4-FFF2-40B4-BE49-F238E27FC236}">
                <a16:creationId xmlns:a16="http://schemas.microsoft.com/office/drawing/2014/main" id="{358B07E1-F8AC-5A1E-64F8-01F9710B3DA6}"/>
              </a:ext>
            </a:extLst>
          </p:cNvPr>
          <p:cNvSpPr/>
          <p:nvPr/>
        </p:nvSpPr>
        <p:spPr>
          <a:xfrm>
            <a:off x="8694159" y="6105382"/>
            <a:ext cx="412386" cy="1533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CA" dirty="0"/>
          </a:p>
        </p:txBody>
      </p:sp>
      <p:sp>
        <p:nvSpPr>
          <p:cNvPr id="84" name="TextBox 83">
            <a:extLst>
              <a:ext uri="{FF2B5EF4-FFF2-40B4-BE49-F238E27FC236}">
                <a16:creationId xmlns:a16="http://schemas.microsoft.com/office/drawing/2014/main" id="{B35101C1-E541-D542-199F-C5DB73595420}"/>
              </a:ext>
            </a:extLst>
          </p:cNvPr>
          <p:cNvSpPr txBox="1"/>
          <p:nvPr/>
        </p:nvSpPr>
        <p:spPr>
          <a:xfrm>
            <a:off x="1051017" y="7222012"/>
            <a:ext cx="335348" cy="169277"/>
          </a:xfrm>
          <a:prstGeom prst="rect">
            <a:avLst/>
          </a:prstGeom>
          <a:noFill/>
        </p:spPr>
        <p:txBody>
          <a:bodyPr wrap="none" rtlCol="0">
            <a:spAutoFit/>
          </a:bodyPr>
          <a:lstStyle/>
          <a:p>
            <a:r>
              <a:rPr lang="en-US" sz="500" dirty="0"/>
              <a:t>Lat: 1</a:t>
            </a:r>
            <a:endParaRPr lang="en-CA" sz="500" dirty="0"/>
          </a:p>
        </p:txBody>
      </p:sp>
      <p:sp>
        <p:nvSpPr>
          <p:cNvPr id="85" name="TextBox 84">
            <a:extLst>
              <a:ext uri="{FF2B5EF4-FFF2-40B4-BE49-F238E27FC236}">
                <a16:creationId xmlns:a16="http://schemas.microsoft.com/office/drawing/2014/main" id="{33E520EF-4343-E99C-087F-0232C7BC6D24}"/>
              </a:ext>
            </a:extLst>
          </p:cNvPr>
          <p:cNvSpPr txBox="1"/>
          <p:nvPr/>
        </p:nvSpPr>
        <p:spPr>
          <a:xfrm>
            <a:off x="1589784" y="6917246"/>
            <a:ext cx="335348" cy="169277"/>
          </a:xfrm>
          <a:prstGeom prst="rect">
            <a:avLst/>
          </a:prstGeom>
          <a:noFill/>
        </p:spPr>
        <p:txBody>
          <a:bodyPr wrap="none" rtlCol="0">
            <a:spAutoFit/>
          </a:bodyPr>
          <a:lstStyle/>
          <a:p>
            <a:r>
              <a:rPr lang="en-US" sz="500" dirty="0"/>
              <a:t>Lat: 1</a:t>
            </a:r>
            <a:endParaRPr lang="en-CA" sz="500" dirty="0"/>
          </a:p>
        </p:txBody>
      </p:sp>
      <p:sp>
        <p:nvSpPr>
          <p:cNvPr id="86" name="TextBox 85">
            <a:extLst>
              <a:ext uri="{FF2B5EF4-FFF2-40B4-BE49-F238E27FC236}">
                <a16:creationId xmlns:a16="http://schemas.microsoft.com/office/drawing/2014/main" id="{78FB1DF9-D495-C990-6566-49EAD69A86AB}"/>
              </a:ext>
            </a:extLst>
          </p:cNvPr>
          <p:cNvSpPr txBox="1"/>
          <p:nvPr/>
        </p:nvSpPr>
        <p:spPr>
          <a:xfrm>
            <a:off x="2241844" y="6904110"/>
            <a:ext cx="335348" cy="169277"/>
          </a:xfrm>
          <a:prstGeom prst="rect">
            <a:avLst/>
          </a:prstGeom>
          <a:noFill/>
        </p:spPr>
        <p:txBody>
          <a:bodyPr wrap="none" rtlCol="0">
            <a:spAutoFit/>
          </a:bodyPr>
          <a:lstStyle/>
          <a:p>
            <a:r>
              <a:rPr lang="en-US" sz="500" dirty="0"/>
              <a:t>Lat: 4</a:t>
            </a:r>
            <a:endParaRPr lang="en-CA" sz="500" dirty="0"/>
          </a:p>
        </p:txBody>
      </p:sp>
      <p:sp>
        <p:nvSpPr>
          <p:cNvPr id="88" name="TextBox 87">
            <a:extLst>
              <a:ext uri="{FF2B5EF4-FFF2-40B4-BE49-F238E27FC236}">
                <a16:creationId xmlns:a16="http://schemas.microsoft.com/office/drawing/2014/main" id="{49D1C316-B5D7-51AD-7A45-655722475189}"/>
              </a:ext>
            </a:extLst>
          </p:cNvPr>
          <p:cNvSpPr txBox="1"/>
          <p:nvPr/>
        </p:nvSpPr>
        <p:spPr>
          <a:xfrm>
            <a:off x="3471446" y="6904566"/>
            <a:ext cx="335348" cy="169277"/>
          </a:xfrm>
          <a:prstGeom prst="rect">
            <a:avLst/>
          </a:prstGeom>
          <a:noFill/>
        </p:spPr>
        <p:txBody>
          <a:bodyPr wrap="none" rtlCol="0">
            <a:spAutoFit/>
          </a:bodyPr>
          <a:lstStyle/>
          <a:p>
            <a:r>
              <a:rPr lang="en-US" sz="500" dirty="0"/>
              <a:t>Lat: 8</a:t>
            </a:r>
            <a:endParaRPr lang="en-CA" sz="500" dirty="0"/>
          </a:p>
        </p:txBody>
      </p:sp>
      <p:sp>
        <p:nvSpPr>
          <p:cNvPr id="89" name="TextBox 88">
            <a:extLst>
              <a:ext uri="{FF2B5EF4-FFF2-40B4-BE49-F238E27FC236}">
                <a16:creationId xmlns:a16="http://schemas.microsoft.com/office/drawing/2014/main" id="{357226EE-43AD-3F0F-0A0E-8ECA87874481}"/>
              </a:ext>
            </a:extLst>
          </p:cNvPr>
          <p:cNvSpPr txBox="1"/>
          <p:nvPr/>
        </p:nvSpPr>
        <p:spPr>
          <a:xfrm>
            <a:off x="4106332" y="6895343"/>
            <a:ext cx="335348" cy="169277"/>
          </a:xfrm>
          <a:prstGeom prst="rect">
            <a:avLst/>
          </a:prstGeom>
          <a:noFill/>
        </p:spPr>
        <p:txBody>
          <a:bodyPr wrap="none" rtlCol="0">
            <a:spAutoFit/>
          </a:bodyPr>
          <a:lstStyle/>
          <a:p>
            <a:r>
              <a:rPr lang="en-US" sz="500" dirty="0"/>
              <a:t>Lat: 8</a:t>
            </a:r>
            <a:endParaRPr lang="en-CA" sz="500" dirty="0"/>
          </a:p>
        </p:txBody>
      </p:sp>
      <p:sp>
        <p:nvSpPr>
          <p:cNvPr id="90" name="TextBox 89">
            <a:extLst>
              <a:ext uri="{FF2B5EF4-FFF2-40B4-BE49-F238E27FC236}">
                <a16:creationId xmlns:a16="http://schemas.microsoft.com/office/drawing/2014/main" id="{3E8870B3-430D-D283-D86C-4C514A5BF941}"/>
              </a:ext>
            </a:extLst>
          </p:cNvPr>
          <p:cNvSpPr txBox="1"/>
          <p:nvPr/>
        </p:nvSpPr>
        <p:spPr>
          <a:xfrm>
            <a:off x="4761541" y="6903232"/>
            <a:ext cx="365806" cy="169277"/>
          </a:xfrm>
          <a:prstGeom prst="rect">
            <a:avLst/>
          </a:prstGeom>
          <a:noFill/>
        </p:spPr>
        <p:txBody>
          <a:bodyPr wrap="none" rtlCol="0">
            <a:spAutoFit/>
          </a:bodyPr>
          <a:lstStyle/>
          <a:p>
            <a:r>
              <a:rPr lang="en-US" sz="500" dirty="0"/>
              <a:t>Lat: ??</a:t>
            </a:r>
            <a:endParaRPr lang="en-CA" sz="500" dirty="0"/>
          </a:p>
        </p:txBody>
      </p:sp>
      <p:sp>
        <p:nvSpPr>
          <p:cNvPr id="91" name="TextBox 90">
            <a:extLst>
              <a:ext uri="{FF2B5EF4-FFF2-40B4-BE49-F238E27FC236}">
                <a16:creationId xmlns:a16="http://schemas.microsoft.com/office/drawing/2014/main" id="{CD0E5963-C409-D8AD-920C-2D8AB5A17E9C}"/>
              </a:ext>
            </a:extLst>
          </p:cNvPr>
          <p:cNvSpPr txBox="1"/>
          <p:nvPr/>
        </p:nvSpPr>
        <p:spPr>
          <a:xfrm>
            <a:off x="5683502" y="6109287"/>
            <a:ext cx="335348" cy="169277"/>
          </a:xfrm>
          <a:prstGeom prst="rect">
            <a:avLst/>
          </a:prstGeom>
          <a:noFill/>
        </p:spPr>
        <p:txBody>
          <a:bodyPr wrap="none" rtlCol="0">
            <a:spAutoFit/>
          </a:bodyPr>
          <a:lstStyle/>
          <a:p>
            <a:r>
              <a:rPr lang="en-US" sz="500" dirty="0"/>
              <a:t>Lat: 1</a:t>
            </a:r>
            <a:endParaRPr lang="en-CA" sz="500" dirty="0"/>
          </a:p>
        </p:txBody>
      </p:sp>
      <p:sp>
        <p:nvSpPr>
          <p:cNvPr id="92" name="TextBox 91">
            <a:extLst>
              <a:ext uri="{FF2B5EF4-FFF2-40B4-BE49-F238E27FC236}">
                <a16:creationId xmlns:a16="http://schemas.microsoft.com/office/drawing/2014/main" id="{5181DFDA-4CD0-5C12-2298-C7B2CE37957D}"/>
              </a:ext>
            </a:extLst>
          </p:cNvPr>
          <p:cNvSpPr txBox="1"/>
          <p:nvPr/>
        </p:nvSpPr>
        <p:spPr>
          <a:xfrm>
            <a:off x="8956101" y="6795668"/>
            <a:ext cx="335348" cy="169277"/>
          </a:xfrm>
          <a:prstGeom prst="rect">
            <a:avLst/>
          </a:prstGeom>
          <a:noFill/>
        </p:spPr>
        <p:txBody>
          <a:bodyPr wrap="none" rtlCol="0">
            <a:spAutoFit/>
          </a:bodyPr>
          <a:lstStyle/>
          <a:p>
            <a:r>
              <a:rPr lang="en-US" sz="500" dirty="0"/>
              <a:t>Lat: 3</a:t>
            </a:r>
            <a:endParaRPr lang="en-CA" sz="500" dirty="0"/>
          </a:p>
        </p:txBody>
      </p:sp>
      <p:sp>
        <p:nvSpPr>
          <p:cNvPr id="87" name="TextBox 86">
            <a:extLst>
              <a:ext uri="{FF2B5EF4-FFF2-40B4-BE49-F238E27FC236}">
                <a16:creationId xmlns:a16="http://schemas.microsoft.com/office/drawing/2014/main" id="{AF88EC9D-8895-9EB8-CB82-C39049FDD38D}"/>
              </a:ext>
            </a:extLst>
          </p:cNvPr>
          <p:cNvSpPr txBox="1"/>
          <p:nvPr/>
        </p:nvSpPr>
        <p:spPr>
          <a:xfrm>
            <a:off x="2831086" y="6915789"/>
            <a:ext cx="365806" cy="169277"/>
          </a:xfrm>
          <a:prstGeom prst="rect">
            <a:avLst/>
          </a:prstGeom>
          <a:noFill/>
        </p:spPr>
        <p:txBody>
          <a:bodyPr wrap="none" rtlCol="0">
            <a:spAutoFit/>
          </a:bodyPr>
          <a:lstStyle/>
          <a:p>
            <a:r>
              <a:rPr lang="en-US" sz="500" dirty="0"/>
              <a:t>Lat: ??</a:t>
            </a:r>
            <a:endParaRPr lang="en-CA" sz="500" dirty="0"/>
          </a:p>
        </p:txBody>
      </p:sp>
      <p:sp>
        <p:nvSpPr>
          <p:cNvPr id="24" name="Rectangle 23">
            <a:extLst>
              <a:ext uri="{FF2B5EF4-FFF2-40B4-BE49-F238E27FC236}">
                <a16:creationId xmlns:a16="http://schemas.microsoft.com/office/drawing/2014/main" id="{E481DB56-C5C9-7AC4-0EE9-D297C341DF43}"/>
              </a:ext>
            </a:extLst>
          </p:cNvPr>
          <p:cNvSpPr/>
          <p:nvPr/>
        </p:nvSpPr>
        <p:spPr>
          <a:xfrm>
            <a:off x="9340340" y="5894015"/>
            <a:ext cx="615494" cy="5329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Neural Network</a:t>
            </a:r>
          </a:p>
          <a:p>
            <a:pPr algn="ctr"/>
            <a:r>
              <a:rPr lang="en-US" sz="700" dirty="0"/>
              <a:t>16 parallel neurons</a:t>
            </a:r>
            <a:endParaRPr lang="en-CA" sz="700" dirty="0"/>
          </a:p>
        </p:txBody>
      </p:sp>
      <p:sp>
        <p:nvSpPr>
          <p:cNvPr id="25" name="Arrow: Up-Down 24">
            <a:extLst>
              <a:ext uri="{FF2B5EF4-FFF2-40B4-BE49-F238E27FC236}">
                <a16:creationId xmlns:a16="http://schemas.microsoft.com/office/drawing/2014/main" id="{DB92EDD2-6E78-2318-1091-5B24DD3F35EA}"/>
              </a:ext>
            </a:extLst>
          </p:cNvPr>
          <p:cNvSpPr/>
          <p:nvPr/>
        </p:nvSpPr>
        <p:spPr>
          <a:xfrm>
            <a:off x="9474441" y="5103668"/>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3</a:t>
            </a:r>
            <a:endParaRPr lang="en-CA" sz="1000" dirty="0">
              <a:solidFill>
                <a:schemeClr val="bg1"/>
              </a:solidFill>
            </a:endParaRPr>
          </a:p>
        </p:txBody>
      </p:sp>
      <p:sp>
        <p:nvSpPr>
          <p:cNvPr id="27" name="Arrow: Down 26">
            <a:extLst>
              <a:ext uri="{FF2B5EF4-FFF2-40B4-BE49-F238E27FC236}">
                <a16:creationId xmlns:a16="http://schemas.microsoft.com/office/drawing/2014/main" id="{C9B770E9-9E36-BC7B-CD3A-649836BF1379}"/>
              </a:ext>
            </a:extLst>
          </p:cNvPr>
          <p:cNvSpPr/>
          <p:nvPr/>
        </p:nvSpPr>
        <p:spPr>
          <a:xfrm>
            <a:off x="9451831" y="6435944"/>
            <a:ext cx="412386" cy="12072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CA" dirty="0"/>
          </a:p>
        </p:txBody>
      </p:sp>
      <p:sp>
        <p:nvSpPr>
          <p:cNvPr id="29" name="Rectangle 28">
            <a:extLst>
              <a:ext uri="{FF2B5EF4-FFF2-40B4-BE49-F238E27FC236}">
                <a16:creationId xmlns:a16="http://schemas.microsoft.com/office/drawing/2014/main" id="{4CDDCB0D-07E3-F8C0-A2F8-13C02CA1A8B4}"/>
              </a:ext>
            </a:extLst>
          </p:cNvPr>
          <p:cNvSpPr/>
          <p:nvPr/>
        </p:nvSpPr>
        <p:spPr>
          <a:xfrm>
            <a:off x="4990744" y="3501026"/>
            <a:ext cx="72000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Port Packing</a:t>
            </a:r>
            <a:endParaRPr lang="en-CA" sz="700" dirty="0"/>
          </a:p>
        </p:txBody>
      </p:sp>
      <p:sp>
        <p:nvSpPr>
          <p:cNvPr id="30" name="Arrow: Up-Down 29">
            <a:extLst>
              <a:ext uri="{FF2B5EF4-FFF2-40B4-BE49-F238E27FC236}">
                <a16:creationId xmlns:a16="http://schemas.microsoft.com/office/drawing/2014/main" id="{44EB0E90-3C35-259C-59F8-3056456FD5B3}"/>
              </a:ext>
            </a:extLst>
          </p:cNvPr>
          <p:cNvSpPr/>
          <p:nvPr/>
        </p:nvSpPr>
        <p:spPr>
          <a:xfrm>
            <a:off x="5251488" y="3699565"/>
            <a:ext cx="212826" cy="33736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13</a:t>
            </a:r>
            <a:endParaRPr lang="en-CA" sz="1000" dirty="0"/>
          </a:p>
        </p:txBody>
      </p:sp>
      <p:sp>
        <p:nvSpPr>
          <p:cNvPr id="31" name="TextBox 30">
            <a:extLst>
              <a:ext uri="{FF2B5EF4-FFF2-40B4-BE49-F238E27FC236}">
                <a16:creationId xmlns:a16="http://schemas.microsoft.com/office/drawing/2014/main" id="{0D5F0C49-D56C-37EF-6204-191B87F32ACB}"/>
              </a:ext>
            </a:extLst>
          </p:cNvPr>
          <p:cNvSpPr txBox="1"/>
          <p:nvPr/>
        </p:nvSpPr>
        <p:spPr>
          <a:xfrm>
            <a:off x="559297" y="3468949"/>
            <a:ext cx="3643143" cy="1277273"/>
          </a:xfrm>
          <a:prstGeom prst="rect">
            <a:avLst/>
          </a:prstGeom>
          <a:noFill/>
        </p:spPr>
        <p:txBody>
          <a:bodyPr wrap="square" rtlCol="0">
            <a:spAutoFit/>
          </a:bodyPr>
          <a:lstStyle/>
          <a:p>
            <a:r>
              <a:rPr lang="en-US" sz="1100" dirty="0"/>
              <a:t>Rotating muxes change the read/write port priority every clock cycle to prevent ports from starving.</a:t>
            </a:r>
          </a:p>
          <a:p>
            <a:endParaRPr lang="en-US" sz="1100" dirty="0"/>
          </a:p>
          <a:p>
            <a:r>
              <a:rPr lang="en-US" sz="1100" dirty="0"/>
              <a:t>There is bypassing from register file inputs to reservation stations.</a:t>
            </a:r>
          </a:p>
          <a:p>
            <a:endParaRPr lang="en-US" sz="1100" dirty="0"/>
          </a:p>
          <a:p>
            <a:r>
              <a:rPr lang="en-US" sz="1100" dirty="0"/>
              <a:t>Reservation stations have three entry input queues.</a:t>
            </a:r>
            <a:endParaRPr lang="en-CA" sz="1100" dirty="0"/>
          </a:p>
        </p:txBody>
      </p:sp>
      <p:sp>
        <p:nvSpPr>
          <p:cNvPr id="32" name="Rectangle 31">
            <a:extLst>
              <a:ext uri="{FF2B5EF4-FFF2-40B4-BE49-F238E27FC236}">
                <a16:creationId xmlns:a16="http://schemas.microsoft.com/office/drawing/2014/main" id="{C968DA46-1AA2-CE2E-542C-0AB89CE5CBE1}"/>
              </a:ext>
            </a:extLst>
          </p:cNvPr>
          <p:cNvSpPr/>
          <p:nvPr/>
        </p:nvSpPr>
        <p:spPr>
          <a:xfrm>
            <a:off x="10017514" y="5905127"/>
            <a:ext cx="491354"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Crypto</a:t>
            </a:r>
            <a:endParaRPr lang="en-CA" sz="700" dirty="0"/>
          </a:p>
        </p:txBody>
      </p:sp>
      <p:sp>
        <p:nvSpPr>
          <p:cNvPr id="78" name="Arrow: Up-Down 77">
            <a:extLst>
              <a:ext uri="{FF2B5EF4-FFF2-40B4-BE49-F238E27FC236}">
                <a16:creationId xmlns:a16="http://schemas.microsoft.com/office/drawing/2014/main" id="{5AA53529-B298-EF3D-BEB2-1D4443ECAF4C}"/>
              </a:ext>
            </a:extLst>
          </p:cNvPr>
          <p:cNvSpPr/>
          <p:nvPr/>
        </p:nvSpPr>
        <p:spPr>
          <a:xfrm>
            <a:off x="10063047" y="5110501"/>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1</a:t>
            </a:r>
            <a:endParaRPr lang="en-CA" sz="1000" dirty="0">
              <a:solidFill>
                <a:schemeClr val="bg1"/>
              </a:solidFill>
            </a:endParaRPr>
          </a:p>
        </p:txBody>
      </p:sp>
      <p:sp>
        <p:nvSpPr>
          <p:cNvPr id="94" name="Arrow: Down 93">
            <a:extLst>
              <a:ext uri="{FF2B5EF4-FFF2-40B4-BE49-F238E27FC236}">
                <a16:creationId xmlns:a16="http://schemas.microsoft.com/office/drawing/2014/main" id="{2B9C3FDD-E935-4F8F-A3B4-D03E1AE89E70}"/>
              </a:ext>
            </a:extLst>
          </p:cNvPr>
          <p:cNvSpPr/>
          <p:nvPr/>
        </p:nvSpPr>
        <p:spPr>
          <a:xfrm>
            <a:off x="10063046" y="6137007"/>
            <a:ext cx="412386" cy="14932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CA" dirty="0"/>
          </a:p>
        </p:txBody>
      </p:sp>
      <p:sp>
        <p:nvSpPr>
          <p:cNvPr id="95" name="Rectangle 94">
            <a:extLst>
              <a:ext uri="{FF2B5EF4-FFF2-40B4-BE49-F238E27FC236}">
                <a16:creationId xmlns:a16="http://schemas.microsoft.com/office/drawing/2014/main" id="{818A4B9F-614C-0A8D-0E5A-11F2715FEFA7}"/>
              </a:ext>
            </a:extLst>
          </p:cNvPr>
          <p:cNvSpPr/>
          <p:nvPr/>
        </p:nvSpPr>
        <p:spPr>
          <a:xfrm>
            <a:off x="4530552" y="4037979"/>
            <a:ext cx="1598322" cy="37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Register File Read</a:t>
            </a:r>
            <a:endParaRPr lang="en-CA" sz="700" dirty="0"/>
          </a:p>
        </p:txBody>
      </p:sp>
      <p:sp>
        <p:nvSpPr>
          <p:cNvPr id="97" name="TextBox 96">
            <a:extLst>
              <a:ext uri="{FF2B5EF4-FFF2-40B4-BE49-F238E27FC236}">
                <a16:creationId xmlns:a16="http://schemas.microsoft.com/office/drawing/2014/main" id="{5A1A0868-613A-7356-225A-7748D7DD9C03}"/>
              </a:ext>
            </a:extLst>
          </p:cNvPr>
          <p:cNvSpPr txBox="1"/>
          <p:nvPr/>
        </p:nvSpPr>
        <p:spPr>
          <a:xfrm>
            <a:off x="5563456" y="6545291"/>
            <a:ext cx="1555362" cy="276999"/>
          </a:xfrm>
          <a:prstGeom prst="rect">
            <a:avLst/>
          </a:prstGeom>
          <a:noFill/>
        </p:spPr>
        <p:txBody>
          <a:bodyPr wrap="none" rtlCol="0">
            <a:spAutoFit/>
          </a:bodyPr>
          <a:lstStyle/>
          <a:p>
            <a:r>
              <a:rPr lang="en-US" sz="1200" dirty="0"/>
              <a:t>Reservation Stations</a:t>
            </a:r>
            <a:endParaRPr lang="en-CA" sz="1200" dirty="0"/>
          </a:p>
        </p:txBody>
      </p:sp>
      <p:cxnSp>
        <p:nvCxnSpPr>
          <p:cNvPr id="99" name="Straight Arrow Connector 98">
            <a:extLst>
              <a:ext uri="{FF2B5EF4-FFF2-40B4-BE49-F238E27FC236}">
                <a16:creationId xmlns:a16="http://schemas.microsoft.com/office/drawing/2014/main" id="{41F93285-5143-E06F-5514-FC1C3854AE4E}"/>
              </a:ext>
            </a:extLst>
          </p:cNvPr>
          <p:cNvCxnSpPr/>
          <p:nvPr/>
        </p:nvCxnSpPr>
        <p:spPr>
          <a:xfrm flipV="1">
            <a:off x="6547438" y="6172313"/>
            <a:ext cx="138625" cy="3421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B342B8BB-585D-7B3C-4B3B-56191BF22736}"/>
              </a:ext>
            </a:extLst>
          </p:cNvPr>
          <p:cNvCxnSpPr/>
          <p:nvPr/>
        </p:nvCxnSpPr>
        <p:spPr>
          <a:xfrm flipV="1">
            <a:off x="6833705" y="6193925"/>
            <a:ext cx="371061" cy="320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8C788CD4-DE31-AEDD-1B6C-A0EE6B0EEA7A}"/>
              </a:ext>
            </a:extLst>
          </p:cNvPr>
          <p:cNvCxnSpPr/>
          <p:nvPr/>
        </p:nvCxnSpPr>
        <p:spPr>
          <a:xfrm flipV="1">
            <a:off x="6179930" y="6193925"/>
            <a:ext cx="0" cy="320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A961A69D-8F94-0A24-1763-92B5BC676AF9}"/>
              </a:ext>
            </a:extLst>
          </p:cNvPr>
          <p:cNvCxnSpPr/>
          <p:nvPr/>
        </p:nvCxnSpPr>
        <p:spPr>
          <a:xfrm flipH="1" flipV="1">
            <a:off x="5592332" y="6157734"/>
            <a:ext cx="236000" cy="4008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6" name="Rectangle 105">
            <a:extLst>
              <a:ext uri="{FF2B5EF4-FFF2-40B4-BE49-F238E27FC236}">
                <a16:creationId xmlns:a16="http://schemas.microsoft.com/office/drawing/2014/main" id="{70368FDF-06CC-5DB3-E45A-CFB9D5FE4C3F}"/>
              </a:ext>
            </a:extLst>
          </p:cNvPr>
          <p:cNvSpPr/>
          <p:nvPr/>
        </p:nvSpPr>
        <p:spPr>
          <a:xfrm>
            <a:off x="10554155" y="5905844"/>
            <a:ext cx="553884" cy="5329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Graphics</a:t>
            </a:r>
            <a:endParaRPr lang="en-CA" sz="700" dirty="0"/>
          </a:p>
        </p:txBody>
      </p:sp>
      <p:sp>
        <p:nvSpPr>
          <p:cNvPr id="107" name="Arrow: Up-Down 106">
            <a:extLst>
              <a:ext uri="{FF2B5EF4-FFF2-40B4-BE49-F238E27FC236}">
                <a16:creationId xmlns:a16="http://schemas.microsoft.com/office/drawing/2014/main" id="{0B3BB0DD-364C-9C0A-D374-2C3A40385486}"/>
              </a:ext>
            </a:extLst>
          </p:cNvPr>
          <p:cNvSpPr/>
          <p:nvPr/>
        </p:nvSpPr>
        <p:spPr>
          <a:xfrm>
            <a:off x="10644764" y="5118725"/>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3</a:t>
            </a:r>
            <a:endParaRPr lang="en-CA" sz="1000" dirty="0">
              <a:solidFill>
                <a:schemeClr val="bg1"/>
              </a:solidFill>
            </a:endParaRPr>
          </a:p>
        </p:txBody>
      </p:sp>
      <p:sp>
        <p:nvSpPr>
          <p:cNvPr id="109" name="Arrow: Down 108">
            <a:extLst>
              <a:ext uri="{FF2B5EF4-FFF2-40B4-BE49-F238E27FC236}">
                <a16:creationId xmlns:a16="http://schemas.microsoft.com/office/drawing/2014/main" id="{6FBE0B35-0304-3DC6-3097-3C12B2CB2125}"/>
              </a:ext>
            </a:extLst>
          </p:cNvPr>
          <p:cNvSpPr/>
          <p:nvPr/>
        </p:nvSpPr>
        <p:spPr>
          <a:xfrm>
            <a:off x="10614525" y="6443924"/>
            <a:ext cx="412386" cy="11949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CA" dirty="0"/>
          </a:p>
        </p:txBody>
      </p:sp>
      <p:sp>
        <p:nvSpPr>
          <p:cNvPr id="23" name="Rectangle 22">
            <a:extLst>
              <a:ext uri="{FF2B5EF4-FFF2-40B4-BE49-F238E27FC236}">
                <a16:creationId xmlns:a16="http://schemas.microsoft.com/office/drawing/2014/main" id="{6B522A12-A492-6A1C-4438-ABFA464B5CC0}"/>
              </a:ext>
            </a:extLst>
          </p:cNvPr>
          <p:cNvSpPr/>
          <p:nvPr/>
        </p:nvSpPr>
        <p:spPr>
          <a:xfrm>
            <a:off x="11158799" y="5913115"/>
            <a:ext cx="706314" cy="5329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Capabilities</a:t>
            </a:r>
            <a:endParaRPr lang="en-CA" sz="700" dirty="0"/>
          </a:p>
        </p:txBody>
      </p:sp>
      <p:sp>
        <p:nvSpPr>
          <p:cNvPr id="26" name="Arrow: Down 25">
            <a:extLst>
              <a:ext uri="{FF2B5EF4-FFF2-40B4-BE49-F238E27FC236}">
                <a16:creationId xmlns:a16="http://schemas.microsoft.com/office/drawing/2014/main" id="{FB420181-00EB-476F-E8E1-511C1E684828}"/>
              </a:ext>
            </a:extLst>
          </p:cNvPr>
          <p:cNvSpPr/>
          <p:nvPr/>
        </p:nvSpPr>
        <p:spPr>
          <a:xfrm>
            <a:off x="11293701" y="6450609"/>
            <a:ext cx="412386" cy="11949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CA" dirty="0"/>
          </a:p>
        </p:txBody>
      </p:sp>
      <p:sp>
        <p:nvSpPr>
          <p:cNvPr id="28" name="Arrow: Up-Down 27">
            <a:extLst>
              <a:ext uri="{FF2B5EF4-FFF2-40B4-BE49-F238E27FC236}">
                <a16:creationId xmlns:a16="http://schemas.microsoft.com/office/drawing/2014/main" id="{11D3DA34-9AD0-64AB-B290-A53E3F8CB104}"/>
              </a:ext>
            </a:extLst>
          </p:cNvPr>
          <p:cNvSpPr/>
          <p:nvPr/>
        </p:nvSpPr>
        <p:spPr>
          <a:xfrm>
            <a:off x="11140361" y="5125389"/>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3</a:t>
            </a:r>
            <a:endParaRPr lang="en-CA" sz="1000" dirty="0">
              <a:solidFill>
                <a:schemeClr val="bg1"/>
              </a:solidFill>
            </a:endParaRPr>
          </a:p>
        </p:txBody>
      </p:sp>
      <p:sp>
        <p:nvSpPr>
          <p:cNvPr id="48" name="Arrow: Up-Down 47">
            <a:extLst>
              <a:ext uri="{FF2B5EF4-FFF2-40B4-BE49-F238E27FC236}">
                <a16:creationId xmlns:a16="http://schemas.microsoft.com/office/drawing/2014/main" id="{93F6DCD7-0DCD-999B-1D94-DD1C827A5C8D}"/>
              </a:ext>
            </a:extLst>
          </p:cNvPr>
          <p:cNvSpPr/>
          <p:nvPr/>
        </p:nvSpPr>
        <p:spPr>
          <a:xfrm>
            <a:off x="11536018" y="5128354"/>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3</a:t>
            </a:r>
            <a:endParaRPr lang="en-CA" sz="1000" dirty="0">
              <a:solidFill>
                <a:schemeClr val="bg1"/>
              </a:solidFill>
            </a:endParaRPr>
          </a:p>
        </p:txBody>
      </p:sp>
      <p:sp>
        <p:nvSpPr>
          <p:cNvPr id="22" name="Rectangle 21">
            <a:extLst>
              <a:ext uri="{FF2B5EF4-FFF2-40B4-BE49-F238E27FC236}">
                <a16:creationId xmlns:a16="http://schemas.microsoft.com/office/drawing/2014/main" id="{C4B08F64-0CD3-8980-398C-ADBA3AB49225}"/>
              </a:ext>
            </a:extLst>
          </p:cNvPr>
          <p:cNvSpPr/>
          <p:nvPr/>
        </p:nvSpPr>
        <p:spPr>
          <a:xfrm>
            <a:off x="2494049" y="6432670"/>
            <a:ext cx="657348"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Hardware Queues</a:t>
            </a:r>
            <a:endParaRPr lang="en-CA" sz="700" dirty="0"/>
          </a:p>
        </p:txBody>
      </p:sp>
    </p:spTree>
    <p:extLst>
      <p:ext uri="{BB962C8B-B14F-4D97-AF65-F5344CB8AC3E}">
        <p14:creationId xmlns:p14="http://schemas.microsoft.com/office/powerpoint/2010/main" val="3493996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6A82-092D-CF16-A768-4B843A414F2D}"/>
              </a:ext>
            </a:extLst>
          </p:cNvPr>
          <p:cNvSpPr>
            <a:spLocks noGrp="1"/>
          </p:cNvSpPr>
          <p:nvPr>
            <p:ph type="title"/>
          </p:nvPr>
        </p:nvSpPr>
        <p:spPr>
          <a:xfrm>
            <a:off x="80683" y="2719902"/>
            <a:ext cx="10515600" cy="1325563"/>
          </a:xfrm>
        </p:spPr>
        <p:txBody>
          <a:bodyPr/>
          <a:lstStyle/>
          <a:p>
            <a:r>
              <a:rPr lang="en-US" dirty="0"/>
              <a:t>Qupls4: Reservation Stations</a:t>
            </a:r>
            <a:endParaRPr lang="en-CA" dirty="0"/>
          </a:p>
        </p:txBody>
      </p:sp>
      <p:sp>
        <p:nvSpPr>
          <p:cNvPr id="4" name="Rectangle 3">
            <a:extLst>
              <a:ext uri="{FF2B5EF4-FFF2-40B4-BE49-F238E27FC236}">
                <a16:creationId xmlns:a16="http://schemas.microsoft.com/office/drawing/2014/main" id="{96954E2B-447A-3F7A-0FC3-E6CAE451E1D5}"/>
              </a:ext>
            </a:extLst>
          </p:cNvPr>
          <p:cNvSpPr/>
          <p:nvPr/>
        </p:nvSpPr>
        <p:spPr>
          <a:xfrm>
            <a:off x="701133" y="5740253"/>
            <a:ext cx="1307548"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#1</a:t>
            </a:r>
            <a:endParaRPr lang="en-CA" sz="1100" dirty="0"/>
          </a:p>
        </p:txBody>
      </p:sp>
      <p:sp>
        <p:nvSpPr>
          <p:cNvPr id="5" name="Rectangle 4">
            <a:extLst>
              <a:ext uri="{FF2B5EF4-FFF2-40B4-BE49-F238E27FC236}">
                <a16:creationId xmlns:a16="http://schemas.microsoft.com/office/drawing/2014/main" id="{46355EF9-E535-BB32-A603-315D68A4CF9D}"/>
              </a:ext>
            </a:extLst>
          </p:cNvPr>
          <p:cNvSpPr/>
          <p:nvPr/>
        </p:nvSpPr>
        <p:spPr>
          <a:xfrm>
            <a:off x="2079618" y="5740253"/>
            <a:ext cx="1307548"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#2</a:t>
            </a:r>
            <a:endParaRPr lang="en-CA" sz="1100" dirty="0"/>
          </a:p>
        </p:txBody>
      </p:sp>
      <p:sp>
        <p:nvSpPr>
          <p:cNvPr id="6" name="Rectangle 5">
            <a:extLst>
              <a:ext uri="{FF2B5EF4-FFF2-40B4-BE49-F238E27FC236}">
                <a16:creationId xmlns:a16="http://schemas.microsoft.com/office/drawing/2014/main" id="{D153A54E-9958-C86D-AFF0-6DF07F6D11E5}"/>
              </a:ext>
            </a:extLst>
          </p:cNvPr>
          <p:cNvSpPr/>
          <p:nvPr/>
        </p:nvSpPr>
        <p:spPr>
          <a:xfrm>
            <a:off x="3458102" y="5740253"/>
            <a:ext cx="1298454"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#3</a:t>
            </a:r>
            <a:endParaRPr lang="en-CA" sz="1100" dirty="0"/>
          </a:p>
        </p:txBody>
      </p:sp>
      <p:sp>
        <p:nvSpPr>
          <p:cNvPr id="7" name="Rectangle 6">
            <a:extLst>
              <a:ext uri="{FF2B5EF4-FFF2-40B4-BE49-F238E27FC236}">
                <a16:creationId xmlns:a16="http://schemas.microsoft.com/office/drawing/2014/main" id="{0AB29C90-9E5D-09FF-C54D-5686CF22F15D}"/>
              </a:ext>
            </a:extLst>
          </p:cNvPr>
          <p:cNvSpPr/>
          <p:nvPr/>
        </p:nvSpPr>
        <p:spPr>
          <a:xfrm>
            <a:off x="4827492" y="5740253"/>
            <a:ext cx="1298454"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#4</a:t>
            </a:r>
            <a:endParaRPr lang="en-CA" sz="1100" dirty="0"/>
          </a:p>
        </p:txBody>
      </p:sp>
      <p:sp>
        <p:nvSpPr>
          <p:cNvPr id="8" name="Rectangle 7">
            <a:extLst>
              <a:ext uri="{FF2B5EF4-FFF2-40B4-BE49-F238E27FC236}">
                <a16:creationId xmlns:a16="http://schemas.microsoft.com/office/drawing/2014/main" id="{02C55BF0-D12E-9A47-9CAD-7AD610798C73}"/>
              </a:ext>
            </a:extLst>
          </p:cNvPr>
          <p:cNvSpPr/>
          <p:nvPr/>
        </p:nvSpPr>
        <p:spPr>
          <a:xfrm>
            <a:off x="643708" y="5468584"/>
            <a:ext cx="5546293" cy="654749"/>
          </a:xfrm>
          <a:prstGeom prst="rect">
            <a:avLst/>
          </a:prstGeom>
          <a:solidFill>
            <a:schemeClr val="accent1">
              <a:alpha val="4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Queue Entry #1</a:t>
            </a:r>
            <a:endParaRPr lang="en-CA" sz="1200" dirty="0">
              <a:solidFill>
                <a:schemeClr val="tx1"/>
              </a:solidFill>
            </a:endParaRPr>
          </a:p>
        </p:txBody>
      </p:sp>
      <p:sp>
        <p:nvSpPr>
          <p:cNvPr id="9" name="Rectangle 8">
            <a:extLst>
              <a:ext uri="{FF2B5EF4-FFF2-40B4-BE49-F238E27FC236}">
                <a16:creationId xmlns:a16="http://schemas.microsoft.com/office/drawing/2014/main" id="{C598CC17-9D06-901F-3C9C-8A12A1EBB6B7}"/>
              </a:ext>
            </a:extLst>
          </p:cNvPr>
          <p:cNvSpPr/>
          <p:nvPr/>
        </p:nvSpPr>
        <p:spPr>
          <a:xfrm>
            <a:off x="701133" y="6829140"/>
            <a:ext cx="1307548"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#1</a:t>
            </a:r>
            <a:endParaRPr lang="en-CA" sz="1100" dirty="0"/>
          </a:p>
        </p:txBody>
      </p:sp>
      <p:sp>
        <p:nvSpPr>
          <p:cNvPr id="10" name="Rectangle 9">
            <a:extLst>
              <a:ext uri="{FF2B5EF4-FFF2-40B4-BE49-F238E27FC236}">
                <a16:creationId xmlns:a16="http://schemas.microsoft.com/office/drawing/2014/main" id="{5A1B46AF-FFB7-C943-5143-303058ED2177}"/>
              </a:ext>
            </a:extLst>
          </p:cNvPr>
          <p:cNvSpPr/>
          <p:nvPr/>
        </p:nvSpPr>
        <p:spPr>
          <a:xfrm>
            <a:off x="2079618" y="6829140"/>
            <a:ext cx="1307548"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#2</a:t>
            </a:r>
            <a:endParaRPr lang="en-CA" sz="1100" dirty="0"/>
          </a:p>
        </p:txBody>
      </p:sp>
      <p:sp>
        <p:nvSpPr>
          <p:cNvPr id="11" name="Rectangle 10">
            <a:extLst>
              <a:ext uri="{FF2B5EF4-FFF2-40B4-BE49-F238E27FC236}">
                <a16:creationId xmlns:a16="http://schemas.microsoft.com/office/drawing/2014/main" id="{AB787AFF-4B81-57CD-C80A-3A45635AEDCE}"/>
              </a:ext>
            </a:extLst>
          </p:cNvPr>
          <p:cNvSpPr/>
          <p:nvPr/>
        </p:nvSpPr>
        <p:spPr>
          <a:xfrm>
            <a:off x="3458102" y="6829140"/>
            <a:ext cx="1298454"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#3</a:t>
            </a:r>
            <a:endParaRPr lang="en-CA" sz="1100" dirty="0"/>
          </a:p>
        </p:txBody>
      </p:sp>
      <p:sp>
        <p:nvSpPr>
          <p:cNvPr id="12" name="Rectangle 11">
            <a:extLst>
              <a:ext uri="{FF2B5EF4-FFF2-40B4-BE49-F238E27FC236}">
                <a16:creationId xmlns:a16="http://schemas.microsoft.com/office/drawing/2014/main" id="{2173CF43-E767-12EB-0CA2-01FC0DA056FA}"/>
              </a:ext>
            </a:extLst>
          </p:cNvPr>
          <p:cNvSpPr/>
          <p:nvPr/>
        </p:nvSpPr>
        <p:spPr>
          <a:xfrm>
            <a:off x="4827492" y="6829140"/>
            <a:ext cx="1298454"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#4</a:t>
            </a:r>
            <a:endParaRPr lang="en-CA" sz="1100" dirty="0"/>
          </a:p>
        </p:txBody>
      </p:sp>
      <p:sp>
        <p:nvSpPr>
          <p:cNvPr id="13" name="Rectangle 12">
            <a:extLst>
              <a:ext uri="{FF2B5EF4-FFF2-40B4-BE49-F238E27FC236}">
                <a16:creationId xmlns:a16="http://schemas.microsoft.com/office/drawing/2014/main" id="{90EF87FE-1F84-5C9D-BDA3-2C56432EBBA3}"/>
              </a:ext>
            </a:extLst>
          </p:cNvPr>
          <p:cNvSpPr/>
          <p:nvPr/>
        </p:nvSpPr>
        <p:spPr>
          <a:xfrm>
            <a:off x="643708" y="6557471"/>
            <a:ext cx="5546293" cy="654749"/>
          </a:xfrm>
          <a:prstGeom prst="rect">
            <a:avLst/>
          </a:prstGeom>
          <a:solidFill>
            <a:schemeClr val="accent1">
              <a:alpha val="4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Queue Entry #2</a:t>
            </a:r>
            <a:endParaRPr lang="en-CA" sz="1200" dirty="0">
              <a:solidFill>
                <a:schemeClr val="tx1"/>
              </a:solidFill>
            </a:endParaRPr>
          </a:p>
        </p:txBody>
      </p:sp>
      <p:sp>
        <p:nvSpPr>
          <p:cNvPr id="14" name="Rectangle 13">
            <a:extLst>
              <a:ext uri="{FF2B5EF4-FFF2-40B4-BE49-F238E27FC236}">
                <a16:creationId xmlns:a16="http://schemas.microsoft.com/office/drawing/2014/main" id="{C9BD3838-BBDB-84C4-AD94-659C06006C1C}"/>
              </a:ext>
            </a:extLst>
          </p:cNvPr>
          <p:cNvSpPr/>
          <p:nvPr/>
        </p:nvSpPr>
        <p:spPr>
          <a:xfrm>
            <a:off x="701133" y="7918027"/>
            <a:ext cx="1307548"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#1</a:t>
            </a:r>
            <a:endParaRPr lang="en-CA" sz="1100" dirty="0"/>
          </a:p>
        </p:txBody>
      </p:sp>
      <p:sp>
        <p:nvSpPr>
          <p:cNvPr id="15" name="Rectangle 14">
            <a:extLst>
              <a:ext uri="{FF2B5EF4-FFF2-40B4-BE49-F238E27FC236}">
                <a16:creationId xmlns:a16="http://schemas.microsoft.com/office/drawing/2014/main" id="{C5572CD2-600D-3953-1A11-0F4FD1D662D2}"/>
              </a:ext>
            </a:extLst>
          </p:cNvPr>
          <p:cNvSpPr/>
          <p:nvPr/>
        </p:nvSpPr>
        <p:spPr>
          <a:xfrm>
            <a:off x="2079618" y="7918027"/>
            <a:ext cx="1307548"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#2</a:t>
            </a:r>
            <a:endParaRPr lang="en-CA" sz="1100" dirty="0"/>
          </a:p>
        </p:txBody>
      </p:sp>
      <p:sp>
        <p:nvSpPr>
          <p:cNvPr id="16" name="Rectangle 15">
            <a:extLst>
              <a:ext uri="{FF2B5EF4-FFF2-40B4-BE49-F238E27FC236}">
                <a16:creationId xmlns:a16="http://schemas.microsoft.com/office/drawing/2014/main" id="{FA1C4564-E4BA-2915-6206-89E01FF3C157}"/>
              </a:ext>
            </a:extLst>
          </p:cNvPr>
          <p:cNvSpPr/>
          <p:nvPr/>
        </p:nvSpPr>
        <p:spPr>
          <a:xfrm>
            <a:off x="3458102" y="7918027"/>
            <a:ext cx="1298454"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#3</a:t>
            </a:r>
            <a:endParaRPr lang="en-CA" sz="1100" dirty="0"/>
          </a:p>
        </p:txBody>
      </p:sp>
      <p:sp>
        <p:nvSpPr>
          <p:cNvPr id="17" name="Rectangle 16">
            <a:extLst>
              <a:ext uri="{FF2B5EF4-FFF2-40B4-BE49-F238E27FC236}">
                <a16:creationId xmlns:a16="http://schemas.microsoft.com/office/drawing/2014/main" id="{E3A8AAAC-D734-A25E-54BD-D9F10ECD2BCB}"/>
              </a:ext>
            </a:extLst>
          </p:cNvPr>
          <p:cNvSpPr/>
          <p:nvPr/>
        </p:nvSpPr>
        <p:spPr>
          <a:xfrm>
            <a:off x="4827492" y="7918027"/>
            <a:ext cx="1298454" cy="2284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Operand Latch #4</a:t>
            </a:r>
            <a:endParaRPr lang="en-CA" sz="1100" dirty="0"/>
          </a:p>
        </p:txBody>
      </p:sp>
      <p:sp>
        <p:nvSpPr>
          <p:cNvPr id="18" name="Rectangle 17">
            <a:extLst>
              <a:ext uri="{FF2B5EF4-FFF2-40B4-BE49-F238E27FC236}">
                <a16:creationId xmlns:a16="http://schemas.microsoft.com/office/drawing/2014/main" id="{89914D81-351C-9715-996D-D351355B0C9A}"/>
              </a:ext>
            </a:extLst>
          </p:cNvPr>
          <p:cNvSpPr/>
          <p:nvPr/>
        </p:nvSpPr>
        <p:spPr>
          <a:xfrm>
            <a:off x="643708" y="7646358"/>
            <a:ext cx="5546293" cy="654749"/>
          </a:xfrm>
          <a:prstGeom prst="rect">
            <a:avLst/>
          </a:prstGeom>
          <a:solidFill>
            <a:schemeClr val="accent1">
              <a:alpha val="4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Queue Entry #3</a:t>
            </a:r>
            <a:endParaRPr lang="en-CA" sz="1200" dirty="0">
              <a:solidFill>
                <a:schemeClr val="tx1"/>
              </a:solidFill>
            </a:endParaRPr>
          </a:p>
        </p:txBody>
      </p:sp>
      <p:sp>
        <p:nvSpPr>
          <p:cNvPr id="19" name="Trapezoid 18">
            <a:extLst>
              <a:ext uri="{FF2B5EF4-FFF2-40B4-BE49-F238E27FC236}">
                <a16:creationId xmlns:a16="http://schemas.microsoft.com/office/drawing/2014/main" id="{929D795E-7D96-2BDD-2B15-8851834D25D3}"/>
              </a:ext>
            </a:extLst>
          </p:cNvPr>
          <p:cNvSpPr/>
          <p:nvPr/>
        </p:nvSpPr>
        <p:spPr>
          <a:xfrm rot="5400000">
            <a:off x="5676753" y="6599582"/>
            <a:ext cx="2832524" cy="570529"/>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3:1 mux</a:t>
            </a:r>
            <a:endParaRPr lang="en-CA" dirty="0"/>
          </a:p>
        </p:txBody>
      </p:sp>
      <p:sp>
        <p:nvSpPr>
          <p:cNvPr id="20" name="Arrow: Right 19">
            <a:extLst>
              <a:ext uri="{FF2B5EF4-FFF2-40B4-BE49-F238E27FC236}">
                <a16:creationId xmlns:a16="http://schemas.microsoft.com/office/drawing/2014/main" id="{1DF85E75-D397-4A14-DEC2-05368A25CF0E}"/>
              </a:ext>
            </a:extLst>
          </p:cNvPr>
          <p:cNvSpPr/>
          <p:nvPr/>
        </p:nvSpPr>
        <p:spPr>
          <a:xfrm>
            <a:off x="7378280" y="6642528"/>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Arrow: Right 20">
            <a:extLst>
              <a:ext uri="{FF2B5EF4-FFF2-40B4-BE49-F238E27FC236}">
                <a16:creationId xmlns:a16="http://schemas.microsoft.com/office/drawing/2014/main" id="{D9F6B381-9265-D55C-C89D-5AB15A169578}"/>
              </a:ext>
            </a:extLst>
          </p:cNvPr>
          <p:cNvSpPr/>
          <p:nvPr/>
        </p:nvSpPr>
        <p:spPr>
          <a:xfrm>
            <a:off x="6196882" y="5553641"/>
            <a:ext cx="61086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Arrow: Right 21">
            <a:extLst>
              <a:ext uri="{FF2B5EF4-FFF2-40B4-BE49-F238E27FC236}">
                <a16:creationId xmlns:a16="http://schemas.microsoft.com/office/drawing/2014/main" id="{8205E3F5-C275-FE86-0CDB-B1FBC2C1E576}"/>
              </a:ext>
            </a:extLst>
          </p:cNvPr>
          <p:cNvSpPr/>
          <p:nvPr/>
        </p:nvSpPr>
        <p:spPr>
          <a:xfrm>
            <a:off x="6190000" y="6642528"/>
            <a:ext cx="61086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Arrow: Right 22">
            <a:extLst>
              <a:ext uri="{FF2B5EF4-FFF2-40B4-BE49-F238E27FC236}">
                <a16:creationId xmlns:a16="http://schemas.microsoft.com/office/drawing/2014/main" id="{42184D23-A98B-E99E-AFB4-73CD36A59F16}"/>
              </a:ext>
            </a:extLst>
          </p:cNvPr>
          <p:cNvSpPr/>
          <p:nvPr/>
        </p:nvSpPr>
        <p:spPr>
          <a:xfrm>
            <a:off x="6190000" y="7731415"/>
            <a:ext cx="61086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TextBox 23">
            <a:extLst>
              <a:ext uri="{FF2B5EF4-FFF2-40B4-BE49-F238E27FC236}">
                <a16:creationId xmlns:a16="http://schemas.microsoft.com/office/drawing/2014/main" id="{2C728B52-0D23-9B07-B1EA-A00181E41FE1}"/>
              </a:ext>
            </a:extLst>
          </p:cNvPr>
          <p:cNvSpPr txBox="1"/>
          <p:nvPr/>
        </p:nvSpPr>
        <p:spPr>
          <a:xfrm>
            <a:off x="8442241" y="6557471"/>
            <a:ext cx="1973232" cy="646331"/>
          </a:xfrm>
          <a:prstGeom prst="rect">
            <a:avLst/>
          </a:prstGeom>
          <a:noFill/>
        </p:spPr>
        <p:txBody>
          <a:bodyPr wrap="none" rtlCol="0">
            <a:spAutoFit/>
          </a:bodyPr>
          <a:lstStyle/>
          <a:p>
            <a:r>
              <a:rPr lang="en-US" dirty="0"/>
              <a:t>Operands</a:t>
            </a:r>
          </a:p>
          <a:p>
            <a:r>
              <a:rPr lang="en-US" dirty="0"/>
              <a:t>To Functional Unit</a:t>
            </a:r>
            <a:endParaRPr lang="en-CA" dirty="0"/>
          </a:p>
        </p:txBody>
      </p:sp>
      <p:sp>
        <p:nvSpPr>
          <p:cNvPr id="25" name="Arrow: Down 24">
            <a:extLst>
              <a:ext uri="{FF2B5EF4-FFF2-40B4-BE49-F238E27FC236}">
                <a16:creationId xmlns:a16="http://schemas.microsoft.com/office/drawing/2014/main" id="{8018E69C-705E-4D64-316A-36575E0073ED}"/>
              </a:ext>
            </a:extLst>
          </p:cNvPr>
          <p:cNvSpPr/>
          <p:nvPr/>
        </p:nvSpPr>
        <p:spPr>
          <a:xfrm>
            <a:off x="1390245" y="4479602"/>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Arrow: Down 25">
            <a:extLst>
              <a:ext uri="{FF2B5EF4-FFF2-40B4-BE49-F238E27FC236}">
                <a16:creationId xmlns:a16="http://schemas.microsoft.com/office/drawing/2014/main" id="{8A934254-93B2-C64F-DE84-6477009B256D}"/>
              </a:ext>
            </a:extLst>
          </p:cNvPr>
          <p:cNvSpPr/>
          <p:nvPr/>
        </p:nvSpPr>
        <p:spPr>
          <a:xfrm>
            <a:off x="3083645" y="4479602"/>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FE172B27-3618-75CC-E11C-0B939FA38D45}"/>
              </a:ext>
            </a:extLst>
          </p:cNvPr>
          <p:cNvSpPr txBox="1"/>
          <p:nvPr/>
        </p:nvSpPr>
        <p:spPr>
          <a:xfrm>
            <a:off x="804406" y="4102148"/>
            <a:ext cx="1791196" cy="369332"/>
          </a:xfrm>
          <a:prstGeom prst="rect">
            <a:avLst/>
          </a:prstGeom>
          <a:noFill/>
        </p:spPr>
        <p:txBody>
          <a:bodyPr wrap="none" rtlCol="0">
            <a:spAutoFit/>
          </a:bodyPr>
          <a:lstStyle/>
          <a:p>
            <a:r>
              <a:rPr lang="en-US" dirty="0"/>
              <a:t>Bypass Network</a:t>
            </a:r>
            <a:endParaRPr lang="en-CA" dirty="0"/>
          </a:p>
        </p:txBody>
      </p:sp>
      <p:sp>
        <p:nvSpPr>
          <p:cNvPr id="28" name="TextBox 27">
            <a:extLst>
              <a:ext uri="{FF2B5EF4-FFF2-40B4-BE49-F238E27FC236}">
                <a16:creationId xmlns:a16="http://schemas.microsoft.com/office/drawing/2014/main" id="{E4589F54-267A-CC39-8888-2439935BCBA6}"/>
              </a:ext>
            </a:extLst>
          </p:cNvPr>
          <p:cNvSpPr txBox="1"/>
          <p:nvPr/>
        </p:nvSpPr>
        <p:spPr>
          <a:xfrm>
            <a:off x="2585537" y="4108953"/>
            <a:ext cx="1521792" cy="369332"/>
          </a:xfrm>
          <a:prstGeom prst="rect">
            <a:avLst/>
          </a:prstGeom>
          <a:noFill/>
        </p:spPr>
        <p:txBody>
          <a:bodyPr wrap="square" rtlCol="0">
            <a:spAutoFit/>
          </a:bodyPr>
          <a:lstStyle/>
          <a:p>
            <a:r>
              <a:rPr lang="en-US" dirty="0"/>
              <a:t>Register File</a:t>
            </a:r>
            <a:endParaRPr lang="en-CA" dirty="0"/>
          </a:p>
        </p:txBody>
      </p:sp>
      <p:sp>
        <p:nvSpPr>
          <p:cNvPr id="29" name="TextBox 28">
            <a:extLst>
              <a:ext uri="{FF2B5EF4-FFF2-40B4-BE49-F238E27FC236}">
                <a16:creationId xmlns:a16="http://schemas.microsoft.com/office/drawing/2014/main" id="{40BA8278-6C4B-8B6F-3397-A3E153371543}"/>
              </a:ext>
            </a:extLst>
          </p:cNvPr>
          <p:cNvSpPr txBox="1"/>
          <p:nvPr/>
        </p:nvSpPr>
        <p:spPr>
          <a:xfrm>
            <a:off x="7740670" y="3675789"/>
            <a:ext cx="3611477" cy="2292935"/>
          </a:xfrm>
          <a:prstGeom prst="rect">
            <a:avLst/>
          </a:prstGeom>
          <a:noFill/>
        </p:spPr>
        <p:txBody>
          <a:bodyPr wrap="square" rtlCol="0">
            <a:spAutoFit/>
          </a:bodyPr>
          <a:lstStyle/>
          <a:p>
            <a:r>
              <a:rPr lang="en-US" sz="1100" dirty="0"/>
              <a:t>A request is made to the register file to fetch values that have not been latched yet.</a:t>
            </a:r>
          </a:p>
          <a:p>
            <a:endParaRPr lang="en-US" sz="1100" dirty="0"/>
          </a:p>
          <a:p>
            <a:r>
              <a:rPr lang="en-US" sz="1100" dirty="0"/>
              <a:t>Operand latches are filled from either the register file or the results bypassing network as available.</a:t>
            </a:r>
          </a:p>
          <a:p>
            <a:endParaRPr lang="en-US" sz="1100" dirty="0"/>
          </a:p>
          <a:p>
            <a:r>
              <a:rPr lang="en-US" sz="1100" dirty="0"/>
              <a:t>Once all operands are valid for a queue entry, the instruction may be scheduled to go to the functional unit. The functional unit must also be ready to accept a new operation.</a:t>
            </a:r>
          </a:p>
          <a:p>
            <a:endParaRPr lang="en-US" sz="1100" dirty="0"/>
          </a:p>
          <a:p>
            <a:r>
              <a:rPr lang="en-US" sz="1100" dirty="0"/>
              <a:t>Once the queue entry has gone to the functional unit it is marked available for a new instruction.</a:t>
            </a:r>
            <a:endParaRPr lang="en-CA" sz="1100" dirty="0"/>
          </a:p>
        </p:txBody>
      </p:sp>
      <p:sp>
        <p:nvSpPr>
          <p:cNvPr id="30" name="Rectangle 29">
            <a:extLst>
              <a:ext uri="{FF2B5EF4-FFF2-40B4-BE49-F238E27FC236}">
                <a16:creationId xmlns:a16="http://schemas.microsoft.com/office/drawing/2014/main" id="{DCEFB8A0-EDFE-668D-C31C-2660889B30B0}"/>
              </a:ext>
            </a:extLst>
          </p:cNvPr>
          <p:cNvSpPr/>
          <p:nvPr/>
        </p:nvSpPr>
        <p:spPr>
          <a:xfrm>
            <a:off x="8376002" y="8375097"/>
            <a:ext cx="1317812" cy="635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Scheduler</a:t>
            </a:r>
            <a:endParaRPr lang="en-CA" dirty="0"/>
          </a:p>
        </p:txBody>
      </p:sp>
      <p:sp>
        <p:nvSpPr>
          <p:cNvPr id="31" name="Arrow: Down 30">
            <a:extLst>
              <a:ext uri="{FF2B5EF4-FFF2-40B4-BE49-F238E27FC236}">
                <a16:creationId xmlns:a16="http://schemas.microsoft.com/office/drawing/2014/main" id="{3341695D-A663-FD9E-1497-FA8609A3EB98}"/>
              </a:ext>
            </a:extLst>
          </p:cNvPr>
          <p:cNvSpPr/>
          <p:nvPr/>
        </p:nvSpPr>
        <p:spPr>
          <a:xfrm rot="10800000">
            <a:off x="4933101" y="4495853"/>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TextBox 31">
            <a:extLst>
              <a:ext uri="{FF2B5EF4-FFF2-40B4-BE49-F238E27FC236}">
                <a16:creationId xmlns:a16="http://schemas.microsoft.com/office/drawing/2014/main" id="{3B180A55-32E0-7DED-BF42-A7CB477B3716}"/>
              </a:ext>
            </a:extLst>
          </p:cNvPr>
          <p:cNvSpPr txBox="1"/>
          <p:nvPr/>
        </p:nvSpPr>
        <p:spPr>
          <a:xfrm>
            <a:off x="4180767" y="4107826"/>
            <a:ext cx="2473935" cy="369332"/>
          </a:xfrm>
          <a:prstGeom prst="rect">
            <a:avLst/>
          </a:prstGeom>
          <a:noFill/>
        </p:spPr>
        <p:txBody>
          <a:bodyPr wrap="square" rtlCol="0">
            <a:spAutoFit/>
          </a:bodyPr>
          <a:lstStyle/>
          <a:p>
            <a:r>
              <a:rPr lang="en-US" dirty="0"/>
              <a:t>Register Read Request</a:t>
            </a:r>
            <a:endParaRPr lang="en-CA" dirty="0"/>
          </a:p>
        </p:txBody>
      </p:sp>
    </p:spTree>
    <p:extLst>
      <p:ext uri="{BB962C8B-B14F-4D97-AF65-F5344CB8AC3E}">
        <p14:creationId xmlns:p14="http://schemas.microsoft.com/office/powerpoint/2010/main" val="1888516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B7A507-0B6D-6C1F-0AE0-BAA6239F026E}"/>
              </a:ext>
            </a:extLst>
          </p:cNvPr>
          <p:cNvPicPr>
            <a:picLocks noChangeAspect="1"/>
          </p:cNvPicPr>
          <p:nvPr/>
        </p:nvPicPr>
        <p:blipFill>
          <a:blip r:embed="rId2"/>
          <a:stretch>
            <a:fillRect/>
          </a:stretch>
        </p:blipFill>
        <p:spPr>
          <a:xfrm>
            <a:off x="3235566" y="2655094"/>
            <a:ext cx="5720869" cy="6858000"/>
          </a:xfrm>
          <a:prstGeom prst="rect">
            <a:avLst/>
          </a:prstGeom>
        </p:spPr>
      </p:pic>
      <p:sp>
        <p:nvSpPr>
          <p:cNvPr id="5" name="TextBox 4">
            <a:extLst>
              <a:ext uri="{FF2B5EF4-FFF2-40B4-BE49-F238E27FC236}">
                <a16:creationId xmlns:a16="http://schemas.microsoft.com/office/drawing/2014/main" id="{A5E199E5-4BC0-E848-B91D-06C5DD2E487F}"/>
              </a:ext>
            </a:extLst>
          </p:cNvPr>
          <p:cNvSpPr txBox="1"/>
          <p:nvPr/>
        </p:nvSpPr>
        <p:spPr>
          <a:xfrm>
            <a:off x="283465" y="3121438"/>
            <a:ext cx="2455319" cy="2369880"/>
          </a:xfrm>
          <a:prstGeom prst="rect">
            <a:avLst/>
          </a:prstGeom>
          <a:noFill/>
        </p:spPr>
        <p:txBody>
          <a:bodyPr wrap="square" rtlCol="0">
            <a:spAutoFit/>
          </a:bodyPr>
          <a:lstStyle/>
          <a:p>
            <a:r>
              <a:rPr lang="en-US" sz="1600" dirty="0"/>
              <a:t>Root Opcode Map</a:t>
            </a:r>
          </a:p>
          <a:p>
            <a:r>
              <a:rPr lang="en-US" sz="1200" dirty="0"/>
              <a:t>Orange = control</a:t>
            </a:r>
          </a:p>
          <a:p>
            <a:r>
              <a:rPr lang="en-US" sz="1200" dirty="0"/>
              <a:t>Yellow = capabilities</a:t>
            </a:r>
          </a:p>
          <a:p>
            <a:r>
              <a:rPr lang="en-US" sz="1200" dirty="0"/>
              <a:t>Grey = arithmetic</a:t>
            </a:r>
          </a:p>
          <a:p>
            <a:r>
              <a:rPr lang="en-US" sz="1200" dirty="0"/>
              <a:t>Green = branch</a:t>
            </a:r>
          </a:p>
          <a:p>
            <a:r>
              <a:rPr lang="en-US" sz="1200" dirty="0"/>
              <a:t>Pink = memory</a:t>
            </a:r>
          </a:p>
          <a:p>
            <a:endParaRPr lang="en-US" sz="1200" dirty="0"/>
          </a:p>
          <a:p>
            <a:r>
              <a:rPr lang="en-US" sz="1200" dirty="0"/>
              <a:t>There are about 25 open opcodes and the instruction set is pretty complete. There may be some more graphics or AI instructions </a:t>
            </a:r>
            <a:r>
              <a:rPr lang="en-US" sz="1200"/>
              <a:t>to be added </a:t>
            </a:r>
            <a:r>
              <a:rPr lang="en-US" sz="1200" dirty="0"/>
              <a:t>yet.</a:t>
            </a:r>
            <a:endParaRPr lang="en-CA" sz="1200" dirty="0"/>
          </a:p>
        </p:txBody>
      </p:sp>
    </p:spTree>
    <p:extLst>
      <p:ext uri="{BB962C8B-B14F-4D97-AF65-F5344CB8AC3E}">
        <p14:creationId xmlns:p14="http://schemas.microsoft.com/office/powerpoint/2010/main" val="2388022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F5E3B-E68A-AB15-0E22-5D809E5F1BF8}"/>
              </a:ext>
            </a:extLst>
          </p:cNvPr>
          <p:cNvSpPr>
            <a:spLocks noGrp="1"/>
          </p:cNvSpPr>
          <p:nvPr>
            <p:ph type="title"/>
          </p:nvPr>
        </p:nvSpPr>
        <p:spPr>
          <a:xfrm>
            <a:off x="56321" y="2701132"/>
            <a:ext cx="10515600" cy="1325563"/>
          </a:xfrm>
        </p:spPr>
        <p:txBody>
          <a:bodyPr>
            <a:normAutofit fontScale="90000"/>
          </a:bodyPr>
          <a:lstStyle/>
          <a:p>
            <a:r>
              <a:rPr lang="en-US" dirty="0"/>
              <a:t>Qupls4: External Interrupt Handling</a:t>
            </a:r>
            <a:endParaRPr lang="en-CA" dirty="0"/>
          </a:p>
        </p:txBody>
      </p:sp>
      <p:sp>
        <p:nvSpPr>
          <p:cNvPr id="4" name="Rectangle 3">
            <a:extLst>
              <a:ext uri="{FF2B5EF4-FFF2-40B4-BE49-F238E27FC236}">
                <a16:creationId xmlns:a16="http://schemas.microsoft.com/office/drawing/2014/main" id="{116FEDA4-419C-65B8-65D7-E475FE461BA2}"/>
              </a:ext>
            </a:extLst>
          </p:cNvPr>
          <p:cNvSpPr/>
          <p:nvPr/>
        </p:nvSpPr>
        <p:spPr>
          <a:xfrm>
            <a:off x="5830957" y="5481120"/>
            <a:ext cx="1616765" cy="1086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Deferred IRQ FIFO</a:t>
            </a:r>
            <a:endParaRPr lang="en-CA" dirty="0"/>
          </a:p>
        </p:txBody>
      </p:sp>
      <p:sp>
        <p:nvSpPr>
          <p:cNvPr id="5" name="Rectangle: Rounded Corners 4">
            <a:extLst>
              <a:ext uri="{FF2B5EF4-FFF2-40B4-BE49-F238E27FC236}">
                <a16:creationId xmlns:a16="http://schemas.microsoft.com/office/drawing/2014/main" id="{C5010419-CD67-956C-950D-D3BA5119C10F}"/>
              </a:ext>
            </a:extLst>
          </p:cNvPr>
          <p:cNvSpPr/>
          <p:nvPr/>
        </p:nvSpPr>
        <p:spPr>
          <a:xfrm>
            <a:off x="1298715" y="7227094"/>
            <a:ext cx="60960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Processor Pipeline</a:t>
            </a:r>
            <a:endParaRPr lang="en-CA" dirty="0"/>
          </a:p>
        </p:txBody>
      </p:sp>
      <p:cxnSp>
        <p:nvCxnSpPr>
          <p:cNvPr id="7" name="Straight Arrow Connector 6">
            <a:extLst>
              <a:ext uri="{FF2B5EF4-FFF2-40B4-BE49-F238E27FC236}">
                <a16:creationId xmlns:a16="http://schemas.microsoft.com/office/drawing/2014/main" id="{5C6CD796-10BE-A1CF-6E02-CCDB11422AB4}"/>
              </a:ext>
            </a:extLst>
          </p:cNvPr>
          <p:cNvCxnSpPr>
            <a:cxnSpLocks/>
            <a:endCxn id="4" idx="2"/>
          </p:cNvCxnSpPr>
          <p:nvPr/>
        </p:nvCxnSpPr>
        <p:spPr>
          <a:xfrm flipV="1">
            <a:off x="6639339" y="6567798"/>
            <a:ext cx="0" cy="6592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655D3B0-FCC0-B109-CC01-C06AAB87CFED}"/>
              </a:ext>
            </a:extLst>
          </p:cNvPr>
          <p:cNvSpPr txBox="1"/>
          <p:nvPr/>
        </p:nvSpPr>
        <p:spPr>
          <a:xfrm>
            <a:off x="6722983" y="6580764"/>
            <a:ext cx="3430683" cy="646331"/>
          </a:xfrm>
          <a:prstGeom prst="rect">
            <a:avLst/>
          </a:prstGeom>
          <a:noFill/>
        </p:spPr>
        <p:txBody>
          <a:bodyPr wrap="none" rtlCol="0">
            <a:spAutoFit/>
          </a:bodyPr>
          <a:lstStyle/>
          <a:p>
            <a:r>
              <a:rPr lang="en-US" dirty="0"/>
              <a:t>If IRQ disabled at time of commit</a:t>
            </a:r>
          </a:p>
          <a:p>
            <a:r>
              <a:rPr lang="en-US" dirty="0"/>
              <a:t>The IRQ is deferred by a FIFO</a:t>
            </a:r>
            <a:endParaRPr lang="en-CA" dirty="0"/>
          </a:p>
        </p:txBody>
      </p:sp>
      <p:sp>
        <p:nvSpPr>
          <p:cNvPr id="10" name="Rectangle 9">
            <a:extLst>
              <a:ext uri="{FF2B5EF4-FFF2-40B4-BE49-F238E27FC236}">
                <a16:creationId xmlns:a16="http://schemas.microsoft.com/office/drawing/2014/main" id="{456480AD-8E3B-7AC1-13E9-76ACC1C822DC}"/>
              </a:ext>
            </a:extLst>
          </p:cNvPr>
          <p:cNvSpPr/>
          <p:nvPr/>
        </p:nvSpPr>
        <p:spPr>
          <a:xfrm>
            <a:off x="1364975" y="5481119"/>
            <a:ext cx="1557131" cy="10996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Branch Target Buffer Logic</a:t>
            </a:r>
            <a:endParaRPr lang="en-CA" dirty="0"/>
          </a:p>
        </p:txBody>
      </p:sp>
      <p:sp>
        <p:nvSpPr>
          <p:cNvPr id="11" name="Trapezoid 10">
            <a:extLst>
              <a:ext uri="{FF2B5EF4-FFF2-40B4-BE49-F238E27FC236}">
                <a16:creationId xmlns:a16="http://schemas.microsoft.com/office/drawing/2014/main" id="{85CECB16-A6CF-539B-A783-13CE90523229}"/>
              </a:ext>
            </a:extLst>
          </p:cNvPr>
          <p:cNvSpPr/>
          <p:nvPr/>
        </p:nvSpPr>
        <p:spPr>
          <a:xfrm rot="16200000">
            <a:off x="3868113" y="4583284"/>
            <a:ext cx="1459263" cy="714094"/>
          </a:xfrm>
          <a:prstGeom prst="trapezoi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Mux</a:t>
            </a:r>
            <a:endParaRPr lang="en-CA" dirty="0"/>
          </a:p>
        </p:txBody>
      </p:sp>
      <p:cxnSp>
        <p:nvCxnSpPr>
          <p:cNvPr id="13" name="Straight Arrow Connector 12">
            <a:extLst>
              <a:ext uri="{FF2B5EF4-FFF2-40B4-BE49-F238E27FC236}">
                <a16:creationId xmlns:a16="http://schemas.microsoft.com/office/drawing/2014/main" id="{D078ED35-51CC-0EC1-20E1-498922476401}"/>
              </a:ext>
            </a:extLst>
          </p:cNvPr>
          <p:cNvCxnSpPr/>
          <p:nvPr/>
        </p:nvCxnSpPr>
        <p:spPr>
          <a:xfrm flipH="1">
            <a:off x="4954791" y="4536902"/>
            <a:ext cx="26188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30B7E47-1909-080F-CFE3-20CD55CF493F}"/>
              </a:ext>
            </a:extLst>
          </p:cNvPr>
          <p:cNvSpPr txBox="1"/>
          <p:nvPr/>
        </p:nvSpPr>
        <p:spPr>
          <a:xfrm>
            <a:off x="5923258" y="4135363"/>
            <a:ext cx="1520353" cy="369332"/>
          </a:xfrm>
          <a:prstGeom prst="rect">
            <a:avLst/>
          </a:prstGeom>
          <a:noFill/>
        </p:spPr>
        <p:txBody>
          <a:bodyPr wrap="none" rtlCol="0">
            <a:spAutoFit/>
          </a:bodyPr>
          <a:lstStyle/>
          <a:p>
            <a:r>
              <a:rPr lang="en-US" dirty="0"/>
              <a:t>Incoming IRQ</a:t>
            </a:r>
            <a:endParaRPr lang="en-CA" dirty="0"/>
          </a:p>
        </p:txBody>
      </p:sp>
      <p:cxnSp>
        <p:nvCxnSpPr>
          <p:cNvPr id="16" name="Straight Connector 15">
            <a:extLst>
              <a:ext uri="{FF2B5EF4-FFF2-40B4-BE49-F238E27FC236}">
                <a16:creationId xmlns:a16="http://schemas.microsoft.com/office/drawing/2014/main" id="{186809D4-873B-1191-EBC5-796D3D108735}"/>
              </a:ext>
            </a:extLst>
          </p:cNvPr>
          <p:cNvCxnSpPr>
            <a:stCxn id="4" idx="0"/>
          </p:cNvCxnSpPr>
          <p:nvPr/>
        </p:nvCxnSpPr>
        <p:spPr>
          <a:xfrm flipH="1" flipV="1">
            <a:off x="6639339" y="5139877"/>
            <a:ext cx="1" cy="341243"/>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B9E5FC91-E98C-901D-DE45-2F2DCFF5BCE5}"/>
              </a:ext>
            </a:extLst>
          </p:cNvPr>
          <p:cNvCxnSpPr/>
          <p:nvPr/>
        </p:nvCxnSpPr>
        <p:spPr>
          <a:xfrm flipH="1">
            <a:off x="4954792" y="5146502"/>
            <a:ext cx="16845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968A5805-2C7C-B3EB-C685-4CE7B769FBAF}"/>
              </a:ext>
            </a:extLst>
          </p:cNvPr>
          <p:cNvCxnSpPr>
            <a:stCxn id="11" idx="0"/>
          </p:cNvCxnSpPr>
          <p:nvPr/>
        </p:nvCxnSpPr>
        <p:spPr>
          <a:xfrm flipH="1">
            <a:off x="2143539" y="4940331"/>
            <a:ext cx="209715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CA8EA33-B8E4-8DFD-7C3E-CDAA83ECA14A}"/>
              </a:ext>
            </a:extLst>
          </p:cNvPr>
          <p:cNvCxnSpPr>
            <a:endCxn id="10" idx="0"/>
          </p:cNvCxnSpPr>
          <p:nvPr/>
        </p:nvCxnSpPr>
        <p:spPr>
          <a:xfrm>
            <a:off x="2143540" y="4940331"/>
            <a:ext cx="1" cy="5407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C31ACF8-4EEA-92DA-780E-7AF7FEF522D9}"/>
              </a:ext>
            </a:extLst>
          </p:cNvPr>
          <p:cNvCxnSpPr>
            <a:stCxn id="10" idx="2"/>
          </p:cNvCxnSpPr>
          <p:nvPr/>
        </p:nvCxnSpPr>
        <p:spPr>
          <a:xfrm flipH="1">
            <a:off x="2143540" y="6580764"/>
            <a:ext cx="1" cy="6463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DF7175E0-6388-7331-5FEC-1976B7317D6C}"/>
              </a:ext>
            </a:extLst>
          </p:cNvPr>
          <p:cNvSpPr/>
          <p:nvPr/>
        </p:nvSpPr>
        <p:spPr>
          <a:xfrm>
            <a:off x="4230757" y="6040263"/>
            <a:ext cx="109993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Control Logic</a:t>
            </a:r>
            <a:endParaRPr lang="en-CA" dirty="0"/>
          </a:p>
        </p:txBody>
      </p:sp>
      <p:cxnSp>
        <p:nvCxnSpPr>
          <p:cNvPr id="27" name="Straight Arrow Connector 26">
            <a:extLst>
              <a:ext uri="{FF2B5EF4-FFF2-40B4-BE49-F238E27FC236}">
                <a16:creationId xmlns:a16="http://schemas.microsoft.com/office/drawing/2014/main" id="{3A414627-F228-0F92-73D3-048581AEA4CF}"/>
              </a:ext>
            </a:extLst>
          </p:cNvPr>
          <p:cNvCxnSpPr>
            <a:endCxn id="11" idx="1"/>
          </p:cNvCxnSpPr>
          <p:nvPr/>
        </p:nvCxnSpPr>
        <p:spPr>
          <a:xfrm flipV="1">
            <a:off x="4597744" y="5580701"/>
            <a:ext cx="1" cy="4595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8D0C03C-C471-7203-BAB6-9884A0B72E2F}"/>
              </a:ext>
            </a:extLst>
          </p:cNvPr>
          <p:cNvCxnSpPr/>
          <p:nvPr/>
        </p:nvCxnSpPr>
        <p:spPr>
          <a:xfrm>
            <a:off x="5330688" y="6286189"/>
            <a:ext cx="4663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9A60AC4A-5929-3F4E-546B-BB12A20DAF12}"/>
              </a:ext>
            </a:extLst>
          </p:cNvPr>
          <p:cNvSpPr txBox="1"/>
          <p:nvPr/>
        </p:nvSpPr>
        <p:spPr>
          <a:xfrm>
            <a:off x="170627" y="6752218"/>
            <a:ext cx="1972912" cy="369332"/>
          </a:xfrm>
          <a:prstGeom prst="rect">
            <a:avLst/>
          </a:prstGeom>
          <a:noFill/>
        </p:spPr>
        <p:txBody>
          <a:bodyPr wrap="none" rtlCol="0">
            <a:spAutoFit/>
          </a:bodyPr>
          <a:lstStyle/>
          <a:p>
            <a:r>
              <a:rPr lang="en-US" dirty="0"/>
              <a:t>Front-end: Next IP</a:t>
            </a:r>
            <a:endParaRPr lang="en-CA" dirty="0"/>
          </a:p>
        </p:txBody>
      </p:sp>
      <p:sp>
        <p:nvSpPr>
          <p:cNvPr id="32" name="TextBox 31">
            <a:extLst>
              <a:ext uri="{FF2B5EF4-FFF2-40B4-BE49-F238E27FC236}">
                <a16:creationId xmlns:a16="http://schemas.microsoft.com/office/drawing/2014/main" id="{ACE449C6-1825-2CCE-61F7-4078C46A269D}"/>
              </a:ext>
            </a:extLst>
          </p:cNvPr>
          <p:cNvSpPr txBox="1"/>
          <p:nvPr/>
        </p:nvSpPr>
        <p:spPr>
          <a:xfrm>
            <a:off x="7993573" y="3823976"/>
            <a:ext cx="3678278" cy="2677656"/>
          </a:xfrm>
          <a:prstGeom prst="rect">
            <a:avLst/>
          </a:prstGeom>
          <a:noFill/>
        </p:spPr>
        <p:txBody>
          <a:bodyPr wrap="square" rtlCol="0">
            <a:spAutoFit/>
          </a:bodyPr>
          <a:lstStyle/>
          <a:p>
            <a:r>
              <a:rPr lang="en-US" sz="1400" dirty="0"/>
              <a:t>The CPU chooses the deferred IRQ FIFO as the source of interrupts if there is any interrupt in the FIFO, otherwise the external interrupt feeds the branch-target buffer.</a:t>
            </a:r>
          </a:p>
          <a:p>
            <a:endParaRPr lang="en-US" sz="1400" dirty="0"/>
          </a:p>
          <a:p>
            <a:r>
              <a:rPr lang="en-US" sz="1400" dirty="0"/>
              <a:t>The incoming interrupt acts like a branch and directly changes the IP causing immediate fetch of ISR instructions.</a:t>
            </a:r>
          </a:p>
          <a:p>
            <a:endParaRPr lang="en-US" sz="1400" dirty="0"/>
          </a:p>
          <a:p>
            <a:r>
              <a:rPr lang="en-US" sz="1400" dirty="0"/>
              <a:t>However, if the IRQ should have been disabled, then it is recorded in the deferred FIFO and not immediately processed.</a:t>
            </a:r>
            <a:endParaRPr lang="en-CA" sz="1400" dirty="0"/>
          </a:p>
        </p:txBody>
      </p:sp>
    </p:spTree>
    <p:extLst>
      <p:ext uri="{BB962C8B-B14F-4D97-AF65-F5344CB8AC3E}">
        <p14:creationId xmlns:p14="http://schemas.microsoft.com/office/powerpoint/2010/main" val="1740265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BFCB2-3543-8727-BD1A-FD4EEE2C1826}"/>
              </a:ext>
            </a:extLst>
          </p:cNvPr>
          <p:cNvSpPr>
            <a:spLocks noGrp="1"/>
          </p:cNvSpPr>
          <p:nvPr>
            <p:ph type="title"/>
          </p:nvPr>
        </p:nvSpPr>
        <p:spPr>
          <a:xfrm>
            <a:off x="0" y="2673350"/>
            <a:ext cx="10515600" cy="1325563"/>
          </a:xfrm>
        </p:spPr>
        <p:txBody>
          <a:bodyPr/>
          <a:lstStyle/>
          <a:p>
            <a:r>
              <a:rPr lang="en-US" dirty="0"/>
              <a:t>Qupls4: MSI Interrupt Logging</a:t>
            </a:r>
            <a:endParaRPr lang="en-CA" dirty="0"/>
          </a:p>
        </p:txBody>
      </p:sp>
      <p:sp>
        <p:nvSpPr>
          <p:cNvPr id="4" name="Rectangle 3">
            <a:extLst>
              <a:ext uri="{FF2B5EF4-FFF2-40B4-BE49-F238E27FC236}">
                <a16:creationId xmlns:a16="http://schemas.microsoft.com/office/drawing/2014/main" id="{F47940D5-5C93-AFE1-5403-5B46CE1C03C8}"/>
              </a:ext>
            </a:extLst>
          </p:cNvPr>
          <p:cNvSpPr/>
          <p:nvPr/>
        </p:nvSpPr>
        <p:spPr>
          <a:xfrm>
            <a:off x="1066800" y="438450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CA" dirty="0"/>
          </a:p>
        </p:txBody>
      </p:sp>
      <p:sp>
        <p:nvSpPr>
          <p:cNvPr id="5" name="Rectangle 4">
            <a:extLst>
              <a:ext uri="{FF2B5EF4-FFF2-40B4-BE49-F238E27FC236}">
                <a16:creationId xmlns:a16="http://schemas.microsoft.com/office/drawing/2014/main" id="{FE8342D0-573C-A3CC-E890-0D7432020CEF}"/>
              </a:ext>
            </a:extLst>
          </p:cNvPr>
          <p:cNvSpPr/>
          <p:nvPr/>
        </p:nvSpPr>
        <p:spPr>
          <a:xfrm>
            <a:off x="2166730" y="438450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CA" dirty="0"/>
          </a:p>
        </p:txBody>
      </p:sp>
      <p:sp>
        <p:nvSpPr>
          <p:cNvPr id="6" name="Rectangle 5">
            <a:extLst>
              <a:ext uri="{FF2B5EF4-FFF2-40B4-BE49-F238E27FC236}">
                <a16:creationId xmlns:a16="http://schemas.microsoft.com/office/drawing/2014/main" id="{DCBD70B6-D0C5-4FE8-E0A6-92A849C9FB56}"/>
              </a:ext>
            </a:extLst>
          </p:cNvPr>
          <p:cNvSpPr/>
          <p:nvPr/>
        </p:nvSpPr>
        <p:spPr>
          <a:xfrm>
            <a:off x="3266660" y="438450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CA" dirty="0"/>
          </a:p>
        </p:txBody>
      </p:sp>
      <p:sp>
        <p:nvSpPr>
          <p:cNvPr id="7" name="Rectangle 6">
            <a:extLst>
              <a:ext uri="{FF2B5EF4-FFF2-40B4-BE49-F238E27FC236}">
                <a16:creationId xmlns:a16="http://schemas.microsoft.com/office/drawing/2014/main" id="{E11D6EAB-7320-E8D4-0811-DE9F12D0CAC9}"/>
              </a:ext>
            </a:extLst>
          </p:cNvPr>
          <p:cNvSpPr/>
          <p:nvPr/>
        </p:nvSpPr>
        <p:spPr>
          <a:xfrm>
            <a:off x="4366590" y="438450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CA" dirty="0"/>
          </a:p>
        </p:txBody>
      </p:sp>
      <p:sp>
        <p:nvSpPr>
          <p:cNvPr id="8" name="Rectangle 7">
            <a:extLst>
              <a:ext uri="{FF2B5EF4-FFF2-40B4-BE49-F238E27FC236}">
                <a16:creationId xmlns:a16="http://schemas.microsoft.com/office/drawing/2014/main" id="{FE2B5C6E-CDAD-C531-AD68-9A86D49CF3CA}"/>
              </a:ext>
            </a:extLst>
          </p:cNvPr>
          <p:cNvSpPr/>
          <p:nvPr/>
        </p:nvSpPr>
        <p:spPr>
          <a:xfrm>
            <a:off x="549966" y="5703095"/>
            <a:ext cx="4976192" cy="1722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Bus</a:t>
            </a:r>
            <a:endParaRPr lang="en-CA" dirty="0"/>
          </a:p>
        </p:txBody>
      </p:sp>
      <p:sp>
        <p:nvSpPr>
          <p:cNvPr id="9" name="Rectangle 8">
            <a:extLst>
              <a:ext uri="{FF2B5EF4-FFF2-40B4-BE49-F238E27FC236}">
                <a16:creationId xmlns:a16="http://schemas.microsoft.com/office/drawing/2014/main" id="{DB038D99-29B0-1D5A-F2B9-508AA86F5C7C}"/>
              </a:ext>
            </a:extLst>
          </p:cNvPr>
          <p:cNvSpPr/>
          <p:nvPr/>
        </p:nvSpPr>
        <p:spPr>
          <a:xfrm>
            <a:off x="1066800" y="6292815"/>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MSI Logger</a:t>
            </a:r>
            <a:endParaRPr lang="en-CA" dirty="0"/>
          </a:p>
        </p:txBody>
      </p:sp>
      <p:sp>
        <p:nvSpPr>
          <p:cNvPr id="10" name="Arrow: Down 9">
            <a:extLst>
              <a:ext uri="{FF2B5EF4-FFF2-40B4-BE49-F238E27FC236}">
                <a16:creationId xmlns:a16="http://schemas.microsoft.com/office/drawing/2014/main" id="{C1DD14BF-A36C-B36C-9B10-DEC0C8DF2FBD}"/>
              </a:ext>
            </a:extLst>
          </p:cNvPr>
          <p:cNvSpPr/>
          <p:nvPr/>
        </p:nvSpPr>
        <p:spPr>
          <a:xfrm rot="10800000">
            <a:off x="4750904" y="5298904"/>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Arrow: Down 10">
            <a:extLst>
              <a:ext uri="{FF2B5EF4-FFF2-40B4-BE49-F238E27FC236}">
                <a16:creationId xmlns:a16="http://schemas.microsoft.com/office/drawing/2014/main" id="{AD3BD51F-FDE3-6857-E16C-C97FB3DD1AF7}"/>
              </a:ext>
            </a:extLst>
          </p:cNvPr>
          <p:cNvSpPr/>
          <p:nvPr/>
        </p:nvSpPr>
        <p:spPr>
          <a:xfrm rot="10800000">
            <a:off x="3644347" y="5298904"/>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Arrow: Down 11">
            <a:extLst>
              <a:ext uri="{FF2B5EF4-FFF2-40B4-BE49-F238E27FC236}">
                <a16:creationId xmlns:a16="http://schemas.microsoft.com/office/drawing/2014/main" id="{2938986F-D033-B536-907E-99F98DD2FCE6}"/>
              </a:ext>
            </a:extLst>
          </p:cNvPr>
          <p:cNvSpPr/>
          <p:nvPr/>
        </p:nvSpPr>
        <p:spPr>
          <a:xfrm rot="10800000">
            <a:off x="2537790" y="5282339"/>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Arrow: Down 12">
            <a:extLst>
              <a:ext uri="{FF2B5EF4-FFF2-40B4-BE49-F238E27FC236}">
                <a16:creationId xmlns:a16="http://schemas.microsoft.com/office/drawing/2014/main" id="{A0F17E5A-00F3-EF79-44F0-CAF781A4017E}"/>
              </a:ext>
            </a:extLst>
          </p:cNvPr>
          <p:cNvSpPr/>
          <p:nvPr/>
        </p:nvSpPr>
        <p:spPr>
          <a:xfrm rot="10800000">
            <a:off x="1414669" y="5290622"/>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Arrow: Down 13">
            <a:extLst>
              <a:ext uri="{FF2B5EF4-FFF2-40B4-BE49-F238E27FC236}">
                <a16:creationId xmlns:a16="http://schemas.microsoft.com/office/drawing/2014/main" id="{CA257354-8A98-1A24-4E5D-6367AF5F8DE9}"/>
              </a:ext>
            </a:extLst>
          </p:cNvPr>
          <p:cNvSpPr/>
          <p:nvPr/>
        </p:nvSpPr>
        <p:spPr>
          <a:xfrm>
            <a:off x="1414669" y="5888625"/>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14">
            <a:extLst>
              <a:ext uri="{FF2B5EF4-FFF2-40B4-BE49-F238E27FC236}">
                <a16:creationId xmlns:a16="http://schemas.microsoft.com/office/drawing/2014/main" id="{D12FDE72-575E-9BFE-48B7-9F31418F9506}"/>
              </a:ext>
            </a:extLst>
          </p:cNvPr>
          <p:cNvSpPr/>
          <p:nvPr/>
        </p:nvSpPr>
        <p:spPr>
          <a:xfrm>
            <a:off x="549966" y="7565024"/>
            <a:ext cx="2716695" cy="1855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Request Bus to Memory</a:t>
            </a:r>
            <a:endParaRPr lang="en-CA" dirty="0"/>
          </a:p>
        </p:txBody>
      </p:sp>
      <p:sp>
        <p:nvSpPr>
          <p:cNvPr id="16" name="Arrow: Down 15">
            <a:extLst>
              <a:ext uri="{FF2B5EF4-FFF2-40B4-BE49-F238E27FC236}">
                <a16:creationId xmlns:a16="http://schemas.microsoft.com/office/drawing/2014/main" id="{23DCFC5C-634B-BB2D-9A98-BCF19D0C74E6}"/>
              </a:ext>
            </a:extLst>
          </p:cNvPr>
          <p:cNvSpPr/>
          <p:nvPr/>
        </p:nvSpPr>
        <p:spPr>
          <a:xfrm>
            <a:off x="1444487" y="7160834"/>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AA923CB6-42FE-CEB2-27EE-97703FCC73CD}"/>
              </a:ext>
            </a:extLst>
          </p:cNvPr>
          <p:cNvSpPr txBox="1"/>
          <p:nvPr/>
        </p:nvSpPr>
        <p:spPr>
          <a:xfrm>
            <a:off x="6162262" y="4359008"/>
            <a:ext cx="5387008" cy="2862322"/>
          </a:xfrm>
          <a:prstGeom prst="rect">
            <a:avLst/>
          </a:prstGeom>
          <a:noFill/>
        </p:spPr>
        <p:txBody>
          <a:bodyPr wrap="square" rtlCol="0">
            <a:spAutoFit/>
          </a:bodyPr>
          <a:lstStyle/>
          <a:p>
            <a:r>
              <a:rPr lang="en-US" dirty="0"/>
              <a:t>The MSI Interrupt Logger snoops the CPU response bus to detect interrupts and logs them to an area of memory.</a:t>
            </a:r>
          </a:p>
          <a:p>
            <a:endParaRPr lang="en-US" dirty="0"/>
          </a:p>
          <a:p>
            <a:r>
              <a:rPr lang="en-US" dirty="0"/>
              <a:t>The Logger acts as a bus master and is capable of filtering interrupts which were destined for a particular CPU.</a:t>
            </a:r>
          </a:p>
          <a:p>
            <a:endParaRPr lang="en-US" dirty="0"/>
          </a:p>
          <a:p>
            <a:r>
              <a:rPr lang="en-US" dirty="0"/>
              <a:t>It may also filter responses based on interrupt priority level.</a:t>
            </a:r>
            <a:endParaRPr lang="en-CA" dirty="0"/>
          </a:p>
        </p:txBody>
      </p:sp>
      <p:sp>
        <p:nvSpPr>
          <p:cNvPr id="18" name="TextBox 17">
            <a:extLst>
              <a:ext uri="{FF2B5EF4-FFF2-40B4-BE49-F238E27FC236}">
                <a16:creationId xmlns:a16="http://schemas.microsoft.com/office/drawing/2014/main" id="{44DD4853-54EE-82EA-EB3A-DD561334A62B}"/>
              </a:ext>
            </a:extLst>
          </p:cNvPr>
          <p:cNvSpPr txBox="1"/>
          <p:nvPr/>
        </p:nvSpPr>
        <p:spPr>
          <a:xfrm>
            <a:off x="1494182" y="5986953"/>
            <a:ext cx="801823" cy="253916"/>
          </a:xfrm>
          <a:prstGeom prst="rect">
            <a:avLst/>
          </a:prstGeom>
          <a:noFill/>
        </p:spPr>
        <p:txBody>
          <a:bodyPr wrap="none" rtlCol="0">
            <a:spAutoFit/>
          </a:bodyPr>
          <a:lstStyle/>
          <a:p>
            <a:r>
              <a:rPr lang="en-US" sz="1000" dirty="0"/>
              <a:t>Snoop bus</a:t>
            </a:r>
            <a:endParaRPr lang="en-CA" sz="1000" dirty="0"/>
          </a:p>
        </p:txBody>
      </p:sp>
    </p:spTree>
    <p:extLst>
      <p:ext uri="{BB962C8B-B14F-4D97-AF65-F5344CB8AC3E}">
        <p14:creationId xmlns:p14="http://schemas.microsoft.com/office/powerpoint/2010/main" val="3789913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2663C-97E0-D2F0-9068-4C677C89AED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7344A2D-5A73-1C3C-AB16-EC0B18E31117}"/>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398562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4EDD-0353-00BC-1B3D-E81D5ABEF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BCF89-08A8-3AAE-CB01-238E1336727C}"/>
              </a:ext>
            </a:extLst>
          </p:cNvPr>
          <p:cNvSpPr>
            <a:spLocks noGrp="1"/>
          </p:cNvSpPr>
          <p:nvPr>
            <p:ph type="title"/>
          </p:nvPr>
        </p:nvSpPr>
        <p:spPr>
          <a:xfrm>
            <a:off x="0" y="2673350"/>
            <a:ext cx="10515600" cy="1325563"/>
          </a:xfrm>
        </p:spPr>
        <p:txBody>
          <a:bodyPr>
            <a:normAutofit fontScale="90000"/>
          </a:bodyPr>
          <a:lstStyle/>
          <a:p>
            <a:r>
              <a:rPr lang="en-US" dirty="0"/>
              <a:t>Qupls4: QMSI Interrupt Controller Site</a:t>
            </a:r>
            <a:endParaRPr lang="en-CA" dirty="0"/>
          </a:p>
        </p:txBody>
      </p:sp>
      <p:sp>
        <p:nvSpPr>
          <p:cNvPr id="4" name="Rectangle 3">
            <a:extLst>
              <a:ext uri="{FF2B5EF4-FFF2-40B4-BE49-F238E27FC236}">
                <a16:creationId xmlns:a16="http://schemas.microsoft.com/office/drawing/2014/main" id="{C570BFEE-C082-4E28-1FEB-95D884CDED3B}"/>
              </a:ext>
            </a:extLst>
          </p:cNvPr>
          <p:cNvSpPr/>
          <p:nvPr/>
        </p:nvSpPr>
        <p:spPr>
          <a:xfrm>
            <a:off x="1066800" y="438450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CA" dirty="0"/>
          </a:p>
        </p:txBody>
      </p:sp>
      <p:sp>
        <p:nvSpPr>
          <p:cNvPr id="5" name="Rectangle 4">
            <a:extLst>
              <a:ext uri="{FF2B5EF4-FFF2-40B4-BE49-F238E27FC236}">
                <a16:creationId xmlns:a16="http://schemas.microsoft.com/office/drawing/2014/main" id="{03D54243-B09A-204C-4774-DEC671769C88}"/>
              </a:ext>
            </a:extLst>
          </p:cNvPr>
          <p:cNvSpPr/>
          <p:nvPr/>
        </p:nvSpPr>
        <p:spPr>
          <a:xfrm>
            <a:off x="2166730" y="438450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CA" dirty="0"/>
          </a:p>
        </p:txBody>
      </p:sp>
      <p:sp>
        <p:nvSpPr>
          <p:cNvPr id="6" name="Rectangle 5">
            <a:extLst>
              <a:ext uri="{FF2B5EF4-FFF2-40B4-BE49-F238E27FC236}">
                <a16:creationId xmlns:a16="http://schemas.microsoft.com/office/drawing/2014/main" id="{53C8BCDF-8023-3D1D-EB70-2FDA859E927D}"/>
              </a:ext>
            </a:extLst>
          </p:cNvPr>
          <p:cNvSpPr/>
          <p:nvPr/>
        </p:nvSpPr>
        <p:spPr>
          <a:xfrm>
            <a:off x="3266660" y="438450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CA" dirty="0"/>
          </a:p>
        </p:txBody>
      </p:sp>
      <p:sp>
        <p:nvSpPr>
          <p:cNvPr id="7" name="Rectangle 6">
            <a:extLst>
              <a:ext uri="{FF2B5EF4-FFF2-40B4-BE49-F238E27FC236}">
                <a16:creationId xmlns:a16="http://schemas.microsoft.com/office/drawing/2014/main" id="{A24F6E1F-C1FA-5E87-BEDA-4DBB4613F887}"/>
              </a:ext>
            </a:extLst>
          </p:cNvPr>
          <p:cNvSpPr/>
          <p:nvPr/>
        </p:nvSpPr>
        <p:spPr>
          <a:xfrm>
            <a:off x="4366590" y="438450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CPU</a:t>
            </a:r>
            <a:endParaRPr lang="en-CA" dirty="0"/>
          </a:p>
        </p:txBody>
      </p:sp>
      <p:sp>
        <p:nvSpPr>
          <p:cNvPr id="8" name="Rectangle 7">
            <a:extLst>
              <a:ext uri="{FF2B5EF4-FFF2-40B4-BE49-F238E27FC236}">
                <a16:creationId xmlns:a16="http://schemas.microsoft.com/office/drawing/2014/main" id="{CD8D61D4-3F90-DE02-BD82-57D2B3956177}"/>
              </a:ext>
            </a:extLst>
          </p:cNvPr>
          <p:cNvSpPr/>
          <p:nvPr/>
        </p:nvSpPr>
        <p:spPr>
          <a:xfrm>
            <a:off x="549966" y="5703095"/>
            <a:ext cx="4976192" cy="1722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Bus</a:t>
            </a:r>
            <a:endParaRPr lang="en-CA" dirty="0"/>
          </a:p>
        </p:txBody>
      </p:sp>
      <p:sp>
        <p:nvSpPr>
          <p:cNvPr id="9" name="Rectangle 8">
            <a:extLst>
              <a:ext uri="{FF2B5EF4-FFF2-40B4-BE49-F238E27FC236}">
                <a16:creationId xmlns:a16="http://schemas.microsoft.com/office/drawing/2014/main" id="{41128E77-C497-51E6-43FD-482AE981538B}"/>
              </a:ext>
            </a:extLst>
          </p:cNvPr>
          <p:cNvSpPr/>
          <p:nvPr/>
        </p:nvSpPr>
        <p:spPr>
          <a:xfrm>
            <a:off x="1066800" y="6764130"/>
            <a:ext cx="1470989"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QMSI IRQ Controller</a:t>
            </a:r>
            <a:endParaRPr lang="en-CA" sz="1200" dirty="0"/>
          </a:p>
        </p:txBody>
      </p:sp>
      <p:sp>
        <p:nvSpPr>
          <p:cNvPr id="10" name="Arrow: Down 9">
            <a:extLst>
              <a:ext uri="{FF2B5EF4-FFF2-40B4-BE49-F238E27FC236}">
                <a16:creationId xmlns:a16="http://schemas.microsoft.com/office/drawing/2014/main" id="{ACDDA758-E57A-5AAD-7534-BB91881E8BE9}"/>
              </a:ext>
            </a:extLst>
          </p:cNvPr>
          <p:cNvSpPr/>
          <p:nvPr/>
        </p:nvSpPr>
        <p:spPr>
          <a:xfrm rot="10800000">
            <a:off x="4750904" y="5298904"/>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Arrow: Down 10">
            <a:extLst>
              <a:ext uri="{FF2B5EF4-FFF2-40B4-BE49-F238E27FC236}">
                <a16:creationId xmlns:a16="http://schemas.microsoft.com/office/drawing/2014/main" id="{E76FEA09-196D-47D2-6EA8-797D3AA9A5D1}"/>
              </a:ext>
            </a:extLst>
          </p:cNvPr>
          <p:cNvSpPr/>
          <p:nvPr/>
        </p:nvSpPr>
        <p:spPr>
          <a:xfrm rot="10800000">
            <a:off x="3644347" y="5298904"/>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Arrow: Down 11">
            <a:extLst>
              <a:ext uri="{FF2B5EF4-FFF2-40B4-BE49-F238E27FC236}">
                <a16:creationId xmlns:a16="http://schemas.microsoft.com/office/drawing/2014/main" id="{C26710BD-6289-AE29-3E6B-D13C28FE4464}"/>
              </a:ext>
            </a:extLst>
          </p:cNvPr>
          <p:cNvSpPr/>
          <p:nvPr/>
        </p:nvSpPr>
        <p:spPr>
          <a:xfrm rot="10800000">
            <a:off x="2537790" y="5282339"/>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Arrow: Down 12">
            <a:extLst>
              <a:ext uri="{FF2B5EF4-FFF2-40B4-BE49-F238E27FC236}">
                <a16:creationId xmlns:a16="http://schemas.microsoft.com/office/drawing/2014/main" id="{584A745C-C3A4-E002-AEB1-F4B68B32045D}"/>
              </a:ext>
            </a:extLst>
          </p:cNvPr>
          <p:cNvSpPr/>
          <p:nvPr/>
        </p:nvSpPr>
        <p:spPr>
          <a:xfrm rot="10800000">
            <a:off x="1414669" y="5290622"/>
            <a:ext cx="159026" cy="4041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Arrow: Down 13">
            <a:extLst>
              <a:ext uri="{FF2B5EF4-FFF2-40B4-BE49-F238E27FC236}">
                <a16:creationId xmlns:a16="http://schemas.microsoft.com/office/drawing/2014/main" id="{180F3F3E-BA19-CDC7-DE54-3FA6B3210029}"/>
              </a:ext>
            </a:extLst>
          </p:cNvPr>
          <p:cNvSpPr/>
          <p:nvPr/>
        </p:nvSpPr>
        <p:spPr>
          <a:xfrm>
            <a:off x="1414669" y="5888624"/>
            <a:ext cx="159026" cy="8755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DB14755E-9888-33A1-438C-CE7B3D06E39F}"/>
              </a:ext>
            </a:extLst>
          </p:cNvPr>
          <p:cNvSpPr txBox="1"/>
          <p:nvPr/>
        </p:nvSpPr>
        <p:spPr>
          <a:xfrm>
            <a:off x="6162262" y="4359008"/>
            <a:ext cx="5387008" cy="3416320"/>
          </a:xfrm>
          <a:prstGeom prst="rect">
            <a:avLst/>
          </a:prstGeom>
          <a:noFill/>
        </p:spPr>
        <p:txBody>
          <a:bodyPr wrap="square" rtlCol="0">
            <a:spAutoFit/>
          </a:bodyPr>
          <a:lstStyle/>
          <a:p>
            <a:r>
              <a:rPr lang="en-US" dirty="0"/>
              <a:t>The QMSI Interrupt Controller snoops the CPU response bus from the system to detect interrupts. </a:t>
            </a:r>
          </a:p>
          <a:p>
            <a:endParaRPr lang="en-US" dirty="0"/>
          </a:p>
          <a:p>
            <a:r>
              <a:rPr lang="en-US" dirty="0"/>
              <a:t>Detected interrupts are queued in the controller in up to 63 priority queues.</a:t>
            </a:r>
          </a:p>
          <a:p>
            <a:endParaRPr lang="en-US" dirty="0"/>
          </a:p>
          <a:p>
            <a:r>
              <a:rPr lang="en-US" dirty="0"/>
              <a:t>The output of the priority </a:t>
            </a:r>
            <a:r>
              <a:rPr lang="en-US"/>
              <a:t>queues are fed </a:t>
            </a:r>
            <a:r>
              <a:rPr lang="en-US" dirty="0"/>
              <a:t>to the selected cores according to the affinity mask for the interrupt.</a:t>
            </a:r>
          </a:p>
          <a:p>
            <a:endParaRPr lang="en-US" dirty="0"/>
          </a:p>
          <a:p>
            <a:r>
              <a:rPr lang="en-US" dirty="0"/>
              <a:t>Up to 63 CPU cores may be connected to one QMSI IRQ controller.</a:t>
            </a:r>
          </a:p>
        </p:txBody>
      </p:sp>
      <p:sp>
        <p:nvSpPr>
          <p:cNvPr id="18" name="TextBox 17">
            <a:extLst>
              <a:ext uri="{FF2B5EF4-FFF2-40B4-BE49-F238E27FC236}">
                <a16:creationId xmlns:a16="http://schemas.microsoft.com/office/drawing/2014/main" id="{34CE2569-DE6F-04FD-EF3D-99E093147B27}"/>
              </a:ext>
            </a:extLst>
          </p:cNvPr>
          <p:cNvSpPr txBox="1"/>
          <p:nvPr/>
        </p:nvSpPr>
        <p:spPr>
          <a:xfrm>
            <a:off x="692359" y="5920692"/>
            <a:ext cx="801823" cy="253916"/>
          </a:xfrm>
          <a:prstGeom prst="rect">
            <a:avLst/>
          </a:prstGeom>
          <a:noFill/>
        </p:spPr>
        <p:txBody>
          <a:bodyPr wrap="none" rtlCol="0">
            <a:spAutoFit/>
          </a:bodyPr>
          <a:lstStyle/>
          <a:p>
            <a:r>
              <a:rPr lang="en-US" sz="1000" dirty="0"/>
              <a:t>Snoop bus</a:t>
            </a:r>
            <a:endParaRPr lang="en-CA" sz="1000" dirty="0"/>
          </a:p>
        </p:txBody>
      </p:sp>
      <p:sp>
        <p:nvSpPr>
          <p:cNvPr id="3" name="Rectangle 2">
            <a:extLst>
              <a:ext uri="{FF2B5EF4-FFF2-40B4-BE49-F238E27FC236}">
                <a16:creationId xmlns:a16="http://schemas.microsoft.com/office/drawing/2014/main" id="{84FA4C26-312E-A201-8C2F-3C065E9CD738}"/>
              </a:ext>
            </a:extLst>
          </p:cNvPr>
          <p:cNvSpPr/>
          <p:nvPr/>
        </p:nvSpPr>
        <p:spPr>
          <a:xfrm>
            <a:off x="549966" y="6266310"/>
            <a:ext cx="4976192" cy="17227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IRQ Bus</a:t>
            </a:r>
            <a:endParaRPr lang="en-CA" dirty="0"/>
          </a:p>
        </p:txBody>
      </p:sp>
      <p:sp>
        <p:nvSpPr>
          <p:cNvPr id="19" name="Arrow: Right 18">
            <a:extLst>
              <a:ext uri="{FF2B5EF4-FFF2-40B4-BE49-F238E27FC236}">
                <a16:creationId xmlns:a16="http://schemas.microsoft.com/office/drawing/2014/main" id="{99C908E3-2CAE-3474-6937-AD1F82130F21}"/>
              </a:ext>
            </a:extLst>
          </p:cNvPr>
          <p:cNvSpPr/>
          <p:nvPr/>
        </p:nvSpPr>
        <p:spPr>
          <a:xfrm rot="16200000">
            <a:off x="1980669" y="6538509"/>
            <a:ext cx="329052" cy="129209"/>
          </a:xfrm>
          <a:prstGeom prst="rightArrow">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1" name="Straight Arrow Connector 20">
            <a:extLst>
              <a:ext uri="{FF2B5EF4-FFF2-40B4-BE49-F238E27FC236}">
                <a16:creationId xmlns:a16="http://schemas.microsoft.com/office/drawing/2014/main" id="{2AAF7A7E-EEE1-F99C-877D-DEC08D420249}"/>
              </a:ext>
            </a:extLst>
          </p:cNvPr>
          <p:cNvCxnSpPr>
            <a:cxnSpLocks/>
          </p:cNvCxnSpPr>
          <p:nvPr/>
        </p:nvCxnSpPr>
        <p:spPr>
          <a:xfrm flipV="1">
            <a:off x="1729409" y="5298903"/>
            <a:ext cx="0" cy="967406"/>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6916D473-CC0D-9264-2EE2-E01C4972221E}"/>
              </a:ext>
            </a:extLst>
          </p:cNvPr>
          <p:cNvCxnSpPr/>
          <p:nvPr/>
        </p:nvCxnSpPr>
        <p:spPr>
          <a:xfrm flipV="1">
            <a:off x="2862470" y="5290621"/>
            <a:ext cx="0" cy="97568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71895B9-E428-78D9-A076-2131528E6A9C}"/>
              </a:ext>
            </a:extLst>
          </p:cNvPr>
          <p:cNvCxnSpPr/>
          <p:nvPr/>
        </p:nvCxnSpPr>
        <p:spPr>
          <a:xfrm flipV="1">
            <a:off x="3975652" y="5298903"/>
            <a:ext cx="0" cy="967406"/>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E7A16D2-A948-2291-580C-D52E69F0244C}"/>
              </a:ext>
            </a:extLst>
          </p:cNvPr>
          <p:cNvCxnSpPr/>
          <p:nvPr/>
        </p:nvCxnSpPr>
        <p:spPr>
          <a:xfrm flipV="1">
            <a:off x="5121965" y="5298903"/>
            <a:ext cx="0" cy="967406"/>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6419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0B25B-2706-8EB3-02AB-0A78B390E4B3}"/>
              </a:ext>
            </a:extLst>
          </p:cNvPr>
          <p:cNvSpPr>
            <a:spLocks noGrp="1"/>
          </p:cNvSpPr>
          <p:nvPr>
            <p:ph type="title"/>
          </p:nvPr>
        </p:nvSpPr>
        <p:spPr>
          <a:xfrm>
            <a:off x="0" y="2655095"/>
            <a:ext cx="10515600" cy="1325563"/>
          </a:xfrm>
        </p:spPr>
        <p:txBody>
          <a:bodyPr/>
          <a:lstStyle/>
          <a:p>
            <a:r>
              <a:rPr lang="en-US" dirty="0"/>
              <a:t>Qupls4: Decoding Placement</a:t>
            </a:r>
            <a:endParaRPr lang="en-CA" dirty="0"/>
          </a:p>
        </p:txBody>
      </p:sp>
      <p:sp>
        <p:nvSpPr>
          <p:cNvPr id="4" name="Rectangle 3">
            <a:extLst>
              <a:ext uri="{FF2B5EF4-FFF2-40B4-BE49-F238E27FC236}">
                <a16:creationId xmlns:a16="http://schemas.microsoft.com/office/drawing/2014/main" id="{F986A818-5AB2-A7B3-9AD5-B50500991B27}"/>
              </a:ext>
            </a:extLst>
          </p:cNvPr>
          <p:cNvSpPr/>
          <p:nvPr/>
        </p:nvSpPr>
        <p:spPr>
          <a:xfrm>
            <a:off x="318052" y="4398785"/>
            <a:ext cx="932484" cy="19149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Instruction Cache</a:t>
            </a:r>
            <a:endParaRPr lang="en-CA" sz="1200" dirty="0"/>
          </a:p>
        </p:txBody>
      </p:sp>
      <p:sp>
        <p:nvSpPr>
          <p:cNvPr id="5" name="Rectangle 4">
            <a:extLst>
              <a:ext uri="{FF2B5EF4-FFF2-40B4-BE49-F238E27FC236}">
                <a16:creationId xmlns:a16="http://schemas.microsoft.com/office/drawing/2014/main" id="{FD67CC3A-4FBC-0F72-3350-2386E8D8A3DB}"/>
              </a:ext>
            </a:extLst>
          </p:cNvPr>
          <p:cNvSpPr/>
          <p:nvPr/>
        </p:nvSpPr>
        <p:spPr>
          <a:xfrm>
            <a:off x="1630017" y="4398785"/>
            <a:ext cx="932484" cy="19149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Instruction (ISA) Align and Extract</a:t>
            </a:r>
            <a:endParaRPr lang="en-CA" sz="1200" dirty="0"/>
          </a:p>
        </p:txBody>
      </p:sp>
      <p:sp>
        <p:nvSpPr>
          <p:cNvPr id="6" name="Rectangle 5">
            <a:extLst>
              <a:ext uri="{FF2B5EF4-FFF2-40B4-BE49-F238E27FC236}">
                <a16:creationId xmlns:a16="http://schemas.microsoft.com/office/drawing/2014/main" id="{DC743D58-4896-F445-BD37-78B7612220A2}"/>
              </a:ext>
            </a:extLst>
          </p:cNvPr>
          <p:cNvSpPr/>
          <p:nvPr/>
        </p:nvSpPr>
        <p:spPr>
          <a:xfrm>
            <a:off x="3000716" y="4398783"/>
            <a:ext cx="932484" cy="19149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Instruction to Micro-op Translator</a:t>
            </a:r>
            <a:endParaRPr lang="en-CA" sz="1200" dirty="0"/>
          </a:p>
        </p:txBody>
      </p:sp>
      <p:sp>
        <p:nvSpPr>
          <p:cNvPr id="7" name="Rectangle 6">
            <a:extLst>
              <a:ext uri="{FF2B5EF4-FFF2-40B4-BE49-F238E27FC236}">
                <a16:creationId xmlns:a16="http://schemas.microsoft.com/office/drawing/2014/main" id="{6F22FAFC-519B-CDE9-3A1A-0C2D12FEFDE7}"/>
              </a:ext>
            </a:extLst>
          </p:cNvPr>
          <p:cNvSpPr/>
          <p:nvPr/>
        </p:nvSpPr>
        <p:spPr>
          <a:xfrm>
            <a:off x="4371416" y="4398782"/>
            <a:ext cx="808383" cy="19149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Micro-op Decoder</a:t>
            </a:r>
            <a:endParaRPr lang="en-CA" sz="1200" dirty="0"/>
          </a:p>
        </p:txBody>
      </p:sp>
      <p:sp>
        <p:nvSpPr>
          <p:cNvPr id="8" name="Rectangle 7">
            <a:extLst>
              <a:ext uri="{FF2B5EF4-FFF2-40B4-BE49-F238E27FC236}">
                <a16:creationId xmlns:a16="http://schemas.microsoft.com/office/drawing/2014/main" id="{C50FC78B-1F47-1554-32F3-B4790B90773E}"/>
              </a:ext>
            </a:extLst>
          </p:cNvPr>
          <p:cNvSpPr/>
          <p:nvPr/>
        </p:nvSpPr>
        <p:spPr>
          <a:xfrm>
            <a:off x="5551149" y="4398781"/>
            <a:ext cx="808383" cy="19149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Register Rename Stage</a:t>
            </a:r>
            <a:endParaRPr lang="en-CA" sz="1200" dirty="0"/>
          </a:p>
        </p:txBody>
      </p:sp>
      <p:sp>
        <p:nvSpPr>
          <p:cNvPr id="9" name="Rectangle 8">
            <a:extLst>
              <a:ext uri="{FF2B5EF4-FFF2-40B4-BE49-F238E27FC236}">
                <a16:creationId xmlns:a16="http://schemas.microsoft.com/office/drawing/2014/main" id="{0C2F6C3F-EC1A-0305-A8BD-AFF525B3953A}"/>
              </a:ext>
            </a:extLst>
          </p:cNvPr>
          <p:cNvSpPr/>
          <p:nvPr/>
        </p:nvSpPr>
        <p:spPr>
          <a:xfrm>
            <a:off x="6730881" y="4398780"/>
            <a:ext cx="932484" cy="19149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Instruction Queue to Re-order Buffer</a:t>
            </a:r>
            <a:endParaRPr lang="en-CA" sz="1200" dirty="0"/>
          </a:p>
        </p:txBody>
      </p:sp>
      <p:sp>
        <p:nvSpPr>
          <p:cNvPr id="10" name="Rectangle 9">
            <a:extLst>
              <a:ext uri="{FF2B5EF4-FFF2-40B4-BE49-F238E27FC236}">
                <a16:creationId xmlns:a16="http://schemas.microsoft.com/office/drawing/2014/main" id="{4D37097F-8AFF-23C8-015D-7086C5FE92ED}"/>
              </a:ext>
            </a:extLst>
          </p:cNvPr>
          <p:cNvSpPr/>
          <p:nvPr/>
        </p:nvSpPr>
        <p:spPr>
          <a:xfrm>
            <a:off x="7910614" y="4398779"/>
            <a:ext cx="1011996" cy="19149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Instruction Dispatcher</a:t>
            </a:r>
            <a:endParaRPr lang="en-CA" sz="1200" dirty="0"/>
          </a:p>
        </p:txBody>
      </p:sp>
      <p:sp>
        <p:nvSpPr>
          <p:cNvPr id="11" name="Rectangle 10">
            <a:extLst>
              <a:ext uri="{FF2B5EF4-FFF2-40B4-BE49-F238E27FC236}">
                <a16:creationId xmlns:a16="http://schemas.microsoft.com/office/drawing/2014/main" id="{198D87D7-5214-4CCF-D911-C164BE726316}"/>
              </a:ext>
            </a:extLst>
          </p:cNvPr>
          <p:cNvSpPr/>
          <p:nvPr/>
        </p:nvSpPr>
        <p:spPr>
          <a:xfrm>
            <a:off x="9169859" y="4398779"/>
            <a:ext cx="1205948"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Reservation Stations</a:t>
            </a:r>
            <a:endParaRPr lang="en-CA" sz="1200" dirty="0"/>
          </a:p>
        </p:txBody>
      </p:sp>
      <p:sp>
        <p:nvSpPr>
          <p:cNvPr id="12" name="Rectangle 11">
            <a:extLst>
              <a:ext uri="{FF2B5EF4-FFF2-40B4-BE49-F238E27FC236}">
                <a16:creationId xmlns:a16="http://schemas.microsoft.com/office/drawing/2014/main" id="{6D35E58A-D186-7F4C-F385-BB8058D5006A}"/>
              </a:ext>
            </a:extLst>
          </p:cNvPr>
          <p:cNvSpPr/>
          <p:nvPr/>
        </p:nvSpPr>
        <p:spPr>
          <a:xfrm>
            <a:off x="9169859" y="4836101"/>
            <a:ext cx="1205948"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Reservation Stations</a:t>
            </a:r>
            <a:endParaRPr lang="en-CA" sz="1200" dirty="0"/>
          </a:p>
        </p:txBody>
      </p:sp>
      <p:sp>
        <p:nvSpPr>
          <p:cNvPr id="13" name="Rectangle 12">
            <a:extLst>
              <a:ext uri="{FF2B5EF4-FFF2-40B4-BE49-F238E27FC236}">
                <a16:creationId xmlns:a16="http://schemas.microsoft.com/office/drawing/2014/main" id="{12BB82C7-FF8B-4CC1-B399-7617E39E8291}"/>
              </a:ext>
            </a:extLst>
          </p:cNvPr>
          <p:cNvSpPr/>
          <p:nvPr/>
        </p:nvSpPr>
        <p:spPr>
          <a:xfrm>
            <a:off x="9169859" y="5273423"/>
            <a:ext cx="1205948"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Reservation Stations</a:t>
            </a:r>
            <a:endParaRPr lang="en-CA" sz="1200" dirty="0"/>
          </a:p>
        </p:txBody>
      </p:sp>
      <p:sp>
        <p:nvSpPr>
          <p:cNvPr id="14" name="Rectangle 13">
            <a:extLst>
              <a:ext uri="{FF2B5EF4-FFF2-40B4-BE49-F238E27FC236}">
                <a16:creationId xmlns:a16="http://schemas.microsoft.com/office/drawing/2014/main" id="{3480C16B-509C-8C47-4F5B-BD33BBEC341C}"/>
              </a:ext>
            </a:extLst>
          </p:cNvPr>
          <p:cNvSpPr/>
          <p:nvPr/>
        </p:nvSpPr>
        <p:spPr>
          <a:xfrm>
            <a:off x="9169859" y="5763768"/>
            <a:ext cx="1205948" cy="3578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Reservation Stations</a:t>
            </a:r>
            <a:endParaRPr lang="en-CA" sz="1200" dirty="0"/>
          </a:p>
        </p:txBody>
      </p:sp>
      <p:sp>
        <p:nvSpPr>
          <p:cNvPr id="15" name="Rectangle 14">
            <a:extLst>
              <a:ext uri="{FF2B5EF4-FFF2-40B4-BE49-F238E27FC236}">
                <a16:creationId xmlns:a16="http://schemas.microsoft.com/office/drawing/2014/main" id="{526F122C-2B42-9A9B-F869-E7C10C736D74}"/>
              </a:ext>
            </a:extLst>
          </p:cNvPr>
          <p:cNvSpPr/>
          <p:nvPr/>
        </p:nvSpPr>
        <p:spPr>
          <a:xfrm>
            <a:off x="10660143" y="4398778"/>
            <a:ext cx="909576" cy="19149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Functional Units</a:t>
            </a:r>
            <a:endParaRPr lang="en-CA" sz="1200" dirty="0"/>
          </a:p>
        </p:txBody>
      </p:sp>
      <p:sp>
        <p:nvSpPr>
          <p:cNvPr id="16" name="Rectangle 15">
            <a:extLst>
              <a:ext uri="{FF2B5EF4-FFF2-40B4-BE49-F238E27FC236}">
                <a16:creationId xmlns:a16="http://schemas.microsoft.com/office/drawing/2014/main" id="{2F909C33-040A-7EE5-16BB-8F7A9D2050AA}"/>
              </a:ext>
            </a:extLst>
          </p:cNvPr>
          <p:cNvSpPr/>
          <p:nvPr/>
        </p:nvSpPr>
        <p:spPr>
          <a:xfrm>
            <a:off x="10708774" y="5677260"/>
            <a:ext cx="812314" cy="6364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Micro-op decode</a:t>
            </a:r>
            <a:endParaRPr lang="en-CA" sz="1200" dirty="0"/>
          </a:p>
        </p:txBody>
      </p:sp>
      <p:sp>
        <p:nvSpPr>
          <p:cNvPr id="17" name="Oval 16">
            <a:extLst>
              <a:ext uri="{FF2B5EF4-FFF2-40B4-BE49-F238E27FC236}">
                <a16:creationId xmlns:a16="http://schemas.microsoft.com/office/drawing/2014/main" id="{4161D8EA-02BC-53C3-E9AA-F7B0A2CBBA15}"/>
              </a:ext>
            </a:extLst>
          </p:cNvPr>
          <p:cNvSpPr/>
          <p:nvPr/>
        </p:nvSpPr>
        <p:spPr>
          <a:xfrm>
            <a:off x="10553496" y="5587983"/>
            <a:ext cx="1099931" cy="815008"/>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92EC0335-84F6-6C7A-0E1D-12500B773CEA}"/>
              </a:ext>
            </a:extLst>
          </p:cNvPr>
          <p:cNvSpPr/>
          <p:nvPr/>
        </p:nvSpPr>
        <p:spPr>
          <a:xfrm>
            <a:off x="4225641" y="5015004"/>
            <a:ext cx="1099931" cy="815008"/>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3684DD6F-A379-44E7-BC7B-D763C4617FE4}"/>
              </a:ext>
            </a:extLst>
          </p:cNvPr>
          <p:cNvSpPr txBox="1"/>
          <p:nvPr/>
        </p:nvSpPr>
        <p:spPr>
          <a:xfrm>
            <a:off x="6060273" y="6810682"/>
            <a:ext cx="1136850" cy="369332"/>
          </a:xfrm>
          <a:prstGeom prst="rect">
            <a:avLst/>
          </a:prstGeom>
          <a:noFill/>
        </p:spPr>
        <p:txBody>
          <a:bodyPr wrap="none" rtlCol="0">
            <a:spAutoFit/>
          </a:bodyPr>
          <a:lstStyle/>
          <a:p>
            <a:r>
              <a:rPr lang="en-US" dirty="0"/>
              <a:t>Decoding</a:t>
            </a:r>
            <a:endParaRPr lang="en-CA" dirty="0"/>
          </a:p>
        </p:txBody>
      </p:sp>
      <p:cxnSp>
        <p:nvCxnSpPr>
          <p:cNvPr id="21" name="Straight Arrow Connector 20">
            <a:extLst>
              <a:ext uri="{FF2B5EF4-FFF2-40B4-BE49-F238E27FC236}">
                <a16:creationId xmlns:a16="http://schemas.microsoft.com/office/drawing/2014/main" id="{6320FC7F-FFE0-5024-14C0-16F6373EAEBB}"/>
              </a:ext>
            </a:extLst>
          </p:cNvPr>
          <p:cNvCxnSpPr>
            <a:stCxn id="4" idx="3"/>
            <a:endCxn id="5" idx="1"/>
          </p:cNvCxnSpPr>
          <p:nvPr/>
        </p:nvCxnSpPr>
        <p:spPr>
          <a:xfrm>
            <a:off x="1250537" y="5356254"/>
            <a:ext cx="3794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869BF54E-88AA-55C7-2ED9-B3A7524AFD41}"/>
              </a:ext>
            </a:extLst>
          </p:cNvPr>
          <p:cNvCxnSpPr>
            <a:stCxn id="5" idx="3"/>
            <a:endCxn id="6" idx="1"/>
          </p:cNvCxnSpPr>
          <p:nvPr/>
        </p:nvCxnSpPr>
        <p:spPr>
          <a:xfrm flipV="1">
            <a:off x="2562502" y="5356252"/>
            <a:ext cx="438215" cy="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D786A4B-5358-39A6-A057-ECFE46A8CE54}"/>
              </a:ext>
            </a:extLst>
          </p:cNvPr>
          <p:cNvCxnSpPr>
            <a:stCxn id="6" idx="3"/>
            <a:endCxn id="7" idx="1"/>
          </p:cNvCxnSpPr>
          <p:nvPr/>
        </p:nvCxnSpPr>
        <p:spPr>
          <a:xfrm flipV="1">
            <a:off x="3933201" y="5356252"/>
            <a:ext cx="43821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0C91033-4BB2-E910-2101-054F7F2DB614}"/>
              </a:ext>
            </a:extLst>
          </p:cNvPr>
          <p:cNvCxnSpPr>
            <a:stCxn id="7" idx="3"/>
            <a:endCxn id="8" idx="1"/>
          </p:cNvCxnSpPr>
          <p:nvPr/>
        </p:nvCxnSpPr>
        <p:spPr>
          <a:xfrm flipV="1">
            <a:off x="5179798" y="5356251"/>
            <a:ext cx="37135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B964511-601F-90A7-48C2-DC3D4E6EA607}"/>
              </a:ext>
            </a:extLst>
          </p:cNvPr>
          <p:cNvCxnSpPr>
            <a:stCxn id="8" idx="3"/>
            <a:endCxn id="9" idx="1"/>
          </p:cNvCxnSpPr>
          <p:nvPr/>
        </p:nvCxnSpPr>
        <p:spPr>
          <a:xfrm flipV="1">
            <a:off x="6359531" y="5356250"/>
            <a:ext cx="371350"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7506FB71-2337-89CB-835B-EC15D2291E54}"/>
              </a:ext>
            </a:extLst>
          </p:cNvPr>
          <p:cNvCxnSpPr>
            <a:stCxn id="9" idx="3"/>
            <a:endCxn id="10" idx="1"/>
          </p:cNvCxnSpPr>
          <p:nvPr/>
        </p:nvCxnSpPr>
        <p:spPr>
          <a:xfrm flipV="1">
            <a:off x="7663366" y="5356249"/>
            <a:ext cx="24724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1FABF2A9-5106-1EC2-FC6A-669CA5802D3D}"/>
              </a:ext>
            </a:extLst>
          </p:cNvPr>
          <p:cNvCxnSpPr>
            <a:endCxn id="12" idx="1"/>
          </p:cNvCxnSpPr>
          <p:nvPr/>
        </p:nvCxnSpPr>
        <p:spPr>
          <a:xfrm>
            <a:off x="8922611" y="5015005"/>
            <a:ext cx="24724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BAAD784-FE55-0FB6-3124-959CF9453124}"/>
              </a:ext>
            </a:extLst>
          </p:cNvPr>
          <p:cNvCxnSpPr>
            <a:endCxn id="11" idx="1"/>
          </p:cNvCxnSpPr>
          <p:nvPr/>
        </p:nvCxnSpPr>
        <p:spPr>
          <a:xfrm>
            <a:off x="8922611" y="4577683"/>
            <a:ext cx="24724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E447E4B4-30D8-9E72-06DA-F9F6E108A9EB}"/>
              </a:ext>
            </a:extLst>
          </p:cNvPr>
          <p:cNvCxnSpPr>
            <a:cxnSpLocks/>
            <a:endCxn id="13" idx="1"/>
          </p:cNvCxnSpPr>
          <p:nvPr/>
        </p:nvCxnSpPr>
        <p:spPr>
          <a:xfrm>
            <a:off x="8922611" y="5452327"/>
            <a:ext cx="247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369600B-BABA-FE32-1D1E-1B7FD4A12A14}"/>
              </a:ext>
            </a:extLst>
          </p:cNvPr>
          <p:cNvCxnSpPr>
            <a:endCxn id="14" idx="1"/>
          </p:cNvCxnSpPr>
          <p:nvPr/>
        </p:nvCxnSpPr>
        <p:spPr>
          <a:xfrm>
            <a:off x="8922611" y="5942672"/>
            <a:ext cx="24724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8DAB157-687B-FA64-ABF1-DECCC302E095}"/>
              </a:ext>
            </a:extLst>
          </p:cNvPr>
          <p:cNvCxnSpPr>
            <a:stCxn id="11" idx="3"/>
          </p:cNvCxnSpPr>
          <p:nvPr/>
        </p:nvCxnSpPr>
        <p:spPr>
          <a:xfrm flipV="1">
            <a:off x="10375807" y="4577683"/>
            <a:ext cx="23255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596A18D-32F1-55FE-B292-C63A7CDDAAFF}"/>
              </a:ext>
            </a:extLst>
          </p:cNvPr>
          <p:cNvCxnSpPr>
            <a:stCxn id="12" idx="3"/>
          </p:cNvCxnSpPr>
          <p:nvPr/>
        </p:nvCxnSpPr>
        <p:spPr>
          <a:xfrm flipV="1">
            <a:off x="10375807" y="5015005"/>
            <a:ext cx="284336"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C833420-1047-3D23-BE0A-48A352A431B1}"/>
              </a:ext>
            </a:extLst>
          </p:cNvPr>
          <p:cNvCxnSpPr>
            <a:stCxn id="13" idx="3"/>
          </p:cNvCxnSpPr>
          <p:nvPr/>
        </p:nvCxnSpPr>
        <p:spPr>
          <a:xfrm flipV="1">
            <a:off x="10375807" y="5452327"/>
            <a:ext cx="23255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D4BC2AE6-1A92-0F7F-1056-54E42B947BFF}"/>
              </a:ext>
            </a:extLst>
          </p:cNvPr>
          <p:cNvCxnSpPr>
            <a:stCxn id="14" idx="3"/>
          </p:cNvCxnSpPr>
          <p:nvPr/>
        </p:nvCxnSpPr>
        <p:spPr>
          <a:xfrm flipV="1">
            <a:off x="10375807" y="5942672"/>
            <a:ext cx="284336"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E3FE8526-AF2E-5DA2-36AF-D77B3DB40004}"/>
              </a:ext>
            </a:extLst>
          </p:cNvPr>
          <p:cNvCxnSpPr/>
          <p:nvPr/>
        </p:nvCxnSpPr>
        <p:spPr>
          <a:xfrm flipH="1" flipV="1">
            <a:off x="5325571" y="5763768"/>
            <a:ext cx="734702" cy="1046915"/>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14FBF3B3-3CB4-E90E-723D-28BCCFAF5D51}"/>
              </a:ext>
            </a:extLst>
          </p:cNvPr>
          <p:cNvCxnSpPr/>
          <p:nvPr/>
        </p:nvCxnSpPr>
        <p:spPr>
          <a:xfrm flipV="1">
            <a:off x="7268817" y="6287224"/>
            <a:ext cx="3249158" cy="596344"/>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C19E7C1D-A9AD-16AA-A100-257115DA4B9E}"/>
              </a:ext>
            </a:extLst>
          </p:cNvPr>
          <p:cNvSpPr txBox="1"/>
          <p:nvPr/>
        </p:nvSpPr>
        <p:spPr>
          <a:xfrm>
            <a:off x="437322" y="3851785"/>
            <a:ext cx="11324554" cy="307777"/>
          </a:xfrm>
          <a:prstGeom prst="rect">
            <a:avLst/>
          </a:prstGeom>
          <a:noFill/>
        </p:spPr>
        <p:txBody>
          <a:bodyPr wrap="square" rtlCol="0">
            <a:spAutoFit/>
          </a:bodyPr>
          <a:lstStyle/>
          <a:p>
            <a:r>
              <a:rPr lang="en-US" sz="1400" dirty="0"/>
              <a:t>Most of the decode takes place in two places. Between micro-op translation and register rename, and in the functional units</a:t>
            </a:r>
            <a:endParaRPr lang="en-CA" sz="1400" dirty="0"/>
          </a:p>
        </p:txBody>
      </p:sp>
    </p:spTree>
    <p:extLst>
      <p:ext uri="{BB962C8B-B14F-4D97-AF65-F5344CB8AC3E}">
        <p14:creationId xmlns:p14="http://schemas.microsoft.com/office/powerpoint/2010/main" val="2700656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AC9C-E86A-8F9F-ACE5-071E0AA28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1D225-C030-A88E-9267-DF070E4D0FE1}"/>
              </a:ext>
            </a:extLst>
          </p:cNvPr>
          <p:cNvSpPr>
            <a:spLocks noGrp="1"/>
          </p:cNvSpPr>
          <p:nvPr>
            <p:ph type="title"/>
          </p:nvPr>
        </p:nvSpPr>
        <p:spPr>
          <a:xfrm>
            <a:off x="0" y="2673350"/>
            <a:ext cx="10515600" cy="670858"/>
          </a:xfrm>
        </p:spPr>
        <p:txBody>
          <a:bodyPr>
            <a:normAutofit fontScale="90000"/>
          </a:bodyPr>
          <a:lstStyle/>
          <a:p>
            <a:r>
              <a:rPr lang="en-US" dirty="0"/>
              <a:t>Qupls4: Data Cache</a:t>
            </a:r>
            <a:endParaRPr lang="en-CA" dirty="0"/>
          </a:p>
        </p:txBody>
      </p:sp>
      <p:sp>
        <p:nvSpPr>
          <p:cNvPr id="4" name="Rectangle 3">
            <a:extLst>
              <a:ext uri="{FF2B5EF4-FFF2-40B4-BE49-F238E27FC236}">
                <a16:creationId xmlns:a16="http://schemas.microsoft.com/office/drawing/2014/main" id="{DB92907E-BEA9-76BC-AAEF-981BAB8A1957}"/>
              </a:ext>
            </a:extLst>
          </p:cNvPr>
          <p:cNvSpPr/>
          <p:nvPr/>
        </p:nvSpPr>
        <p:spPr>
          <a:xfrm>
            <a:off x="3755140" y="4492461"/>
            <a:ext cx="1484243" cy="2014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Cache RAM 512 x 512b x 4 way</a:t>
            </a:r>
            <a:endParaRPr lang="en-CA" dirty="0"/>
          </a:p>
        </p:txBody>
      </p:sp>
      <p:sp>
        <p:nvSpPr>
          <p:cNvPr id="5" name="Rectangle 4">
            <a:extLst>
              <a:ext uri="{FF2B5EF4-FFF2-40B4-BE49-F238E27FC236}">
                <a16:creationId xmlns:a16="http://schemas.microsoft.com/office/drawing/2014/main" id="{C8397E5B-0220-706C-04AF-5389E8DC40C1}"/>
              </a:ext>
            </a:extLst>
          </p:cNvPr>
          <p:cNvSpPr/>
          <p:nvPr/>
        </p:nvSpPr>
        <p:spPr>
          <a:xfrm>
            <a:off x="3755140" y="6685696"/>
            <a:ext cx="1484243" cy="9740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Tag RAM</a:t>
            </a:r>
          </a:p>
          <a:p>
            <a:pPr algn="ctr"/>
            <a:r>
              <a:rPr lang="en-US" dirty="0"/>
              <a:t> 512 x 48b x 4 way</a:t>
            </a:r>
            <a:endParaRPr lang="en-CA" dirty="0"/>
          </a:p>
        </p:txBody>
      </p:sp>
      <p:sp>
        <p:nvSpPr>
          <p:cNvPr id="6" name="Rectangle 5">
            <a:extLst>
              <a:ext uri="{FF2B5EF4-FFF2-40B4-BE49-F238E27FC236}">
                <a16:creationId xmlns:a16="http://schemas.microsoft.com/office/drawing/2014/main" id="{BF664806-29AA-37C1-DFB8-FEC6C89CCF2D}"/>
              </a:ext>
            </a:extLst>
          </p:cNvPr>
          <p:cNvSpPr/>
          <p:nvPr/>
        </p:nvSpPr>
        <p:spPr>
          <a:xfrm>
            <a:off x="1893210" y="4500460"/>
            <a:ext cx="1265583" cy="31672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Cache Controller</a:t>
            </a:r>
            <a:endParaRPr lang="en-CA" dirty="0"/>
          </a:p>
        </p:txBody>
      </p:sp>
      <p:sp>
        <p:nvSpPr>
          <p:cNvPr id="7" name="Arrow: Right 6">
            <a:extLst>
              <a:ext uri="{FF2B5EF4-FFF2-40B4-BE49-F238E27FC236}">
                <a16:creationId xmlns:a16="http://schemas.microsoft.com/office/drawing/2014/main" id="{29E98186-9016-EFE7-5230-E42597D25EB5}"/>
              </a:ext>
            </a:extLst>
          </p:cNvPr>
          <p:cNvSpPr/>
          <p:nvPr/>
        </p:nvSpPr>
        <p:spPr>
          <a:xfrm>
            <a:off x="3158793" y="5282337"/>
            <a:ext cx="596347" cy="5698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Up-Down 7">
            <a:extLst>
              <a:ext uri="{FF2B5EF4-FFF2-40B4-BE49-F238E27FC236}">
                <a16:creationId xmlns:a16="http://schemas.microsoft.com/office/drawing/2014/main" id="{F2F6CF7F-578C-D677-CECB-00C91CBB6B8E}"/>
              </a:ext>
            </a:extLst>
          </p:cNvPr>
          <p:cNvSpPr/>
          <p:nvPr/>
        </p:nvSpPr>
        <p:spPr>
          <a:xfrm rot="16200000">
            <a:off x="3261498" y="6874538"/>
            <a:ext cx="390939" cy="596348"/>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8">
            <a:extLst>
              <a:ext uri="{FF2B5EF4-FFF2-40B4-BE49-F238E27FC236}">
                <a16:creationId xmlns:a16="http://schemas.microsoft.com/office/drawing/2014/main" id="{3350B7B3-A68D-E818-7BD2-AC6FD65EE3F8}"/>
              </a:ext>
            </a:extLst>
          </p:cNvPr>
          <p:cNvSpPr/>
          <p:nvPr/>
        </p:nvSpPr>
        <p:spPr>
          <a:xfrm>
            <a:off x="382462" y="4492461"/>
            <a:ext cx="914400" cy="31672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Bus</a:t>
            </a:r>
          </a:p>
          <a:p>
            <a:pPr algn="ctr"/>
            <a:r>
              <a:rPr lang="en-US" dirty="0"/>
              <a:t>256b wide</a:t>
            </a:r>
            <a:endParaRPr lang="en-CA" dirty="0"/>
          </a:p>
        </p:txBody>
      </p:sp>
      <p:sp>
        <p:nvSpPr>
          <p:cNvPr id="10" name="Arrow: Right 9">
            <a:extLst>
              <a:ext uri="{FF2B5EF4-FFF2-40B4-BE49-F238E27FC236}">
                <a16:creationId xmlns:a16="http://schemas.microsoft.com/office/drawing/2014/main" id="{557A823A-C254-0155-6A70-CAA7466F160D}"/>
              </a:ext>
            </a:extLst>
          </p:cNvPr>
          <p:cNvSpPr/>
          <p:nvPr/>
        </p:nvSpPr>
        <p:spPr>
          <a:xfrm>
            <a:off x="1296863" y="5799173"/>
            <a:ext cx="596347" cy="5698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10">
            <a:extLst>
              <a:ext uri="{FF2B5EF4-FFF2-40B4-BE49-F238E27FC236}">
                <a16:creationId xmlns:a16="http://schemas.microsoft.com/office/drawing/2014/main" id="{570916D4-3B5F-50EB-56B8-2FE1550D08A8}"/>
              </a:ext>
            </a:extLst>
          </p:cNvPr>
          <p:cNvSpPr/>
          <p:nvPr/>
        </p:nvSpPr>
        <p:spPr>
          <a:xfrm>
            <a:off x="5835729" y="4500460"/>
            <a:ext cx="914400" cy="31672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Aligner</a:t>
            </a:r>
            <a:endParaRPr lang="en-CA" dirty="0"/>
          </a:p>
        </p:txBody>
      </p:sp>
      <p:sp>
        <p:nvSpPr>
          <p:cNvPr id="24" name="TextBox 23">
            <a:extLst>
              <a:ext uri="{FF2B5EF4-FFF2-40B4-BE49-F238E27FC236}">
                <a16:creationId xmlns:a16="http://schemas.microsoft.com/office/drawing/2014/main" id="{15677DDD-B737-F274-CC06-D42BA496A9C0}"/>
              </a:ext>
            </a:extLst>
          </p:cNvPr>
          <p:cNvSpPr txBox="1"/>
          <p:nvPr/>
        </p:nvSpPr>
        <p:spPr>
          <a:xfrm>
            <a:off x="272025" y="3471207"/>
            <a:ext cx="11114156" cy="707886"/>
          </a:xfrm>
          <a:prstGeom prst="rect">
            <a:avLst/>
          </a:prstGeom>
          <a:noFill/>
        </p:spPr>
        <p:txBody>
          <a:bodyPr wrap="square" rtlCol="0">
            <a:spAutoFit/>
          </a:bodyPr>
          <a:lstStyle/>
          <a:p>
            <a:r>
              <a:rPr lang="en-US" sz="1000" dirty="0"/>
              <a:t>Two 256b bus cycles are run by the cache controller to full-fill a 512b cache miss request.</a:t>
            </a:r>
          </a:p>
          <a:p>
            <a:endParaRPr lang="en-US" sz="1000" dirty="0"/>
          </a:p>
          <a:p>
            <a:r>
              <a:rPr lang="en-US" sz="1000" dirty="0"/>
              <a:t>The data aligner shifts the data into or from the proper position on the cache line.</a:t>
            </a:r>
          </a:p>
          <a:p>
            <a:endParaRPr lang="en-US" sz="1000" dirty="0"/>
          </a:p>
        </p:txBody>
      </p:sp>
      <p:sp>
        <p:nvSpPr>
          <p:cNvPr id="3" name="Arrow: Up-Down 2">
            <a:extLst>
              <a:ext uri="{FF2B5EF4-FFF2-40B4-BE49-F238E27FC236}">
                <a16:creationId xmlns:a16="http://schemas.microsoft.com/office/drawing/2014/main" id="{F320515B-C048-B3B0-DDFF-449B7E54EF0D}"/>
              </a:ext>
            </a:extLst>
          </p:cNvPr>
          <p:cNvSpPr/>
          <p:nvPr/>
        </p:nvSpPr>
        <p:spPr>
          <a:xfrm rot="16200000">
            <a:off x="5313659" y="5293023"/>
            <a:ext cx="484632" cy="59634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Arrow: Up-Down 24">
            <a:extLst>
              <a:ext uri="{FF2B5EF4-FFF2-40B4-BE49-F238E27FC236}">
                <a16:creationId xmlns:a16="http://schemas.microsoft.com/office/drawing/2014/main" id="{184A65E6-B0FD-E3EA-4E21-168236F88CA3}"/>
              </a:ext>
            </a:extLst>
          </p:cNvPr>
          <p:cNvSpPr/>
          <p:nvPr/>
        </p:nvSpPr>
        <p:spPr>
          <a:xfrm rot="16200000">
            <a:off x="6995915" y="5380482"/>
            <a:ext cx="954773" cy="1446343"/>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TextBox 25">
            <a:extLst>
              <a:ext uri="{FF2B5EF4-FFF2-40B4-BE49-F238E27FC236}">
                <a16:creationId xmlns:a16="http://schemas.microsoft.com/office/drawing/2014/main" id="{9A0E7198-4FB0-5949-B7AA-D94862E804D7}"/>
              </a:ext>
            </a:extLst>
          </p:cNvPr>
          <p:cNvSpPr txBox="1"/>
          <p:nvPr/>
        </p:nvSpPr>
        <p:spPr>
          <a:xfrm>
            <a:off x="7021459" y="5164214"/>
            <a:ext cx="1789721" cy="369332"/>
          </a:xfrm>
          <a:prstGeom prst="rect">
            <a:avLst/>
          </a:prstGeom>
          <a:noFill/>
        </p:spPr>
        <p:txBody>
          <a:bodyPr wrap="none" rtlCol="0">
            <a:spAutoFit/>
          </a:bodyPr>
          <a:lstStyle/>
          <a:p>
            <a:r>
              <a:rPr lang="en-US" dirty="0"/>
              <a:t>Up to 512b Data</a:t>
            </a:r>
            <a:endParaRPr lang="en-CA" dirty="0"/>
          </a:p>
        </p:txBody>
      </p:sp>
    </p:spTree>
    <p:extLst>
      <p:ext uri="{BB962C8B-B14F-4D97-AF65-F5344CB8AC3E}">
        <p14:creationId xmlns:p14="http://schemas.microsoft.com/office/powerpoint/2010/main" val="3761679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E9D32-C6B7-28EF-74CE-15F8FFD098ED}"/>
              </a:ext>
            </a:extLst>
          </p:cNvPr>
          <p:cNvSpPr>
            <a:spLocks noGrp="1"/>
          </p:cNvSpPr>
          <p:nvPr>
            <p:ph type="title"/>
          </p:nvPr>
        </p:nvSpPr>
        <p:spPr>
          <a:xfrm>
            <a:off x="0" y="2673350"/>
            <a:ext cx="10515600" cy="1325563"/>
          </a:xfrm>
        </p:spPr>
        <p:txBody>
          <a:bodyPr/>
          <a:lstStyle/>
          <a:p>
            <a:r>
              <a:rPr lang="en-US" dirty="0"/>
              <a:t>Qupls4: Reorder Buffer</a:t>
            </a:r>
            <a:endParaRPr lang="en-CA" dirty="0"/>
          </a:p>
        </p:txBody>
      </p:sp>
      <p:sp>
        <p:nvSpPr>
          <p:cNvPr id="4" name="Oval 3">
            <a:extLst>
              <a:ext uri="{FF2B5EF4-FFF2-40B4-BE49-F238E27FC236}">
                <a16:creationId xmlns:a16="http://schemas.microsoft.com/office/drawing/2014/main" id="{6864A1F2-123A-850B-3B21-47F855914C43}"/>
              </a:ext>
            </a:extLst>
          </p:cNvPr>
          <p:cNvSpPr/>
          <p:nvPr/>
        </p:nvSpPr>
        <p:spPr>
          <a:xfrm>
            <a:off x="2252869" y="6121548"/>
            <a:ext cx="1928191" cy="191493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6765A915-9A5A-648D-F360-1AAD721CF2F6}"/>
              </a:ext>
            </a:extLst>
          </p:cNvPr>
          <p:cNvSpPr/>
          <p:nvPr/>
        </p:nvSpPr>
        <p:spPr>
          <a:xfrm>
            <a:off x="2898912" y="7937096"/>
            <a:ext cx="510208" cy="404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ROB Entry</a:t>
            </a:r>
            <a:endParaRPr lang="en-CA" sz="1000" dirty="0"/>
          </a:p>
        </p:txBody>
      </p:sp>
      <p:sp>
        <p:nvSpPr>
          <p:cNvPr id="6" name="Rectangle 5">
            <a:extLst>
              <a:ext uri="{FF2B5EF4-FFF2-40B4-BE49-F238E27FC236}">
                <a16:creationId xmlns:a16="http://schemas.microsoft.com/office/drawing/2014/main" id="{C07255AE-BDB9-A748-7F0C-E97A1FBF0CC1}"/>
              </a:ext>
            </a:extLst>
          </p:cNvPr>
          <p:cNvSpPr/>
          <p:nvPr/>
        </p:nvSpPr>
        <p:spPr>
          <a:xfrm>
            <a:off x="3670851" y="6121548"/>
            <a:ext cx="510208" cy="404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ROB Entry</a:t>
            </a:r>
            <a:endParaRPr lang="en-CA" sz="1000" dirty="0"/>
          </a:p>
        </p:txBody>
      </p:sp>
      <p:sp>
        <p:nvSpPr>
          <p:cNvPr id="7" name="Rectangle 6">
            <a:extLst>
              <a:ext uri="{FF2B5EF4-FFF2-40B4-BE49-F238E27FC236}">
                <a16:creationId xmlns:a16="http://schemas.microsoft.com/office/drawing/2014/main" id="{0DC0C240-5C0C-52AF-16E3-D08EEB75E984}"/>
              </a:ext>
            </a:extLst>
          </p:cNvPr>
          <p:cNvSpPr/>
          <p:nvPr/>
        </p:nvSpPr>
        <p:spPr>
          <a:xfrm>
            <a:off x="2842588" y="5816748"/>
            <a:ext cx="510208" cy="404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ROB Entry</a:t>
            </a:r>
            <a:endParaRPr lang="en-CA" sz="1000" dirty="0"/>
          </a:p>
        </p:txBody>
      </p:sp>
      <p:sp>
        <p:nvSpPr>
          <p:cNvPr id="8" name="Rectangle 7">
            <a:extLst>
              <a:ext uri="{FF2B5EF4-FFF2-40B4-BE49-F238E27FC236}">
                <a16:creationId xmlns:a16="http://schemas.microsoft.com/office/drawing/2014/main" id="{BC9B011A-9BAC-FBE7-225E-1EB1F7CC3BE4}"/>
              </a:ext>
            </a:extLst>
          </p:cNvPr>
          <p:cNvSpPr/>
          <p:nvPr/>
        </p:nvSpPr>
        <p:spPr>
          <a:xfrm>
            <a:off x="2037520" y="6224252"/>
            <a:ext cx="510208" cy="404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ROB Entry</a:t>
            </a:r>
            <a:endParaRPr lang="en-CA" sz="1000" dirty="0"/>
          </a:p>
        </p:txBody>
      </p:sp>
      <p:sp>
        <p:nvSpPr>
          <p:cNvPr id="9" name="Rectangle 8">
            <a:extLst>
              <a:ext uri="{FF2B5EF4-FFF2-40B4-BE49-F238E27FC236}">
                <a16:creationId xmlns:a16="http://schemas.microsoft.com/office/drawing/2014/main" id="{7E9615B4-C22D-1B51-18D2-958F358AECED}"/>
              </a:ext>
            </a:extLst>
          </p:cNvPr>
          <p:cNvSpPr/>
          <p:nvPr/>
        </p:nvSpPr>
        <p:spPr>
          <a:xfrm>
            <a:off x="1782416" y="6876921"/>
            <a:ext cx="510208" cy="404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ROB Entry</a:t>
            </a:r>
            <a:endParaRPr lang="en-CA" sz="1000" dirty="0"/>
          </a:p>
        </p:txBody>
      </p:sp>
      <p:sp>
        <p:nvSpPr>
          <p:cNvPr id="10" name="Rectangle 9">
            <a:extLst>
              <a:ext uri="{FF2B5EF4-FFF2-40B4-BE49-F238E27FC236}">
                <a16:creationId xmlns:a16="http://schemas.microsoft.com/office/drawing/2014/main" id="{CA7F77DC-970B-D4D0-63B8-995288D337E6}"/>
              </a:ext>
            </a:extLst>
          </p:cNvPr>
          <p:cNvSpPr/>
          <p:nvPr/>
        </p:nvSpPr>
        <p:spPr>
          <a:xfrm>
            <a:off x="1997764" y="7554440"/>
            <a:ext cx="510208" cy="404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ROB Entry</a:t>
            </a:r>
            <a:endParaRPr lang="en-CA" sz="1000" dirty="0"/>
          </a:p>
        </p:txBody>
      </p:sp>
      <p:sp>
        <p:nvSpPr>
          <p:cNvPr id="11" name="Rectangle 10">
            <a:extLst>
              <a:ext uri="{FF2B5EF4-FFF2-40B4-BE49-F238E27FC236}">
                <a16:creationId xmlns:a16="http://schemas.microsoft.com/office/drawing/2014/main" id="{9D740036-9D2E-E467-DCF1-251ECC6234C0}"/>
              </a:ext>
            </a:extLst>
          </p:cNvPr>
          <p:cNvSpPr/>
          <p:nvPr/>
        </p:nvSpPr>
        <p:spPr>
          <a:xfrm>
            <a:off x="4104860" y="6876921"/>
            <a:ext cx="510208" cy="404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ROB Entry</a:t>
            </a:r>
            <a:endParaRPr lang="en-CA" sz="1000" dirty="0"/>
          </a:p>
        </p:txBody>
      </p:sp>
      <p:sp>
        <p:nvSpPr>
          <p:cNvPr id="12" name="Rectangle 11">
            <a:extLst>
              <a:ext uri="{FF2B5EF4-FFF2-40B4-BE49-F238E27FC236}">
                <a16:creationId xmlns:a16="http://schemas.microsoft.com/office/drawing/2014/main" id="{E5BCD9F3-A52B-993E-6537-E8F022C67E8D}"/>
              </a:ext>
            </a:extLst>
          </p:cNvPr>
          <p:cNvSpPr/>
          <p:nvPr/>
        </p:nvSpPr>
        <p:spPr>
          <a:xfrm>
            <a:off x="3899450" y="7585912"/>
            <a:ext cx="510208" cy="4041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ROB Entry</a:t>
            </a:r>
            <a:endParaRPr lang="en-CA" sz="1000" dirty="0"/>
          </a:p>
        </p:txBody>
      </p:sp>
      <p:sp>
        <p:nvSpPr>
          <p:cNvPr id="14" name="TextBox 13">
            <a:extLst>
              <a:ext uri="{FF2B5EF4-FFF2-40B4-BE49-F238E27FC236}">
                <a16:creationId xmlns:a16="http://schemas.microsoft.com/office/drawing/2014/main" id="{F6BA38B3-80F3-800E-D567-273A93B623F0}"/>
              </a:ext>
            </a:extLst>
          </p:cNvPr>
          <p:cNvSpPr txBox="1"/>
          <p:nvPr/>
        </p:nvSpPr>
        <p:spPr>
          <a:xfrm>
            <a:off x="374984" y="3902715"/>
            <a:ext cx="7715125" cy="1600438"/>
          </a:xfrm>
          <a:prstGeom prst="rect">
            <a:avLst/>
          </a:prstGeom>
          <a:noFill/>
        </p:spPr>
        <p:txBody>
          <a:bodyPr wrap="none" rtlCol="0">
            <a:spAutoFit/>
          </a:bodyPr>
          <a:lstStyle/>
          <a:p>
            <a:r>
              <a:rPr lang="en-US" sz="1400" dirty="0"/>
              <a:t>The reorder buffer is a circular queue with at least 16 entries (not all entries shown below).</a:t>
            </a:r>
          </a:p>
          <a:p>
            <a:endParaRPr lang="en-US" sz="1400" dirty="0"/>
          </a:p>
          <a:p>
            <a:r>
              <a:rPr lang="en-US" sz="1400" dirty="0"/>
              <a:t>Each ROB entry contains information needed to manage the progress of the instruction (micro-op).</a:t>
            </a:r>
          </a:p>
          <a:p>
            <a:endParaRPr lang="en-US" sz="1400" dirty="0"/>
          </a:p>
          <a:p>
            <a:r>
              <a:rPr lang="en-US" sz="1400" dirty="0"/>
              <a:t>Instructions are added at the tail location and committed from the head location.</a:t>
            </a:r>
          </a:p>
          <a:p>
            <a:endParaRPr lang="en-US" sz="1400" dirty="0"/>
          </a:p>
          <a:p>
            <a:r>
              <a:rPr lang="en-US" sz="1400" dirty="0"/>
              <a:t>The head and tail rotate with the tail always behind the head.</a:t>
            </a:r>
            <a:endParaRPr lang="en-CA" sz="1400" dirty="0"/>
          </a:p>
        </p:txBody>
      </p:sp>
    </p:spTree>
    <p:extLst>
      <p:ext uri="{BB962C8B-B14F-4D97-AF65-F5344CB8AC3E}">
        <p14:creationId xmlns:p14="http://schemas.microsoft.com/office/powerpoint/2010/main" val="3910026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AEB7-6308-EE20-4BF7-5D440B53FD21}"/>
              </a:ext>
            </a:extLst>
          </p:cNvPr>
          <p:cNvSpPr>
            <a:spLocks noGrp="1"/>
          </p:cNvSpPr>
          <p:nvPr>
            <p:ph type="title"/>
          </p:nvPr>
        </p:nvSpPr>
        <p:spPr>
          <a:xfrm>
            <a:off x="0" y="2655095"/>
            <a:ext cx="10515600" cy="1325563"/>
          </a:xfrm>
        </p:spPr>
        <p:txBody>
          <a:bodyPr/>
          <a:lstStyle/>
          <a:p>
            <a:r>
              <a:rPr lang="en-US" dirty="0"/>
              <a:t>Qupls4: QMSI Interrupt Cycle</a:t>
            </a:r>
            <a:endParaRPr lang="en-CA" dirty="0"/>
          </a:p>
        </p:txBody>
      </p:sp>
      <p:cxnSp>
        <p:nvCxnSpPr>
          <p:cNvPr id="7" name="Connector: Elbow 6">
            <a:extLst>
              <a:ext uri="{FF2B5EF4-FFF2-40B4-BE49-F238E27FC236}">
                <a16:creationId xmlns:a16="http://schemas.microsoft.com/office/drawing/2014/main" id="{6AE75FAA-544B-CC9D-566F-990B859FFAF4}"/>
              </a:ext>
            </a:extLst>
          </p:cNvPr>
          <p:cNvCxnSpPr>
            <a:cxnSpLocks/>
          </p:cNvCxnSpPr>
          <p:nvPr/>
        </p:nvCxnSpPr>
        <p:spPr>
          <a:xfrm flipV="1">
            <a:off x="414131" y="6047609"/>
            <a:ext cx="914400" cy="33793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8E489A5-F8A3-C045-75C5-C2A1F45AAB6E}"/>
              </a:ext>
            </a:extLst>
          </p:cNvPr>
          <p:cNvCxnSpPr/>
          <p:nvPr/>
        </p:nvCxnSpPr>
        <p:spPr>
          <a:xfrm>
            <a:off x="1321905" y="6054235"/>
            <a:ext cx="49695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CC0B6A54-53CE-E082-9D84-8ABCFCFE311E}"/>
              </a:ext>
            </a:extLst>
          </p:cNvPr>
          <p:cNvCxnSpPr>
            <a:cxnSpLocks/>
          </p:cNvCxnSpPr>
          <p:nvPr/>
        </p:nvCxnSpPr>
        <p:spPr>
          <a:xfrm>
            <a:off x="1779106" y="6054235"/>
            <a:ext cx="715617" cy="3313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E1A50BB-0DCC-7D16-FF72-EE5CB42E9EC8}"/>
              </a:ext>
            </a:extLst>
          </p:cNvPr>
          <p:cNvCxnSpPr>
            <a:cxnSpLocks/>
          </p:cNvCxnSpPr>
          <p:nvPr/>
        </p:nvCxnSpPr>
        <p:spPr>
          <a:xfrm>
            <a:off x="2507975" y="6385539"/>
            <a:ext cx="209384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AEEA1CE6-00BD-CC53-34E6-C62AAB00B707}"/>
              </a:ext>
            </a:extLst>
          </p:cNvPr>
          <p:cNvCxnSpPr>
            <a:cxnSpLocks/>
          </p:cNvCxnSpPr>
          <p:nvPr/>
        </p:nvCxnSpPr>
        <p:spPr>
          <a:xfrm flipV="1">
            <a:off x="2007704" y="7286688"/>
            <a:ext cx="974036" cy="30480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19" name="Connector: Elbow 18">
            <a:extLst>
              <a:ext uri="{FF2B5EF4-FFF2-40B4-BE49-F238E27FC236}">
                <a16:creationId xmlns:a16="http://schemas.microsoft.com/office/drawing/2014/main" id="{596287FA-FBC9-B249-48C6-BC44F5C57ED4}"/>
              </a:ext>
            </a:extLst>
          </p:cNvPr>
          <p:cNvCxnSpPr>
            <a:cxnSpLocks/>
          </p:cNvCxnSpPr>
          <p:nvPr/>
        </p:nvCxnSpPr>
        <p:spPr>
          <a:xfrm>
            <a:off x="2981741" y="7286688"/>
            <a:ext cx="715617" cy="3313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D678D5A-C609-76C7-972E-C3DBA1FA570B}"/>
              </a:ext>
            </a:extLst>
          </p:cNvPr>
          <p:cNvCxnSpPr>
            <a:cxnSpLocks/>
          </p:cNvCxnSpPr>
          <p:nvPr/>
        </p:nvCxnSpPr>
        <p:spPr>
          <a:xfrm>
            <a:off x="3697358" y="7617560"/>
            <a:ext cx="543339" cy="7059"/>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3FB97A0-CC1D-017A-3011-A715A8742EE7}"/>
              </a:ext>
            </a:extLst>
          </p:cNvPr>
          <p:cNvCxnSpPr/>
          <p:nvPr/>
        </p:nvCxnSpPr>
        <p:spPr>
          <a:xfrm flipH="1">
            <a:off x="516836" y="7584862"/>
            <a:ext cx="1464365" cy="0"/>
          </a:xfrm>
          <a:prstGeom prst="line">
            <a:avLst/>
          </a:prstGeom>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3CC712C1-92E8-3087-DA01-86CA79331E65}"/>
              </a:ext>
            </a:extLst>
          </p:cNvPr>
          <p:cNvSpPr txBox="1"/>
          <p:nvPr/>
        </p:nvSpPr>
        <p:spPr>
          <a:xfrm>
            <a:off x="1" y="3710140"/>
            <a:ext cx="10416209" cy="646331"/>
          </a:xfrm>
          <a:prstGeom prst="rect">
            <a:avLst/>
          </a:prstGeom>
          <a:noFill/>
        </p:spPr>
        <p:txBody>
          <a:bodyPr wrap="square" rtlCol="0">
            <a:spAutoFit/>
          </a:bodyPr>
          <a:lstStyle/>
          <a:p>
            <a:r>
              <a:rPr lang="en-US" dirty="0"/>
              <a:t>QMSI interrupt cycles may occur at any point. They are ignored by a bus master and picked up by the QMSI interrupt controller instead. They are single cycle events.</a:t>
            </a:r>
            <a:endParaRPr lang="en-CA" dirty="0"/>
          </a:p>
        </p:txBody>
      </p:sp>
      <p:sp>
        <p:nvSpPr>
          <p:cNvPr id="33" name="TextBox 32">
            <a:extLst>
              <a:ext uri="{FF2B5EF4-FFF2-40B4-BE49-F238E27FC236}">
                <a16:creationId xmlns:a16="http://schemas.microsoft.com/office/drawing/2014/main" id="{270D24FB-C9B0-4E6F-FCFC-4BFB6CFEA5B6}"/>
              </a:ext>
            </a:extLst>
          </p:cNvPr>
          <p:cNvSpPr txBox="1"/>
          <p:nvPr/>
        </p:nvSpPr>
        <p:spPr>
          <a:xfrm>
            <a:off x="493645" y="5718969"/>
            <a:ext cx="1369029" cy="369332"/>
          </a:xfrm>
          <a:prstGeom prst="rect">
            <a:avLst/>
          </a:prstGeom>
          <a:noFill/>
        </p:spPr>
        <p:txBody>
          <a:bodyPr wrap="none" rtlCol="0">
            <a:spAutoFit/>
          </a:bodyPr>
          <a:lstStyle/>
          <a:p>
            <a:r>
              <a:rPr lang="en-US" dirty="0"/>
              <a:t>Active cycle</a:t>
            </a:r>
            <a:endParaRPr lang="en-CA" dirty="0"/>
          </a:p>
        </p:txBody>
      </p:sp>
      <p:sp>
        <p:nvSpPr>
          <p:cNvPr id="34" name="TextBox 33">
            <a:extLst>
              <a:ext uri="{FF2B5EF4-FFF2-40B4-BE49-F238E27FC236}">
                <a16:creationId xmlns:a16="http://schemas.microsoft.com/office/drawing/2014/main" id="{1AAF7F12-D920-F76E-6755-C24CC84E9C7A}"/>
              </a:ext>
            </a:extLst>
          </p:cNvPr>
          <p:cNvSpPr txBox="1"/>
          <p:nvPr/>
        </p:nvSpPr>
        <p:spPr>
          <a:xfrm>
            <a:off x="381742" y="7274300"/>
            <a:ext cx="1135632" cy="369332"/>
          </a:xfrm>
          <a:prstGeom prst="rect">
            <a:avLst/>
          </a:prstGeom>
          <a:noFill/>
        </p:spPr>
        <p:txBody>
          <a:bodyPr wrap="none" rtlCol="0">
            <a:spAutoFit/>
          </a:bodyPr>
          <a:lstStyle/>
          <a:p>
            <a:r>
              <a:rPr lang="en-US" dirty="0"/>
              <a:t>QMSI IRQ</a:t>
            </a:r>
            <a:endParaRPr lang="en-CA" dirty="0"/>
          </a:p>
        </p:txBody>
      </p:sp>
      <p:cxnSp>
        <p:nvCxnSpPr>
          <p:cNvPr id="36" name="Connector: Elbow 35">
            <a:extLst>
              <a:ext uri="{FF2B5EF4-FFF2-40B4-BE49-F238E27FC236}">
                <a16:creationId xmlns:a16="http://schemas.microsoft.com/office/drawing/2014/main" id="{A580B664-8D7E-01F0-69DA-C7E730F72F82}"/>
              </a:ext>
            </a:extLst>
          </p:cNvPr>
          <p:cNvCxnSpPr>
            <a:cxnSpLocks/>
          </p:cNvCxnSpPr>
          <p:nvPr/>
        </p:nvCxnSpPr>
        <p:spPr>
          <a:xfrm flipV="1">
            <a:off x="4489173" y="6047609"/>
            <a:ext cx="914400" cy="33793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A206650-6003-C195-01DC-988AA44C4D7F}"/>
              </a:ext>
            </a:extLst>
          </p:cNvPr>
          <p:cNvCxnSpPr>
            <a:cxnSpLocks/>
          </p:cNvCxnSpPr>
          <p:nvPr/>
        </p:nvCxnSpPr>
        <p:spPr>
          <a:xfrm>
            <a:off x="5403573" y="6054235"/>
            <a:ext cx="163664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6798B524-2BC5-00BE-85BD-08DB83EE827F}"/>
              </a:ext>
            </a:extLst>
          </p:cNvPr>
          <p:cNvCxnSpPr>
            <a:cxnSpLocks/>
          </p:cNvCxnSpPr>
          <p:nvPr/>
        </p:nvCxnSpPr>
        <p:spPr>
          <a:xfrm flipV="1">
            <a:off x="5227983" y="7305701"/>
            <a:ext cx="974036" cy="30480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41" name="Connector: Elbow 40">
            <a:extLst>
              <a:ext uri="{FF2B5EF4-FFF2-40B4-BE49-F238E27FC236}">
                <a16:creationId xmlns:a16="http://schemas.microsoft.com/office/drawing/2014/main" id="{74C40C3C-02B9-0254-1082-284AFC876D85}"/>
              </a:ext>
            </a:extLst>
          </p:cNvPr>
          <p:cNvCxnSpPr>
            <a:cxnSpLocks/>
          </p:cNvCxnSpPr>
          <p:nvPr/>
        </p:nvCxnSpPr>
        <p:spPr>
          <a:xfrm>
            <a:off x="6162264" y="7305701"/>
            <a:ext cx="715617" cy="3313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1E05FBF-03C9-2295-0FB7-47EEDD443BE0}"/>
              </a:ext>
            </a:extLst>
          </p:cNvPr>
          <p:cNvCxnSpPr>
            <a:cxnSpLocks/>
          </p:cNvCxnSpPr>
          <p:nvPr/>
        </p:nvCxnSpPr>
        <p:spPr>
          <a:xfrm>
            <a:off x="6884507" y="7637005"/>
            <a:ext cx="2700131" cy="6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7F891599-4605-12C0-EF96-964661766367}"/>
              </a:ext>
            </a:extLst>
          </p:cNvPr>
          <p:cNvCxnSpPr/>
          <p:nvPr/>
        </p:nvCxnSpPr>
        <p:spPr>
          <a:xfrm>
            <a:off x="4240697" y="7610502"/>
            <a:ext cx="987287" cy="14117"/>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BA62450-C150-D09E-1281-67CFF5DD622E}"/>
              </a:ext>
            </a:extLst>
          </p:cNvPr>
          <p:cNvCxnSpPr>
            <a:cxnSpLocks/>
          </p:cNvCxnSpPr>
          <p:nvPr/>
        </p:nvCxnSpPr>
        <p:spPr>
          <a:xfrm>
            <a:off x="2706756" y="6805865"/>
            <a:ext cx="2093846" cy="14117"/>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D24711BD-D15A-3870-EA62-92B4E9053A29}"/>
              </a:ext>
            </a:extLst>
          </p:cNvPr>
          <p:cNvCxnSpPr>
            <a:cxnSpLocks/>
          </p:cNvCxnSpPr>
          <p:nvPr/>
        </p:nvCxnSpPr>
        <p:spPr>
          <a:xfrm flipV="1">
            <a:off x="5787889" y="6501064"/>
            <a:ext cx="974036" cy="304800"/>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2E39DFF0-0327-4082-B3F7-11077F4375A8}"/>
              </a:ext>
            </a:extLst>
          </p:cNvPr>
          <p:cNvCxnSpPr>
            <a:cxnSpLocks/>
          </p:cNvCxnSpPr>
          <p:nvPr/>
        </p:nvCxnSpPr>
        <p:spPr>
          <a:xfrm flipV="1">
            <a:off x="6755299" y="6501064"/>
            <a:ext cx="974036" cy="6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D057377C-1A53-A39C-13CA-A49D2D948421}"/>
              </a:ext>
            </a:extLst>
          </p:cNvPr>
          <p:cNvCxnSpPr>
            <a:cxnSpLocks/>
          </p:cNvCxnSpPr>
          <p:nvPr/>
        </p:nvCxnSpPr>
        <p:spPr>
          <a:xfrm>
            <a:off x="7729336" y="6501064"/>
            <a:ext cx="715617" cy="3313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7D3F2DC-7EF2-8F5F-B957-3EFEB4D63889}"/>
              </a:ext>
            </a:extLst>
          </p:cNvPr>
          <p:cNvCxnSpPr>
            <a:cxnSpLocks/>
          </p:cNvCxnSpPr>
          <p:nvPr/>
        </p:nvCxnSpPr>
        <p:spPr>
          <a:xfrm>
            <a:off x="8444953" y="6838994"/>
            <a:ext cx="113968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3249D86F-95C6-5F1C-6470-84192B3305AA}"/>
              </a:ext>
            </a:extLst>
          </p:cNvPr>
          <p:cNvCxnSpPr>
            <a:cxnSpLocks/>
          </p:cNvCxnSpPr>
          <p:nvPr/>
        </p:nvCxnSpPr>
        <p:spPr>
          <a:xfrm>
            <a:off x="4800603" y="6805865"/>
            <a:ext cx="987287" cy="14117"/>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57CA6103-D795-5DE1-1D13-E938DC847FCC}"/>
              </a:ext>
            </a:extLst>
          </p:cNvPr>
          <p:cNvCxnSpPr>
            <a:cxnSpLocks/>
          </p:cNvCxnSpPr>
          <p:nvPr/>
        </p:nvCxnSpPr>
        <p:spPr>
          <a:xfrm>
            <a:off x="7023654" y="6047609"/>
            <a:ext cx="715617" cy="331304"/>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69B21A3D-0FC9-F48D-1408-597A0963902F}"/>
              </a:ext>
            </a:extLst>
          </p:cNvPr>
          <p:cNvCxnSpPr>
            <a:cxnSpLocks/>
          </p:cNvCxnSpPr>
          <p:nvPr/>
        </p:nvCxnSpPr>
        <p:spPr>
          <a:xfrm flipV="1">
            <a:off x="7739271" y="6378913"/>
            <a:ext cx="1845367" cy="9506"/>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a:extLst>
              <a:ext uri="{FF2B5EF4-FFF2-40B4-BE49-F238E27FC236}">
                <a16:creationId xmlns:a16="http://schemas.microsoft.com/office/drawing/2014/main" id="{2635FF28-D7FF-5483-C5A2-95B814CB4933}"/>
              </a:ext>
            </a:extLst>
          </p:cNvPr>
          <p:cNvSpPr/>
          <p:nvPr/>
        </p:nvSpPr>
        <p:spPr>
          <a:xfrm>
            <a:off x="5970106" y="7127299"/>
            <a:ext cx="914400" cy="37005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68" name="Straight Arrow Connector 67">
            <a:extLst>
              <a:ext uri="{FF2B5EF4-FFF2-40B4-BE49-F238E27FC236}">
                <a16:creationId xmlns:a16="http://schemas.microsoft.com/office/drawing/2014/main" id="{504598D5-A13B-0BEF-7E72-AC41E1352A2F}"/>
              </a:ext>
            </a:extLst>
          </p:cNvPr>
          <p:cNvCxnSpPr>
            <a:stCxn id="66" idx="0"/>
          </p:cNvCxnSpPr>
          <p:nvPr/>
        </p:nvCxnSpPr>
        <p:spPr>
          <a:xfrm flipV="1">
            <a:off x="6427306" y="6088301"/>
            <a:ext cx="457200" cy="103899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B3DF5F41-F93A-F79A-ADD6-B42372C404FA}"/>
              </a:ext>
            </a:extLst>
          </p:cNvPr>
          <p:cNvSpPr txBox="1"/>
          <p:nvPr/>
        </p:nvSpPr>
        <p:spPr>
          <a:xfrm>
            <a:off x="55267" y="4458212"/>
            <a:ext cx="10649975" cy="923330"/>
          </a:xfrm>
          <a:prstGeom prst="rect">
            <a:avLst/>
          </a:prstGeom>
          <a:noFill/>
        </p:spPr>
        <p:txBody>
          <a:bodyPr wrap="square" rtlCol="0">
            <a:spAutoFit/>
          </a:bodyPr>
          <a:lstStyle/>
          <a:p>
            <a:r>
              <a:rPr lang="en-US" dirty="0"/>
              <a:t>The presence of a QMSI interrupt during an active bus cycle causes the master to delay negating the cycle until after the QMSI interrupt is no longer present. This is to allow the master to capture the incoming data</a:t>
            </a:r>
          </a:p>
          <a:p>
            <a:r>
              <a:rPr lang="en-US" dirty="0"/>
              <a:t>instead of the QMSI message.</a:t>
            </a:r>
            <a:endParaRPr lang="en-CA" dirty="0"/>
          </a:p>
        </p:txBody>
      </p:sp>
      <p:sp>
        <p:nvSpPr>
          <p:cNvPr id="70" name="Oval 69">
            <a:extLst>
              <a:ext uri="{FF2B5EF4-FFF2-40B4-BE49-F238E27FC236}">
                <a16:creationId xmlns:a16="http://schemas.microsoft.com/office/drawing/2014/main" id="{70EF029E-35C0-1635-7330-7D2BE468EB95}"/>
              </a:ext>
            </a:extLst>
          </p:cNvPr>
          <p:cNvSpPr/>
          <p:nvPr/>
        </p:nvSpPr>
        <p:spPr>
          <a:xfrm>
            <a:off x="2650435" y="7089273"/>
            <a:ext cx="914400" cy="370054"/>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71" name="Straight Arrow Connector 70">
            <a:extLst>
              <a:ext uri="{FF2B5EF4-FFF2-40B4-BE49-F238E27FC236}">
                <a16:creationId xmlns:a16="http://schemas.microsoft.com/office/drawing/2014/main" id="{52EB397D-5702-C6E0-EC4E-CACAA2BF2158}"/>
              </a:ext>
            </a:extLst>
          </p:cNvPr>
          <p:cNvCxnSpPr>
            <a:cxnSpLocks/>
          </p:cNvCxnSpPr>
          <p:nvPr/>
        </p:nvCxnSpPr>
        <p:spPr>
          <a:xfrm flipV="1">
            <a:off x="3097695" y="6385539"/>
            <a:ext cx="110986" cy="70106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865A74CF-1FF4-E182-AAF9-C495881744CD}"/>
              </a:ext>
            </a:extLst>
          </p:cNvPr>
          <p:cNvSpPr txBox="1"/>
          <p:nvPr/>
        </p:nvSpPr>
        <p:spPr>
          <a:xfrm>
            <a:off x="2316561" y="6053371"/>
            <a:ext cx="2443939" cy="276999"/>
          </a:xfrm>
          <a:prstGeom prst="rect">
            <a:avLst/>
          </a:prstGeom>
          <a:noFill/>
        </p:spPr>
        <p:txBody>
          <a:bodyPr wrap="none" rtlCol="0">
            <a:spAutoFit/>
          </a:bodyPr>
          <a:lstStyle/>
          <a:p>
            <a:r>
              <a:rPr lang="en-US" sz="1200" dirty="0"/>
              <a:t>Inactive bus, master ignores QMSI</a:t>
            </a:r>
            <a:endParaRPr lang="en-CA" sz="1200" dirty="0"/>
          </a:p>
        </p:txBody>
      </p:sp>
      <p:sp>
        <p:nvSpPr>
          <p:cNvPr id="74" name="TextBox 73">
            <a:extLst>
              <a:ext uri="{FF2B5EF4-FFF2-40B4-BE49-F238E27FC236}">
                <a16:creationId xmlns:a16="http://schemas.microsoft.com/office/drawing/2014/main" id="{92A51868-A1AE-DBCF-E392-A381DB6DFA0E}"/>
              </a:ext>
            </a:extLst>
          </p:cNvPr>
          <p:cNvSpPr txBox="1"/>
          <p:nvPr/>
        </p:nvSpPr>
        <p:spPr>
          <a:xfrm>
            <a:off x="3891799" y="6527570"/>
            <a:ext cx="2041521" cy="276999"/>
          </a:xfrm>
          <a:prstGeom prst="rect">
            <a:avLst/>
          </a:prstGeom>
          <a:noFill/>
        </p:spPr>
        <p:txBody>
          <a:bodyPr wrap="none" rtlCol="0">
            <a:spAutoFit/>
          </a:bodyPr>
          <a:lstStyle/>
          <a:p>
            <a:r>
              <a:rPr lang="en-US" sz="1200" dirty="0"/>
              <a:t>Response bus acknowledge</a:t>
            </a:r>
            <a:endParaRPr lang="en-CA" sz="1200" dirty="0"/>
          </a:p>
        </p:txBody>
      </p:sp>
      <p:cxnSp>
        <p:nvCxnSpPr>
          <p:cNvPr id="78" name="Straight Connector 77">
            <a:extLst>
              <a:ext uri="{FF2B5EF4-FFF2-40B4-BE49-F238E27FC236}">
                <a16:creationId xmlns:a16="http://schemas.microsoft.com/office/drawing/2014/main" id="{938FA4F9-A36C-ABA3-F907-266B72F1200E}"/>
              </a:ext>
            </a:extLst>
          </p:cNvPr>
          <p:cNvCxnSpPr/>
          <p:nvPr/>
        </p:nvCxnSpPr>
        <p:spPr>
          <a:xfrm>
            <a:off x="6579704" y="7830069"/>
            <a:ext cx="0" cy="848139"/>
          </a:xfrm>
          <a:prstGeom prst="line">
            <a:avLst/>
          </a:prstGeom>
          <a:ln>
            <a:solidFill>
              <a:schemeClr val="tx1"/>
            </a:solidFill>
            <a:prstDash val="dashDot"/>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65F7C124-BB6D-D0CC-771D-9F2B2F32E52E}"/>
              </a:ext>
            </a:extLst>
          </p:cNvPr>
          <p:cNvCxnSpPr>
            <a:cxnSpLocks/>
          </p:cNvCxnSpPr>
          <p:nvPr/>
        </p:nvCxnSpPr>
        <p:spPr>
          <a:xfrm>
            <a:off x="7394712" y="6426161"/>
            <a:ext cx="0" cy="2168110"/>
          </a:xfrm>
          <a:prstGeom prst="line">
            <a:avLst/>
          </a:prstGeom>
          <a:ln>
            <a:solidFill>
              <a:schemeClr val="tx1"/>
            </a:solidFill>
            <a:prstDash val="dashDot"/>
          </a:ln>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42454C5B-EED6-A0EB-8E81-C0E357833379}"/>
              </a:ext>
            </a:extLst>
          </p:cNvPr>
          <p:cNvSpPr txBox="1"/>
          <p:nvPr/>
        </p:nvSpPr>
        <p:spPr>
          <a:xfrm>
            <a:off x="6520072" y="8594272"/>
            <a:ext cx="1050159" cy="276999"/>
          </a:xfrm>
          <a:prstGeom prst="rect">
            <a:avLst/>
          </a:prstGeom>
          <a:noFill/>
        </p:spPr>
        <p:txBody>
          <a:bodyPr wrap="none" rtlCol="0">
            <a:spAutoFit/>
          </a:bodyPr>
          <a:lstStyle/>
          <a:p>
            <a:r>
              <a:rPr lang="en-US" sz="1200" dirty="0"/>
              <a:t>1 clock delay</a:t>
            </a:r>
            <a:endParaRPr lang="en-CA" sz="1200" dirty="0"/>
          </a:p>
        </p:txBody>
      </p:sp>
      <p:cxnSp>
        <p:nvCxnSpPr>
          <p:cNvPr id="83" name="Straight Arrow Connector 82">
            <a:extLst>
              <a:ext uri="{FF2B5EF4-FFF2-40B4-BE49-F238E27FC236}">
                <a16:creationId xmlns:a16="http://schemas.microsoft.com/office/drawing/2014/main" id="{873CC427-8FEB-4F6F-4150-2B1BBBE5C14E}"/>
              </a:ext>
            </a:extLst>
          </p:cNvPr>
          <p:cNvCxnSpPr>
            <a:cxnSpLocks/>
          </p:cNvCxnSpPr>
          <p:nvPr/>
        </p:nvCxnSpPr>
        <p:spPr>
          <a:xfrm>
            <a:off x="6579705" y="8451423"/>
            <a:ext cx="80175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5112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970084-5761-0219-E896-300E640B509F}"/>
              </a:ext>
            </a:extLst>
          </p:cNvPr>
          <p:cNvSpPr/>
          <p:nvPr/>
        </p:nvSpPr>
        <p:spPr>
          <a:xfrm>
            <a:off x="435281" y="5101331"/>
            <a:ext cx="8865717" cy="12998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CA" sz="1400" dirty="0">
                <a:solidFill>
                  <a:schemeClr val="tx1"/>
                </a:solidFill>
              </a:rPr>
              <a:t>Execute</a:t>
            </a:r>
          </a:p>
        </p:txBody>
      </p:sp>
      <p:sp>
        <p:nvSpPr>
          <p:cNvPr id="5" name="Arrow: U-Turn 4">
            <a:extLst>
              <a:ext uri="{FF2B5EF4-FFF2-40B4-BE49-F238E27FC236}">
                <a16:creationId xmlns:a16="http://schemas.microsoft.com/office/drawing/2014/main" id="{4B23F58E-1E1F-D8BC-4F2B-37AB7F331A75}"/>
              </a:ext>
            </a:extLst>
          </p:cNvPr>
          <p:cNvSpPr/>
          <p:nvPr/>
        </p:nvSpPr>
        <p:spPr>
          <a:xfrm rot="16200000" flipH="1" flipV="1">
            <a:off x="10740790" y="6607017"/>
            <a:ext cx="1232320" cy="532103"/>
          </a:xfrm>
          <a:prstGeom prst="utur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801" dirty="0">
              <a:solidFill>
                <a:schemeClr val="tx1"/>
              </a:solidFill>
            </a:endParaRPr>
          </a:p>
        </p:txBody>
      </p:sp>
      <p:sp>
        <p:nvSpPr>
          <p:cNvPr id="6" name="Title 1">
            <a:extLst>
              <a:ext uri="{FF2B5EF4-FFF2-40B4-BE49-F238E27FC236}">
                <a16:creationId xmlns:a16="http://schemas.microsoft.com/office/drawing/2014/main" id="{06D5237C-5DF8-B963-6D33-81F1BECE6DD6}"/>
              </a:ext>
            </a:extLst>
          </p:cNvPr>
          <p:cNvSpPr txBox="1">
            <a:spLocks/>
          </p:cNvSpPr>
          <p:nvPr/>
        </p:nvSpPr>
        <p:spPr>
          <a:xfrm>
            <a:off x="383382" y="0"/>
            <a:ext cx="6190533" cy="806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dirty="0"/>
              <a:t>Q+4 Block Diagram</a:t>
            </a:r>
          </a:p>
        </p:txBody>
      </p:sp>
      <p:sp>
        <p:nvSpPr>
          <p:cNvPr id="7" name="Rectangle 6">
            <a:extLst>
              <a:ext uri="{FF2B5EF4-FFF2-40B4-BE49-F238E27FC236}">
                <a16:creationId xmlns:a16="http://schemas.microsoft.com/office/drawing/2014/main" id="{74C2C1F5-0D1C-EEAB-C54E-5DDE6A798229}"/>
              </a:ext>
            </a:extLst>
          </p:cNvPr>
          <p:cNvSpPr/>
          <p:nvPr/>
        </p:nvSpPr>
        <p:spPr>
          <a:xfrm>
            <a:off x="1026410" y="1511403"/>
            <a:ext cx="4690586" cy="518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L1 I-Cache</a:t>
            </a:r>
          </a:p>
          <a:p>
            <a:pPr algn="ctr"/>
            <a:r>
              <a:rPr lang="en-CA" sz="900" dirty="0">
                <a:solidFill>
                  <a:schemeClr val="tx1"/>
                </a:solidFill>
              </a:rPr>
              <a:t>32kB – 4 way</a:t>
            </a:r>
          </a:p>
        </p:txBody>
      </p:sp>
      <p:sp>
        <p:nvSpPr>
          <p:cNvPr id="8" name="Rectangle 7">
            <a:extLst>
              <a:ext uri="{FF2B5EF4-FFF2-40B4-BE49-F238E27FC236}">
                <a16:creationId xmlns:a16="http://schemas.microsoft.com/office/drawing/2014/main" id="{FEBB3FEA-D7DA-912A-C01E-5D04A6E356E4}"/>
              </a:ext>
            </a:extLst>
          </p:cNvPr>
          <p:cNvSpPr/>
          <p:nvPr/>
        </p:nvSpPr>
        <p:spPr>
          <a:xfrm>
            <a:off x="2056538" y="2172585"/>
            <a:ext cx="3654195" cy="3326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Fetch</a:t>
            </a:r>
          </a:p>
          <a:p>
            <a:pPr algn="ctr"/>
            <a:r>
              <a:rPr lang="en-CA" sz="900" dirty="0">
                <a:solidFill>
                  <a:schemeClr val="tx1"/>
                </a:solidFill>
              </a:rPr>
              <a:t>128B cache line pair</a:t>
            </a:r>
          </a:p>
        </p:txBody>
      </p:sp>
      <p:sp>
        <p:nvSpPr>
          <p:cNvPr id="9" name="Rectangle 8">
            <a:extLst>
              <a:ext uri="{FF2B5EF4-FFF2-40B4-BE49-F238E27FC236}">
                <a16:creationId xmlns:a16="http://schemas.microsoft.com/office/drawing/2014/main" id="{ADC1DD01-3F9D-B968-E52D-A79C3213FF06}"/>
              </a:ext>
            </a:extLst>
          </p:cNvPr>
          <p:cNvSpPr/>
          <p:nvPr/>
        </p:nvSpPr>
        <p:spPr>
          <a:xfrm>
            <a:off x="2062801" y="2688127"/>
            <a:ext cx="3654195" cy="2949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Align</a:t>
            </a:r>
          </a:p>
          <a:p>
            <a:pPr algn="ctr"/>
            <a:r>
              <a:rPr lang="en-CA" sz="900" dirty="0">
                <a:solidFill>
                  <a:schemeClr val="tx1"/>
                </a:solidFill>
              </a:rPr>
              <a:t>48x4= 192 Bits = 24B</a:t>
            </a:r>
          </a:p>
        </p:txBody>
      </p:sp>
      <p:sp>
        <p:nvSpPr>
          <p:cNvPr id="10" name="Rectangle 9">
            <a:extLst>
              <a:ext uri="{FF2B5EF4-FFF2-40B4-BE49-F238E27FC236}">
                <a16:creationId xmlns:a16="http://schemas.microsoft.com/office/drawing/2014/main" id="{E6EB1DCC-83F5-96A9-397E-8557B273025B}"/>
              </a:ext>
            </a:extLst>
          </p:cNvPr>
          <p:cNvSpPr/>
          <p:nvPr/>
        </p:nvSpPr>
        <p:spPr>
          <a:xfrm>
            <a:off x="2062801" y="3174910"/>
            <a:ext cx="3654195" cy="263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Extract x4</a:t>
            </a:r>
          </a:p>
        </p:txBody>
      </p:sp>
      <p:sp>
        <p:nvSpPr>
          <p:cNvPr id="11" name="Arrow: Down 10">
            <a:extLst>
              <a:ext uri="{FF2B5EF4-FFF2-40B4-BE49-F238E27FC236}">
                <a16:creationId xmlns:a16="http://schemas.microsoft.com/office/drawing/2014/main" id="{FF874946-B7FF-DACC-2AD0-F9BFFA6A9A48}"/>
              </a:ext>
            </a:extLst>
          </p:cNvPr>
          <p:cNvSpPr/>
          <p:nvPr/>
        </p:nvSpPr>
        <p:spPr>
          <a:xfrm>
            <a:off x="3593514" y="2974547"/>
            <a:ext cx="484633" cy="19753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801" dirty="0">
              <a:solidFill>
                <a:schemeClr val="tx1"/>
              </a:solidFill>
            </a:endParaRPr>
          </a:p>
        </p:txBody>
      </p:sp>
      <p:sp>
        <p:nvSpPr>
          <p:cNvPr id="12" name="Rectangle 11">
            <a:extLst>
              <a:ext uri="{FF2B5EF4-FFF2-40B4-BE49-F238E27FC236}">
                <a16:creationId xmlns:a16="http://schemas.microsoft.com/office/drawing/2014/main" id="{5405C151-C6E5-2992-9884-7698E4F789BC}"/>
              </a:ext>
            </a:extLst>
          </p:cNvPr>
          <p:cNvSpPr/>
          <p:nvPr/>
        </p:nvSpPr>
        <p:spPr>
          <a:xfrm>
            <a:off x="2059980" y="3520426"/>
            <a:ext cx="3657016" cy="263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Decoder x4</a:t>
            </a:r>
          </a:p>
        </p:txBody>
      </p:sp>
      <p:sp>
        <p:nvSpPr>
          <p:cNvPr id="13" name="Arrow: Down 12">
            <a:extLst>
              <a:ext uri="{FF2B5EF4-FFF2-40B4-BE49-F238E27FC236}">
                <a16:creationId xmlns:a16="http://schemas.microsoft.com/office/drawing/2014/main" id="{E2122181-49CC-ABCA-1D65-C69721315E15}"/>
              </a:ext>
            </a:extLst>
          </p:cNvPr>
          <p:cNvSpPr/>
          <p:nvPr/>
        </p:nvSpPr>
        <p:spPr>
          <a:xfrm>
            <a:off x="2625151" y="2042369"/>
            <a:ext cx="1624729" cy="123151"/>
          </a:xfrm>
          <a:prstGeom prst="downArrow">
            <a:avLst>
              <a:gd name="adj1" fmla="val 50000"/>
              <a:gd name="adj2" fmla="val 5902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700" dirty="0">
              <a:solidFill>
                <a:schemeClr val="tx1"/>
              </a:solidFill>
            </a:endParaRPr>
          </a:p>
        </p:txBody>
      </p:sp>
      <p:sp>
        <p:nvSpPr>
          <p:cNvPr id="14" name="Arrow: Down 13">
            <a:extLst>
              <a:ext uri="{FF2B5EF4-FFF2-40B4-BE49-F238E27FC236}">
                <a16:creationId xmlns:a16="http://schemas.microsoft.com/office/drawing/2014/main" id="{6A440F4C-9644-FF07-88D6-EF5B5B46A6F1}"/>
              </a:ext>
            </a:extLst>
          </p:cNvPr>
          <p:cNvSpPr/>
          <p:nvPr/>
        </p:nvSpPr>
        <p:spPr>
          <a:xfrm>
            <a:off x="3034142" y="2525037"/>
            <a:ext cx="1624729" cy="141612"/>
          </a:xfrm>
          <a:prstGeom prst="downArrow">
            <a:avLst>
              <a:gd name="adj1" fmla="val 50000"/>
              <a:gd name="adj2" fmla="val 5902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700" dirty="0">
              <a:solidFill>
                <a:schemeClr val="tx1"/>
              </a:solidFill>
            </a:endParaRPr>
          </a:p>
        </p:txBody>
      </p:sp>
      <p:sp>
        <p:nvSpPr>
          <p:cNvPr id="15" name="Rectangle 14">
            <a:extLst>
              <a:ext uri="{FF2B5EF4-FFF2-40B4-BE49-F238E27FC236}">
                <a16:creationId xmlns:a16="http://schemas.microsoft.com/office/drawing/2014/main" id="{445EAF0E-8879-3D1E-31D0-8A812CDBE7C7}"/>
              </a:ext>
            </a:extLst>
          </p:cNvPr>
          <p:cNvSpPr/>
          <p:nvPr/>
        </p:nvSpPr>
        <p:spPr>
          <a:xfrm>
            <a:off x="2059980" y="3884673"/>
            <a:ext cx="3657016" cy="263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Rename x4</a:t>
            </a:r>
          </a:p>
        </p:txBody>
      </p:sp>
      <p:sp>
        <p:nvSpPr>
          <p:cNvPr id="16" name="Arrow: Down 15">
            <a:extLst>
              <a:ext uri="{FF2B5EF4-FFF2-40B4-BE49-F238E27FC236}">
                <a16:creationId xmlns:a16="http://schemas.microsoft.com/office/drawing/2014/main" id="{81130847-18C8-3A93-81DE-3501684FAD5A}"/>
              </a:ext>
            </a:extLst>
          </p:cNvPr>
          <p:cNvSpPr/>
          <p:nvPr/>
        </p:nvSpPr>
        <p:spPr>
          <a:xfrm>
            <a:off x="3604191" y="3780136"/>
            <a:ext cx="484633" cy="86861"/>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17" name="Rectangle 16">
            <a:extLst>
              <a:ext uri="{FF2B5EF4-FFF2-40B4-BE49-F238E27FC236}">
                <a16:creationId xmlns:a16="http://schemas.microsoft.com/office/drawing/2014/main" id="{ACF09446-F392-E691-8EE0-F902CD6EA9DD}"/>
              </a:ext>
            </a:extLst>
          </p:cNvPr>
          <p:cNvSpPr/>
          <p:nvPr/>
        </p:nvSpPr>
        <p:spPr>
          <a:xfrm>
            <a:off x="3979443" y="4285274"/>
            <a:ext cx="1624729" cy="632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CA" sz="900" dirty="0">
              <a:solidFill>
                <a:schemeClr val="tx1"/>
              </a:solidFill>
            </a:endParaRPr>
          </a:p>
        </p:txBody>
      </p:sp>
      <p:sp>
        <p:nvSpPr>
          <p:cNvPr id="18" name="Arrow: Down 17">
            <a:extLst>
              <a:ext uri="{FF2B5EF4-FFF2-40B4-BE49-F238E27FC236}">
                <a16:creationId xmlns:a16="http://schemas.microsoft.com/office/drawing/2014/main" id="{886A36F2-D61F-4BA8-CDDD-5FFE9C3B053D}"/>
              </a:ext>
            </a:extLst>
          </p:cNvPr>
          <p:cNvSpPr/>
          <p:nvPr/>
        </p:nvSpPr>
        <p:spPr>
          <a:xfrm>
            <a:off x="2636226" y="4160650"/>
            <a:ext cx="484633" cy="75872"/>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19" name="Rectangle 18">
            <a:extLst>
              <a:ext uri="{FF2B5EF4-FFF2-40B4-BE49-F238E27FC236}">
                <a16:creationId xmlns:a16="http://schemas.microsoft.com/office/drawing/2014/main" id="{7495C68A-5956-6C6A-1BB9-67742AF3C593}"/>
              </a:ext>
            </a:extLst>
          </p:cNvPr>
          <p:cNvSpPr/>
          <p:nvPr/>
        </p:nvSpPr>
        <p:spPr>
          <a:xfrm>
            <a:off x="3976000" y="4317956"/>
            <a:ext cx="1591299" cy="5999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CA" sz="800" dirty="0">
                <a:solidFill>
                  <a:schemeClr val="tx1"/>
                </a:solidFill>
              </a:rPr>
              <a:t>Reorder Buffer 16 to 64 Entries</a:t>
            </a:r>
          </a:p>
        </p:txBody>
      </p:sp>
      <p:cxnSp>
        <p:nvCxnSpPr>
          <p:cNvPr id="20" name="Straight Connector 19">
            <a:extLst>
              <a:ext uri="{FF2B5EF4-FFF2-40B4-BE49-F238E27FC236}">
                <a16:creationId xmlns:a16="http://schemas.microsoft.com/office/drawing/2014/main" id="{4D0DF53D-E33D-3243-6DB9-7F46A6F26149}"/>
              </a:ext>
            </a:extLst>
          </p:cNvPr>
          <p:cNvCxnSpPr>
            <a:cxnSpLocks/>
          </p:cNvCxnSpPr>
          <p:nvPr/>
        </p:nvCxnSpPr>
        <p:spPr>
          <a:xfrm>
            <a:off x="3976000" y="4617910"/>
            <a:ext cx="159129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BF888DF-FB33-C64F-E6F6-FA6EBFFBD257}"/>
              </a:ext>
            </a:extLst>
          </p:cNvPr>
          <p:cNvCxnSpPr>
            <a:cxnSpLocks/>
          </p:cNvCxnSpPr>
          <p:nvPr/>
        </p:nvCxnSpPr>
        <p:spPr>
          <a:xfrm>
            <a:off x="3976000" y="4617910"/>
            <a:ext cx="15912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B0D64C9-15EB-932A-9255-0B2F0B69B9F3}"/>
              </a:ext>
            </a:extLst>
          </p:cNvPr>
          <p:cNvCxnSpPr>
            <a:cxnSpLocks/>
          </p:cNvCxnSpPr>
          <p:nvPr/>
        </p:nvCxnSpPr>
        <p:spPr>
          <a:xfrm>
            <a:off x="4088824" y="4569818"/>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EB8B52A-3C3C-6C8C-BA58-BFEE708FD7D6}"/>
              </a:ext>
            </a:extLst>
          </p:cNvPr>
          <p:cNvCxnSpPr>
            <a:cxnSpLocks/>
          </p:cNvCxnSpPr>
          <p:nvPr/>
        </p:nvCxnSpPr>
        <p:spPr>
          <a:xfrm>
            <a:off x="4088824" y="4679722"/>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84F1077-7316-3ABC-664E-5795F0A9B409}"/>
              </a:ext>
            </a:extLst>
          </p:cNvPr>
          <p:cNvCxnSpPr>
            <a:cxnSpLocks/>
          </p:cNvCxnSpPr>
          <p:nvPr/>
        </p:nvCxnSpPr>
        <p:spPr>
          <a:xfrm>
            <a:off x="4088824" y="4735335"/>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8D57189-AC2E-CF4F-B0CC-486F814C6359}"/>
              </a:ext>
            </a:extLst>
          </p:cNvPr>
          <p:cNvCxnSpPr>
            <a:cxnSpLocks/>
          </p:cNvCxnSpPr>
          <p:nvPr/>
        </p:nvCxnSpPr>
        <p:spPr>
          <a:xfrm>
            <a:off x="4088824" y="4789626"/>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9238BBCA-9C06-22C7-7BE5-4072CA660EF2}"/>
              </a:ext>
            </a:extLst>
          </p:cNvPr>
          <p:cNvCxnSpPr>
            <a:cxnSpLocks/>
          </p:cNvCxnSpPr>
          <p:nvPr/>
        </p:nvCxnSpPr>
        <p:spPr>
          <a:xfrm>
            <a:off x="4088824" y="4842380"/>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BED4960-08FE-0E6D-D9A6-60EEAA13F72C}"/>
              </a:ext>
            </a:extLst>
          </p:cNvPr>
          <p:cNvCxnSpPr>
            <a:cxnSpLocks/>
          </p:cNvCxnSpPr>
          <p:nvPr/>
        </p:nvCxnSpPr>
        <p:spPr>
          <a:xfrm>
            <a:off x="4088824" y="4894224"/>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BAF654F7-5E4E-E483-CA8B-75C77CDBD465}"/>
              </a:ext>
            </a:extLst>
          </p:cNvPr>
          <p:cNvSpPr/>
          <p:nvPr/>
        </p:nvSpPr>
        <p:spPr>
          <a:xfrm>
            <a:off x="1267347" y="5904893"/>
            <a:ext cx="2790232" cy="3546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Scheduling</a:t>
            </a:r>
          </a:p>
        </p:txBody>
      </p:sp>
      <p:sp>
        <p:nvSpPr>
          <p:cNvPr id="29" name="Rectangle 28">
            <a:extLst>
              <a:ext uri="{FF2B5EF4-FFF2-40B4-BE49-F238E27FC236}">
                <a16:creationId xmlns:a16="http://schemas.microsoft.com/office/drawing/2014/main" id="{2EC240E8-0500-E1C2-5D94-6EEAEBCF9E7B}"/>
              </a:ext>
            </a:extLst>
          </p:cNvPr>
          <p:cNvSpPr/>
          <p:nvPr/>
        </p:nvSpPr>
        <p:spPr>
          <a:xfrm>
            <a:off x="534455" y="5462823"/>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SAU #0</a:t>
            </a:r>
          </a:p>
        </p:txBody>
      </p:sp>
      <p:sp>
        <p:nvSpPr>
          <p:cNvPr id="30" name="Rectangle 29">
            <a:extLst>
              <a:ext uri="{FF2B5EF4-FFF2-40B4-BE49-F238E27FC236}">
                <a16:creationId xmlns:a16="http://schemas.microsoft.com/office/drawing/2014/main" id="{202059ED-414F-CAFE-89BF-75A1ABCB07B4}"/>
              </a:ext>
            </a:extLst>
          </p:cNvPr>
          <p:cNvSpPr/>
          <p:nvPr/>
        </p:nvSpPr>
        <p:spPr>
          <a:xfrm>
            <a:off x="1158622" y="5460587"/>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SAU #1</a:t>
            </a:r>
          </a:p>
        </p:txBody>
      </p:sp>
      <p:sp>
        <p:nvSpPr>
          <p:cNvPr id="32" name="Rectangle 31">
            <a:extLst>
              <a:ext uri="{FF2B5EF4-FFF2-40B4-BE49-F238E27FC236}">
                <a16:creationId xmlns:a16="http://schemas.microsoft.com/office/drawing/2014/main" id="{9C09049B-FEEF-253A-7A12-1E3FC9A258F2}"/>
              </a:ext>
            </a:extLst>
          </p:cNvPr>
          <p:cNvSpPr/>
          <p:nvPr/>
        </p:nvSpPr>
        <p:spPr>
          <a:xfrm>
            <a:off x="5358346" y="5478203"/>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FCU</a:t>
            </a:r>
          </a:p>
        </p:txBody>
      </p:sp>
      <p:sp>
        <p:nvSpPr>
          <p:cNvPr id="33" name="Rectangle 32">
            <a:extLst>
              <a:ext uri="{FF2B5EF4-FFF2-40B4-BE49-F238E27FC236}">
                <a16:creationId xmlns:a16="http://schemas.microsoft.com/office/drawing/2014/main" id="{64EE027C-FA54-4280-F8DD-AFD8CCD20E8C}"/>
              </a:ext>
            </a:extLst>
          </p:cNvPr>
          <p:cNvSpPr/>
          <p:nvPr/>
        </p:nvSpPr>
        <p:spPr>
          <a:xfrm>
            <a:off x="5959265" y="5474109"/>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MEM 0</a:t>
            </a:r>
          </a:p>
        </p:txBody>
      </p:sp>
      <p:sp>
        <p:nvSpPr>
          <p:cNvPr id="34" name="Rectangle 33">
            <a:extLst>
              <a:ext uri="{FF2B5EF4-FFF2-40B4-BE49-F238E27FC236}">
                <a16:creationId xmlns:a16="http://schemas.microsoft.com/office/drawing/2014/main" id="{D0B9EF60-36B7-CAB2-B47F-DD20C44D9793}"/>
              </a:ext>
            </a:extLst>
          </p:cNvPr>
          <p:cNvSpPr/>
          <p:nvPr/>
        </p:nvSpPr>
        <p:spPr>
          <a:xfrm>
            <a:off x="534455" y="5616874"/>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CSRs</a:t>
            </a:r>
          </a:p>
        </p:txBody>
      </p:sp>
      <p:sp>
        <p:nvSpPr>
          <p:cNvPr id="35" name="Rectangle 34">
            <a:extLst>
              <a:ext uri="{FF2B5EF4-FFF2-40B4-BE49-F238E27FC236}">
                <a16:creationId xmlns:a16="http://schemas.microsoft.com/office/drawing/2014/main" id="{27E73F77-ED95-225F-E2FB-BD166FCAB3CC}"/>
              </a:ext>
            </a:extLst>
          </p:cNvPr>
          <p:cNvSpPr/>
          <p:nvPr/>
        </p:nvSpPr>
        <p:spPr>
          <a:xfrm>
            <a:off x="4756589" y="5478203"/>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FPU</a:t>
            </a:r>
          </a:p>
        </p:txBody>
      </p:sp>
      <p:sp>
        <p:nvSpPr>
          <p:cNvPr id="36" name="Rectangle 35">
            <a:extLst>
              <a:ext uri="{FF2B5EF4-FFF2-40B4-BE49-F238E27FC236}">
                <a16:creationId xmlns:a16="http://schemas.microsoft.com/office/drawing/2014/main" id="{A17722EE-9F48-82B0-34CE-E7F7C738BFDC}"/>
              </a:ext>
            </a:extLst>
          </p:cNvPr>
          <p:cNvSpPr/>
          <p:nvPr/>
        </p:nvSpPr>
        <p:spPr>
          <a:xfrm>
            <a:off x="7161941" y="5467370"/>
            <a:ext cx="564852" cy="2501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Neural Net</a:t>
            </a:r>
          </a:p>
        </p:txBody>
      </p:sp>
      <p:sp>
        <p:nvSpPr>
          <p:cNvPr id="37" name="Rectangle 36">
            <a:extLst>
              <a:ext uri="{FF2B5EF4-FFF2-40B4-BE49-F238E27FC236}">
                <a16:creationId xmlns:a16="http://schemas.microsoft.com/office/drawing/2014/main" id="{317EF68E-A6FD-FD02-C6C5-8EFF1BBE1FC5}"/>
              </a:ext>
            </a:extLst>
          </p:cNvPr>
          <p:cNvSpPr/>
          <p:nvPr/>
        </p:nvSpPr>
        <p:spPr>
          <a:xfrm>
            <a:off x="6048160" y="3396671"/>
            <a:ext cx="1082956" cy="6121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solidFill>
                  <a:schemeClr val="tx1"/>
                </a:solidFill>
              </a:rPr>
              <a:t>GP File</a:t>
            </a:r>
          </a:p>
          <a:p>
            <a:pPr algn="ctr"/>
            <a:r>
              <a:rPr lang="en-CA" sz="1100" dirty="0">
                <a:solidFill>
                  <a:schemeClr val="tx1"/>
                </a:solidFill>
              </a:rPr>
              <a:t>Arch. Regs</a:t>
            </a:r>
          </a:p>
          <a:p>
            <a:pPr algn="ctr"/>
            <a:r>
              <a:rPr lang="en-CA" sz="1100" dirty="0">
                <a:solidFill>
                  <a:schemeClr val="tx1"/>
                </a:solidFill>
              </a:rPr>
              <a:t>40 x 64b</a:t>
            </a:r>
          </a:p>
        </p:txBody>
      </p:sp>
      <p:sp>
        <p:nvSpPr>
          <p:cNvPr id="38" name="Rectangle 37">
            <a:extLst>
              <a:ext uri="{FF2B5EF4-FFF2-40B4-BE49-F238E27FC236}">
                <a16:creationId xmlns:a16="http://schemas.microsoft.com/office/drawing/2014/main" id="{144C8F5A-E43C-44BF-2698-814B415B1313}"/>
              </a:ext>
            </a:extLst>
          </p:cNvPr>
          <p:cNvSpPr/>
          <p:nvPr/>
        </p:nvSpPr>
        <p:spPr>
          <a:xfrm>
            <a:off x="7247709" y="3396758"/>
            <a:ext cx="1885700" cy="13580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solidFill>
                  <a:schemeClr val="tx1"/>
                </a:solidFill>
              </a:rPr>
              <a:t>Physical Register File</a:t>
            </a:r>
          </a:p>
          <a:p>
            <a:pPr algn="ctr"/>
            <a:r>
              <a:rPr lang="en-CA" sz="1100" dirty="0">
                <a:solidFill>
                  <a:schemeClr val="tx1"/>
                </a:solidFill>
              </a:rPr>
              <a:t>512 x 64b</a:t>
            </a:r>
          </a:p>
        </p:txBody>
      </p:sp>
      <p:sp>
        <p:nvSpPr>
          <p:cNvPr id="39" name="Rectangle 38">
            <a:extLst>
              <a:ext uri="{FF2B5EF4-FFF2-40B4-BE49-F238E27FC236}">
                <a16:creationId xmlns:a16="http://schemas.microsoft.com/office/drawing/2014/main" id="{7B012AB7-4309-E117-B99F-6322CBF7D8FA}"/>
              </a:ext>
            </a:extLst>
          </p:cNvPr>
          <p:cNvSpPr/>
          <p:nvPr/>
        </p:nvSpPr>
        <p:spPr>
          <a:xfrm>
            <a:off x="1762872" y="5462823"/>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700" dirty="0">
                <a:solidFill>
                  <a:schemeClr val="tx1"/>
                </a:solidFill>
              </a:rPr>
              <a:t>IMUL</a:t>
            </a:r>
          </a:p>
        </p:txBody>
      </p:sp>
      <p:sp>
        <p:nvSpPr>
          <p:cNvPr id="40" name="Rectangle 39">
            <a:extLst>
              <a:ext uri="{FF2B5EF4-FFF2-40B4-BE49-F238E27FC236}">
                <a16:creationId xmlns:a16="http://schemas.microsoft.com/office/drawing/2014/main" id="{2C3F3E7C-F1E0-2B0F-ECEE-598471551B94}"/>
              </a:ext>
            </a:extLst>
          </p:cNvPr>
          <p:cNvSpPr/>
          <p:nvPr/>
        </p:nvSpPr>
        <p:spPr>
          <a:xfrm>
            <a:off x="4156675" y="5472240"/>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700" dirty="0">
                <a:solidFill>
                  <a:schemeClr val="tx1"/>
                </a:solidFill>
              </a:rPr>
              <a:t>TRIG</a:t>
            </a:r>
          </a:p>
        </p:txBody>
      </p:sp>
      <p:sp>
        <p:nvSpPr>
          <p:cNvPr id="48" name="Rectangle 47">
            <a:extLst>
              <a:ext uri="{FF2B5EF4-FFF2-40B4-BE49-F238E27FC236}">
                <a16:creationId xmlns:a16="http://schemas.microsoft.com/office/drawing/2014/main" id="{8083C220-C24D-0581-5E48-08BB91D54AB0}"/>
              </a:ext>
            </a:extLst>
          </p:cNvPr>
          <p:cNvSpPr/>
          <p:nvPr/>
        </p:nvSpPr>
        <p:spPr>
          <a:xfrm>
            <a:off x="5923198" y="5731106"/>
            <a:ext cx="1200398" cy="5321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Load / Store Queue</a:t>
            </a:r>
          </a:p>
          <a:p>
            <a:pPr algn="ctr"/>
            <a:r>
              <a:rPr lang="en-CA" sz="900" dirty="0">
                <a:solidFill>
                  <a:schemeClr val="tx1"/>
                </a:solidFill>
              </a:rPr>
              <a:t>8 Entries</a:t>
            </a:r>
          </a:p>
        </p:txBody>
      </p:sp>
      <p:sp>
        <p:nvSpPr>
          <p:cNvPr id="51" name="Rectangle 50">
            <a:extLst>
              <a:ext uri="{FF2B5EF4-FFF2-40B4-BE49-F238E27FC236}">
                <a16:creationId xmlns:a16="http://schemas.microsoft.com/office/drawing/2014/main" id="{AEA88E03-DBD2-B35F-7B78-2BAA78E02F2B}"/>
              </a:ext>
            </a:extLst>
          </p:cNvPr>
          <p:cNvSpPr/>
          <p:nvPr/>
        </p:nvSpPr>
        <p:spPr>
          <a:xfrm>
            <a:off x="2866152" y="7742771"/>
            <a:ext cx="5402294" cy="5727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L1 Data Cache</a:t>
            </a:r>
          </a:p>
          <a:p>
            <a:pPr algn="ctr"/>
            <a:r>
              <a:rPr lang="en-CA" sz="900" dirty="0">
                <a:solidFill>
                  <a:schemeClr val="tx1"/>
                </a:solidFill>
              </a:rPr>
              <a:t>64kB – 4 way</a:t>
            </a:r>
          </a:p>
        </p:txBody>
      </p:sp>
      <p:sp>
        <p:nvSpPr>
          <p:cNvPr id="52" name="Rectangle 51">
            <a:extLst>
              <a:ext uri="{FF2B5EF4-FFF2-40B4-BE49-F238E27FC236}">
                <a16:creationId xmlns:a16="http://schemas.microsoft.com/office/drawing/2014/main" id="{29BFB083-8E9E-29E7-4D53-F0D4A7002E91}"/>
              </a:ext>
            </a:extLst>
          </p:cNvPr>
          <p:cNvSpPr/>
          <p:nvPr/>
        </p:nvSpPr>
        <p:spPr>
          <a:xfrm>
            <a:off x="1026411" y="2308465"/>
            <a:ext cx="853585" cy="59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BTB 512 Entries</a:t>
            </a:r>
          </a:p>
          <a:p>
            <a:pPr algn="ctr"/>
            <a:r>
              <a:rPr lang="en-CA" sz="900" dirty="0">
                <a:solidFill>
                  <a:schemeClr val="tx1"/>
                </a:solidFill>
              </a:rPr>
              <a:t>Instruction Pointers</a:t>
            </a:r>
          </a:p>
        </p:txBody>
      </p:sp>
      <p:sp>
        <p:nvSpPr>
          <p:cNvPr id="53" name="Rectangle 52">
            <a:extLst>
              <a:ext uri="{FF2B5EF4-FFF2-40B4-BE49-F238E27FC236}">
                <a16:creationId xmlns:a16="http://schemas.microsoft.com/office/drawing/2014/main" id="{9A2D6C6E-B9D7-A637-B955-688FBBFD0703}"/>
              </a:ext>
            </a:extLst>
          </p:cNvPr>
          <p:cNvSpPr/>
          <p:nvPr/>
        </p:nvSpPr>
        <p:spPr>
          <a:xfrm>
            <a:off x="1026410" y="3184434"/>
            <a:ext cx="853585" cy="263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err="1">
                <a:solidFill>
                  <a:schemeClr val="tx1"/>
                </a:solidFill>
              </a:rPr>
              <a:t>gselect</a:t>
            </a:r>
            <a:endParaRPr lang="en-CA" sz="900" dirty="0">
              <a:solidFill>
                <a:schemeClr val="tx1"/>
              </a:solidFill>
            </a:endParaRPr>
          </a:p>
          <a:p>
            <a:pPr algn="ctr"/>
            <a:r>
              <a:rPr lang="en-CA" sz="900" dirty="0">
                <a:solidFill>
                  <a:schemeClr val="tx1"/>
                </a:solidFill>
              </a:rPr>
              <a:t>predictor</a:t>
            </a:r>
          </a:p>
        </p:txBody>
      </p:sp>
      <p:sp>
        <p:nvSpPr>
          <p:cNvPr id="54" name="Arrow: Bent 53">
            <a:extLst>
              <a:ext uri="{FF2B5EF4-FFF2-40B4-BE49-F238E27FC236}">
                <a16:creationId xmlns:a16="http://schemas.microsoft.com/office/drawing/2014/main" id="{D427148B-7FF1-1674-4D59-D296AD2C08C0}"/>
              </a:ext>
            </a:extLst>
          </p:cNvPr>
          <p:cNvSpPr/>
          <p:nvPr/>
        </p:nvSpPr>
        <p:spPr>
          <a:xfrm rot="16200000">
            <a:off x="1594849" y="3250915"/>
            <a:ext cx="260504" cy="662873"/>
          </a:xfrm>
          <a:prstGeom prst="bentArrow">
            <a:avLst>
              <a:gd name="adj1" fmla="val 25000"/>
              <a:gd name="adj2" fmla="val 19027"/>
              <a:gd name="adj3" fmla="val 25000"/>
              <a:gd name="adj4" fmla="val 4375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801">
              <a:solidFill>
                <a:schemeClr val="tx1"/>
              </a:solidFill>
            </a:endParaRPr>
          </a:p>
        </p:txBody>
      </p:sp>
      <p:sp>
        <p:nvSpPr>
          <p:cNvPr id="57" name="Rectangle 56">
            <a:extLst>
              <a:ext uri="{FF2B5EF4-FFF2-40B4-BE49-F238E27FC236}">
                <a16:creationId xmlns:a16="http://schemas.microsoft.com/office/drawing/2014/main" id="{1DE0CC6C-2911-1907-76BF-9C89124C0AE6}"/>
              </a:ext>
            </a:extLst>
          </p:cNvPr>
          <p:cNvSpPr/>
          <p:nvPr/>
        </p:nvSpPr>
        <p:spPr>
          <a:xfrm>
            <a:off x="5887506" y="1553684"/>
            <a:ext cx="1521864" cy="4766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TLB L1: 8 Entry – 8 way</a:t>
            </a:r>
          </a:p>
          <a:p>
            <a:pPr algn="ctr"/>
            <a:r>
              <a:rPr lang="en-CA" sz="900" dirty="0">
                <a:solidFill>
                  <a:schemeClr val="tx1"/>
                </a:solidFill>
              </a:rPr>
              <a:t>TLB L2: 1024 Entry – 3 way</a:t>
            </a:r>
          </a:p>
        </p:txBody>
      </p:sp>
      <p:sp>
        <p:nvSpPr>
          <p:cNvPr id="58" name="Arrow: Right 57">
            <a:extLst>
              <a:ext uri="{FF2B5EF4-FFF2-40B4-BE49-F238E27FC236}">
                <a16:creationId xmlns:a16="http://schemas.microsoft.com/office/drawing/2014/main" id="{506FB56C-0816-FCCB-3809-124E02B0CDD2}"/>
              </a:ext>
            </a:extLst>
          </p:cNvPr>
          <p:cNvSpPr/>
          <p:nvPr/>
        </p:nvSpPr>
        <p:spPr>
          <a:xfrm rot="10800000">
            <a:off x="5717730" y="1535884"/>
            <a:ext cx="169776" cy="4846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Arrow: Right 58">
            <a:extLst>
              <a:ext uri="{FF2B5EF4-FFF2-40B4-BE49-F238E27FC236}">
                <a16:creationId xmlns:a16="http://schemas.microsoft.com/office/drawing/2014/main" id="{587278EC-0AF5-8DBE-3059-E7FD0107F1CE}"/>
              </a:ext>
            </a:extLst>
          </p:cNvPr>
          <p:cNvSpPr/>
          <p:nvPr/>
        </p:nvSpPr>
        <p:spPr>
          <a:xfrm>
            <a:off x="2674790" y="7799619"/>
            <a:ext cx="169776" cy="4846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0" name="Arrow: Down 59">
            <a:extLst>
              <a:ext uri="{FF2B5EF4-FFF2-40B4-BE49-F238E27FC236}">
                <a16:creationId xmlns:a16="http://schemas.microsoft.com/office/drawing/2014/main" id="{A637A876-1E20-96C8-96AB-9B8B0A8B8982}"/>
              </a:ext>
            </a:extLst>
          </p:cNvPr>
          <p:cNvSpPr/>
          <p:nvPr/>
        </p:nvSpPr>
        <p:spPr>
          <a:xfrm rot="10800000">
            <a:off x="1415415" y="2042369"/>
            <a:ext cx="119064" cy="25922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61" name="Arrow: Down 60">
            <a:extLst>
              <a:ext uri="{FF2B5EF4-FFF2-40B4-BE49-F238E27FC236}">
                <a16:creationId xmlns:a16="http://schemas.microsoft.com/office/drawing/2014/main" id="{810D3368-A868-BF74-8195-83FADE860D3A}"/>
              </a:ext>
            </a:extLst>
          </p:cNvPr>
          <p:cNvSpPr/>
          <p:nvPr/>
        </p:nvSpPr>
        <p:spPr>
          <a:xfrm rot="10800000">
            <a:off x="1393664" y="2939632"/>
            <a:ext cx="140816" cy="24480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62" name="Arrow: Down 61">
            <a:extLst>
              <a:ext uri="{FF2B5EF4-FFF2-40B4-BE49-F238E27FC236}">
                <a16:creationId xmlns:a16="http://schemas.microsoft.com/office/drawing/2014/main" id="{01E393D6-421B-98E7-A7A1-30C86E31E957}"/>
              </a:ext>
            </a:extLst>
          </p:cNvPr>
          <p:cNvSpPr/>
          <p:nvPr/>
        </p:nvSpPr>
        <p:spPr>
          <a:xfrm>
            <a:off x="2827306" y="1146311"/>
            <a:ext cx="1175973" cy="348672"/>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solidFill>
                  <a:schemeClr val="tx1"/>
                </a:solidFill>
              </a:rPr>
              <a:t>32B</a:t>
            </a:r>
          </a:p>
        </p:txBody>
      </p:sp>
      <p:sp>
        <p:nvSpPr>
          <p:cNvPr id="63" name="Rectangle 62">
            <a:extLst>
              <a:ext uri="{FF2B5EF4-FFF2-40B4-BE49-F238E27FC236}">
                <a16:creationId xmlns:a16="http://schemas.microsoft.com/office/drawing/2014/main" id="{C3B6C623-FACF-9461-BA2A-097FA98F61C0}"/>
              </a:ext>
            </a:extLst>
          </p:cNvPr>
          <p:cNvSpPr/>
          <p:nvPr/>
        </p:nvSpPr>
        <p:spPr>
          <a:xfrm>
            <a:off x="1026405" y="895347"/>
            <a:ext cx="4684328" cy="2509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System Bus</a:t>
            </a:r>
          </a:p>
        </p:txBody>
      </p:sp>
      <p:sp>
        <p:nvSpPr>
          <p:cNvPr id="64" name="Rectangle 63">
            <a:extLst>
              <a:ext uri="{FF2B5EF4-FFF2-40B4-BE49-F238E27FC236}">
                <a16:creationId xmlns:a16="http://schemas.microsoft.com/office/drawing/2014/main" id="{FD1BB9CD-6DCF-4C31-F92A-795B5F22652F}"/>
              </a:ext>
            </a:extLst>
          </p:cNvPr>
          <p:cNvSpPr/>
          <p:nvPr/>
        </p:nvSpPr>
        <p:spPr>
          <a:xfrm>
            <a:off x="1086341" y="8670095"/>
            <a:ext cx="7182105" cy="2509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System Bus</a:t>
            </a:r>
          </a:p>
        </p:txBody>
      </p:sp>
      <p:cxnSp>
        <p:nvCxnSpPr>
          <p:cNvPr id="65" name="Straight Arrow Connector 64">
            <a:extLst>
              <a:ext uri="{FF2B5EF4-FFF2-40B4-BE49-F238E27FC236}">
                <a16:creationId xmlns:a16="http://schemas.microsoft.com/office/drawing/2014/main" id="{9A374810-3C79-6ECE-42B6-A9EE663ED88F}"/>
              </a:ext>
            </a:extLst>
          </p:cNvPr>
          <p:cNvCxnSpPr>
            <a:cxnSpLocks/>
          </p:cNvCxnSpPr>
          <p:nvPr/>
        </p:nvCxnSpPr>
        <p:spPr>
          <a:xfrm>
            <a:off x="4098757" y="8326733"/>
            <a:ext cx="0" cy="316838"/>
          </a:xfrm>
          <a:prstGeom prst="straightConnector1">
            <a:avLst/>
          </a:prstGeom>
          <a:ln w="508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DC47D9E1-0B22-8E34-F5C8-519AF8A7676F}"/>
              </a:ext>
            </a:extLst>
          </p:cNvPr>
          <p:cNvSpPr txBox="1"/>
          <p:nvPr/>
        </p:nvSpPr>
        <p:spPr>
          <a:xfrm>
            <a:off x="4120308" y="8366572"/>
            <a:ext cx="441146" cy="276999"/>
          </a:xfrm>
          <a:prstGeom prst="rect">
            <a:avLst/>
          </a:prstGeom>
          <a:noFill/>
        </p:spPr>
        <p:txBody>
          <a:bodyPr wrap="none" rtlCol="0">
            <a:spAutoFit/>
          </a:bodyPr>
          <a:lstStyle/>
          <a:p>
            <a:r>
              <a:rPr lang="en-CA" sz="1200" dirty="0"/>
              <a:t>32B</a:t>
            </a:r>
          </a:p>
        </p:txBody>
      </p:sp>
      <p:sp>
        <p:nvSpPr>
          <p:cNvPr id="68" name="Arrow: Down 67">
            <a:extLst>
              <a:ext uri="{FF2B5EF4-FFF2-40B4-BE49-F238E27FC236}">
                <a16:creationId xmlns:a16="http://schemas.microsoft.com/office/drawing/2014/main" id="{648CF210-A627-AA73-3EEE-E82CB52ACE73}"/>
              </a:ext>
            </a:extLst>
          </p:cNvPr>
          <p:cNvSpPr/>
          <p:nvPr/>
        </p:nvSpPr>
        <p:spPr>
          <a:xfrm>
            <a:off x="3593514" y="3444629"/>
            <a:ext cx="484633" cy="57221"/>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73" name="Rectangle 72">
            <a:extLst>
              <a:ext uri="{FF2B5EF4-FFF2-40B4-BE49-F238E27FC236}">
                <a16:creationId xmlns:a16="http://schemas.microsoft.com/office/drawing/2014/main" id="{67B0A295-D972-E328-7BF7-1DE509970E2E}"/>
              </a:ext>
            </a:extLst>
          </p:cNvPr>
          <p:cNvSpPr/>
          <p:nvPr/>
        </p:nvSpPr>
        <p:spPr>
          <a:xfrm>
            <a:off x="1142133" y="7800575"/>
            <a:ext cx="1521864" cy="4766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TLB L1: 8 Entry – 8 way</a:t>
            </a:r>
          </a:p>
          <a:p>
            <a:pPr algn="ctr"/>
            <a:r>
              <a:rPr lang="en-CA" sz="900" dirty="0">
                <a:solidFill>
                  <a:schemeClr val="tx1"/>
                </a:solidFill>
              </a:rPr>
              <a:t>TLB L2: 1024 Entry – 3 way</a:t>
            </a:r>
          </a:p>
          <a:p>
            <a:pPr algn="ctr"/>
            <a:r>
              <a:rPr lang="en-CA" sz="900" dirty="0">
                <a:solidFill>
                  <a:schemeClr val="tx1"/>
                </a:solidFill>
              </a:rPr>
              <a:t>(Same TLB as above)</a:t>
            </a:r>
          </a:p>
        </p:txBody>
      </p:sp>
      <p:sp>
        <p:nvSpPr>
          <p:cNvPr id="74" name="Rectangle 73">
            <a:extLst>
              <a:ext uri="{FF2B5EF4-FFF2-40B4-BE49-F238E27FC236}">
                <a16:creationId xmlns:a16="http://schemas.microsoft.com/office/drawing/2014/main" id="{931C4B68-1138-462A-1C1A-10ECB311D105}"/>
              </a:ext>
            </a:extLst>
          </p:cNvPr>
          <p:cNvSpPr/>
          <p:nvPr/>
        </p:nvSpPr>
        <p:spPr>
          <a:xfrm>
            <a:off x="6048160" y="4142753"/>
            <a:ext cx="1082956" cy="6121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solidFill>
                  <a:schemeClr val="tx1"/>
                </a:solidFill>
              </a:rPr>
              <a:t>Vector File</a:t>
            </a:r>
          </a:p>
          <a:p>
            <a:pPr algn="ctr"/>
            <a:r>
              <a:rPr lang="en-CA" sz="1100" dirty="0">
                <a:solidFill>
                  <a:schemeClr val="tx1"/>
                </a:solidFill>
              </a:rPr>
              <a:t>Arch. Regs</a:t>
            </a:r>
          </a:p>
          <a:p>
            <a:pPr algn="ctr"/>
            <a:r>
              <a:rPr lang="en-CA" sz="1100" dirty="0">
                <a:solidFill>
                  <a:schemeClr val="tx1"/>
                </a:solidFill>
              </a:rPr>
              <a:t>32 x 256b</a:t>
            </a:r>
          </a:p>
        </p:txBody>
      </p:sp>
      <p:sp>
        <p:nvSpPr>
          <p:cNvPr id="85" name="Rectangle 84">
            <a:extLst>
              <a:ext uri="{FF2B5EF4-FFF2-40B4-BE49-F238E27FC236}">
                <a16:creationId xmlns:a16="http://schemas.microsoft.com/office/drawing/2014/main" id="{8DAE442D-FC4E-052D-43F9-6A4C908D6E5E}"/>
              </a:ext>
            </a:extLst>
          </p:cNvPr>
          <p:cNvSpPr/>
          <p:nvPr/>
        </p:nvSpPr>
        <p:spPr>
          <a:xfrm>
            <a:off x="534455" y="5758569"/>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Count</a:t>
            </a:r>
          </a:p>
        </p:txBody>
      </p:sp>
      <p:sp>
        <p:nvSpPr>
          <p:cNvPr id="86" name="Rectangle 85">
            <a:extLst>
              <a:ext uri="{FF2B5EF4-FFF2-40B4-BE49-F238E27FC236}">
                <a16:creationId xmlns:a16="http://schemas.microsoft.com/office/drawing/2014/main" id="{57057984-D08E-81BC-52EF-EDAF800F7D12}"/>
              </a:ext>
            </a:extLst>
          </p:cNvPr>
          <p:cNvSpPr/>
          <p:nvPr/>
        </p:nvSpPr>
        <p:spPr>
          <a:xfrm>
            <a:off x="534455" y="5891114"/>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Shift</a:t>
            </a:r>
          </a:p>
        </p:txBody>
      </p:sp>
      <p:sp>
        <p:nvSpPr>
          <p:cNvPr id="87" name="Rectangle 86">
            <a:extLst>
              <a:ext uri="{FF2B5EF4-FFF2-40B4-BE49-F238E27FC236}">
                <a16:creationId xmlns:a16="http://schemas.microsoft.com/office/drawing/2014/main" id="{2CA3B0B3-E8A3-CCF9-E19D-BD645C2E8557}"/>
              </a:ext>
            </a:extLst>
          </p:cNvPr>
          <p:cNvSpPr/>
          <p:nvPr/>
        </p:nvSpPr>
        <p:spPr>
          <a:xfrm>
            <a:off x="534455" y="6029520"/>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Bitfield</a:t>
            </a:r>
          </a:p>
        </p:txBody>
      </p:sp>
      <p:sp>
        <p:nvSpPr>
          <p:cNvPr id="89" name="Rectangle 88">
            <a:extLst>
              <a:ext uri="{FF2B5EF4-FFF2-40B4-BE49-F238E27FC236}">
                <a16:creationId xmlns:a16="http://schemas.microsoft.com/office/drawing/2014/main" id="{5CADC9AE-2AEF-7B37-D89A-B7C7D4B82F3D}"/>
              </a:ext>
            </a:extLst>
          </p:cNvPr>
          <p:cNvSpPr/>
          <p:nvPr/>
        </p:nvSpPr>
        <p:spPr>
          <a:xfrm>
            <a:off x="2367219" y="5464767"/>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700" dirty="0">
                <a:solidFill>
                  <a:schemeClr val="tx1"/>
                </a:solidFill>
              </a:rPr>
              <a:t>IDIV</a:t>
            </a:r>
          </a:p>
        </p:txBody>
      </p:sp>
      <p:sp>
        <p:nvSpPr>
          <p:cNvPr id="91" name="Rectangle 90">
            <a:extLst>
              <a:ext uri="{FF2B5EF4-FFF2-40B4-BE49-F238E27FC236}">
                <a16:creationId xmlns:a16="http://schemas.microsoft.com/office/drawing/2014/main" id="{CF74A4E3-2C55-015F-0A99-3F012F082077}"/>
              </a:ext>
            </a:extLst>
          </p:cNvPr>
          <p:cNvSpPr/>
          <p:nvPr/>
        </p:nvSpPr>
        <p:spPr>
          <a:xfrm>
            <a:off x="2347524" y="5630342"/>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700" dirty="0">
                <a:solidFill>
                  <a:schemeClr val="tx1"/>
                </a:solidFill>
              </a:rPr>
              <a:t>ISQRT</a:t>
            </a:r>
          </a:p>
        </p:txBody>
      </p:sp>
      <p:sp>
        <p:nvSpPr>
          <p:cNvPr id="92" name="Rectangle 91">
            <a:extLst>
              <a:ext uri="{FF2B5EF4-FFF2-40B4-BE49-F238E27FC236}">
                <a16:creationId xmlns:a16="http://schemas.microsoft.com/office/drawing/2014/main" id="{A1A98023-AA95-3E23-29ED-5E1B7EB974E2}"/>
              </a:ext>
            </a:extLst>
          </p:cNvPr>
          <p:cNvSpPr/>
          <p:nvPr/>
        </p:nvSpPr>
        <p:spPr>
          <a:xfrm>
            <a:off x="2972739" y="5467370"/>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FDP #0</a:t>
            </a:r>
          </a:p>
        </p:txBody>
      </p:sp>
      <p:sp>
        <p:nvSpPr>
          <p:cNvPr id="94" name="Rectangle 93">
            <a:extLst>
              <a:ext uri="{FF2B5EF4-FFF2-40B4-BE49-F238E27FC236}">
                <a16:creationId xmlns:a16="http://schemas.microsoft.com/office/drawing/2014/main" id="{DFD765C7-4944-F03C-FE6B-9219A5AA763D}"/>
              </a:ext>
            </a:extLst>
          </p:cNvPr>
          <p:cNvSpPr/>
          <p:nvPr/>
        </p:nvSpPr>
        <p:spPr>
          <a:xfrm>
            <a:off x="3566777" y="5467370"/>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FDP #1</a:t>
            </a:r>
          </a:p>
        </p:txBody>
      </p:sp>
      <p:sp>
        <p:nvSpPr>
          <p:cNvPr id="96" name="Rectangle 95">
            <a:extLst>
              <a:ext uri="{FF2B5EF4-FFF2-40B4-BE49-F238E27FC236}">
                <a16:creationId xmlns:a16="http://schemas.microsoft.com/office/drawing/2014/main" id="{2FF44BDC-5ADD-05C7-78A1-33D014A619DE}"/>
              </a:ext>
            </a:extLst>
          </p:cNvPr>
          <p:cNvSpPr/>
          <p:nvPr/>
        </p:nvSpPr>
        <p:spPr>
          <a:xfrm>
            <a:off x="4164543" y="5627854"/>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700" dirty="0">
                <a:solidFill>
                  <a:schemeClr val="tx1"/>
                </a:solidFill>
              </a:rPr>
              <a:t>FDIV</a:t>
            </a:r>
          </a:p>
        </p:txBody>
      </p:sp>
      <p:sp>
        <p:nvSpPr>
          <p:cNvPr id="97" name="Rectangle 96">
            <a:extLst>
              <a:ext uri="{FF2B5EF4-FFF2-40B4-BE49-F238E27FC236}">
                <a16:creationId xmlns:a16="http://schemas.microsoft.com/office/drawing/2014/main" id="{7C5A3FA9-8832-C5F3-AF33-4854BBA318C3}"/>
              </a:ext>
            </a:extLst>
          </p:cNvPr>
          <p:cNvSpPr/>
          <p:nvPr/>
        </p:nvSpPr>
        <p:spPr>
          <a:xfrm>
            <a:off x="4164543" y="5790903"/>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700" dirty="0">
                <a:solidFill>
                  <a:schemeClr val="tx1"/>
                </a:solidFill>
              </a:rPr>
              <a:t>FSQRT</a:t>
            </a:r>
          </a:p>
        </p:txBody>
      </p:sp>
      <p:sp>
        <p:nvSpPr>
          <p:cNvPr id="98" name="Rectangle 97">
            <a:extLst>
              <a:ext uri="{FF2B5EF4-FFF2-40B4-BE49-F238E27FC236}">
                <a16:creationId xmlns:a16="http://schemas.microsoft.com/office/drawing/2014/main" id="{D5540C94-1D7A-35DD-5714-0FE2F9D00489}"/>
              </a:ext>
            </a:extLst>
          </p:cNvPr>
          <p:cNvSpPr/>
          <p:nvPr/>
        </p:nvSpPr>
        <p:spPr>
          <a:xfrm>
            <a:off x="534455" y="6171942"/>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Crypto</a:t>
            </a:r>
          </a:p>
        </p:txBody>
      </p:sp>
      <p:sp>
        <p:nvSpPr>
          <p:cNvPr id="99" name="Rectangle 98">
            <a:extLst>
              <a:ext uri="{FF2B5EF4-FFF2-40B4-BE49-F238E27FC236}">
                <a16:creationId xmlns:a16="http://schemas.microsoft.com/office/drawing/2014/main" id="{FFEB0885-B125-80AE-F3DC-8ABD9D904837}"/>
              </a:ext>
            </a:extLst>
          </p:cNvPr>
          <p:cNvSpPr/>
          <p:nvPr/>
        </p:nvSpPr>
        <p:spPr>
          <a:xfrm>
            <a:off x="6562829" y="5470461"/>
            <a:ext cx="564852" cy="1304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MEM 1</a:t>
            </a:r>
          </a:p>
        </p:txBody>
      </p:sp>
      <p:sp>
        <p:nvSpPr>
          <p:cNvPr id="102" name="Rectangle 101">
            <a:extLst>
              <a:ext uri="{FF2B5EF4-FFF2-40B4-BE49-F238E27FC236}">
                <a16:creationId xmlns:a16="http://schemas.microsoft.com/office/drawing/2014/main" id="{65EF10E9-29C3-21CE-0321-80A78E875741}"/>
              </a:ext>
            </a:extLst>
          </p:cNvPr>
          <p:cNvSpPr/>
          <p:nvPr/>
        </p:nvSpPr>
        <p:spPr>
          <a:xfrm>
            <a:off x="7760751" y="5461288"/>
            <a:ext cx="654181" cy="2460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Graphics</a:t>
            </a:r>
          </a:p>
        </p:txBody>
      </p:sp>
      <p:sp>
        <p:nvSpPr>
          <p:cNvPr id="105" name="Rectangle 104">
            <a:extLst>
              <a:ext uri="{FF2B5EF4-FFF2-40B4-BE49-F238E27FC236}">
                <a16:creationId xmlns:a16="http://schemas.microsoft.com/office/drawing/2014/main" id="{F19F51CA-C0A5-93A1-E2FE-2EB5F358921B}"/>
              </a:ext>
            </a:extLst>
          </p:cNvPr>
          <p:cNvSpPr/>
          <p:nvPr/>
        </p:nvSpPr>
        <p:spPr>
          <a:xfrm>
            <a:off x="8444152" y="5460587"/>
            <a:ext cx="795887" cy="2460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Capabilities</a:t>
            </a:r>
          </a:p>
        </p:txBody>
      </p:sp>
      <p:sp>
        <p:nvSpPr>
          <p:cNvPr id="108" name="Rectangle 107">
            <a:extLst>
              <a:ext uri="{FF2B5EF4-FFF2-40B4-BE49-F238E27FC236}">
                <a16:creationId xmlns:a16="http://schemas.microsoft.com/office/drawing/2014/main" id="{96F55394-C148-FF85-E7BE-8F6A9D6D96B2}"/>
              </a:ext>
            </a:extLst>
          </p:cNvPr>
          <p:cNvSpPr/>
          <p:nvPr/>
        </p:nvSpPr>
        <p:spPr>
          <a:xfrm>
            <a:off x="2043987" y="4260000"/>
            <a:ext cx="1624729" cy="6578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Dispatch x4</a:t>
            </a:r>
          </a:p>
        </p:txBody>
      </p:sp>
      <p:sp>
        <p:nvSpPr>
          <p:cNvPr id="109" name="Arrow: Down 108">
            <a:extLst>
              <a:ext uri="{FF2B5EF4-FFF2-40B4-BE49-F238E27FC236}">
                <a16:creationId xmlns:a16="http://schemas.microsoft.com/office/drawing/2014/main" id="{F57C252D-1435-C78B-C955-74EEF66EDBEF}"/>
              </a:ext>
            </a:extLst>
          </p:cNvPr>
          <p:cNvSpPr/>
          <p:nvPr/>
        </p:nvSpPr>
        <p:spPr>
          <a:xfrm>
            <a:off x="4598923" y="4164620"/>
            <a:ext cx="484633" cy="9772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110" name="Arrow: Down 109">
            <a:extLst>
              <a:ext uri="{FF2B5EF4-FFF2-40B4-BE49-F238E27FC236}">
                <a16:creationId xmlns:a16="http://schemas.microsoft.com/office/drawing/2014/main" id="{672094A9-9F25-B125-D6A8-C33949949A02}"/>
              </a:ext>
            </a:extLst>
          </p:cNvPr>
          <p:cNvSpPr/>
          <p:nvPr/>
        </p:nvSpPr>
        <p:spPr>
          <a:xfrm>
            <a:off x="2625151" y="4926387"/>
            <a:ext cx="484633" cy="17494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111" name="TextBox 110">
            <a:extLst>
              <a:ext uri="{FF2B5EF4-FFF2-40B4-BE49-F238E27FC236}">
                <a16:creationId xmlns:a16="http://schemas.microsoft.com/office/drawing/2014/main" id="{9D13FF01-367C-E508-17A6-EB203D8AE9C8}"/>
              </a:ext>
            </a:extLst>
          </p:cNvPr>
          <p:cNvSpPr txBox="1"/>
          <p:nvPr/>
        </p:nvSpPr>
        <p:spPr>
          <a:xfrm>
            <a:off x="488625" y="5134343"/>
            <a:ext cx="1555362" cy="276999"/>
          </a:xfrm>
          <a:prstGeom prst="rect">
            <a:avLst/>
          </a:prstGeom>
          <a:noFill/>
        </p:spPr>
        <p:txBody>
          <a:bodyPr wrap="none" rtlCol="0">
            <a:spAutoFit/>
          </a:bodyPr>
          <a:lstStyle/>
          <a:p>
            <a:r>
              <a:rPr lang="en-US" sz="1200" dirty="0"/>
              <a:t>Reservation Stations</a:t>
            </a:r>
            <a:endParaRPr lang="en-CA" sz="1200" dirty="0"/>
          </a:p>
        </p:txBody>
      </p:sp>
      <p:sp>
        <p:nvSpPr>
          <p:cNvPr id="112" name="Rectangle 111">
            <a:extLst>
              <a:ext uri="{FF2B5EF4-FFF2-40B4-BE49-F238E27FC236}">
                <a16:creationId xmlns:a16="http://schemas.microsoft.com/office/drawing/2014/main" id="{0760BE26-9835-472A-273C-83707951903A}"/>
              </a:ext>
            </a:extLst>
          </p:cNvPr>
          <p:cNvSpPr/>
          <p:nvPr/>
        </p:nvSpPr>
        <p:spPr>
          <a:xfrm>
            <a:off x="520903" y="6516506"/>
            <a:ext cx="8719136" cy="2574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Result Queues</a:t>
            </a:r>
          </a:p>
        </p:txBody>
      </p:sp>
      <p:sp>
        <p:nvSpPr>
          <p:cNvPr id="113" name="Rectangle 112">
            <a:extLst>
              <a:ext uri="{FF2B5EF4-FFF2-40B4-BE49-F238E27FC236}">
                <a16:creationId xmlns:a16="http://schemas.microsoft.com/office/drawing/2014/main" id="{EB8C7B38-93F3-E953-C805-1F9D68858DBF}"/>
              </a:ext>
            </a:extLst>
          </p:cNvPr>
          <p:cNvSpPr/>
          <p:nvPr/>
        </p:nvSpPr>
        <p:spPr>
          <a:xfrm>
            <a:off x="520903" y="6848095"/>
            <a:ext cx="8719136" cy="2574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900" dirty="0">
                <a:solidFill>
                  <a:schemeClr val="tx1"/>
                </a:solidFill>
              </a:rPr>
              <a:t>Rotating Mux</a:t>
            </a:r>
          </a:p>
        </p:txBody>
      </p:sp>
      <p:sp>
        <p:nvSpPr>
          <p:cNvPr id="56" name="Arrow: Down 55">
            <a:extLst>
              <a:ext uri="{FF2B5EF4-FFF2-40B4-BE49-F238E27FC236}">
                <a16:creationId xmlns:a16="http://schemas.microsoft.com/office/drawing/2014/main" id="{1E4C4EE6-6A49-F460-604D-EA1C545CF6EE}"/>
              </a:ext>
            </a:extLst>
          </p:cNvPr>
          <p:cNvSpPr/>
          <p:nvPr/>
        </p:nvSpPr>
        <p:spPr>
          <a:xfrm>
            <a:off x="6281080" y="6261858"/>
            <a:ext cx="484633" cy="1456635"/>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114" name="Arrow: Down 113">
            <a:extLst>
              <a:ext uri="{FF2B5EF4-FFF2-40B4-BE49-F238E27FC236}">
                <a16:creationId xmlns:a16="http://schemas.microsoft.com/office/drawing/2014/main" id="{39BB9343-44A3-4D03-9A2E-76DD8DA8CE82}"/>
              </a:ext>
            </a:extLst>
          </p:cNvPr>
          <p:cNvSpPr/>
          <p:nvPr/>
        </p:nvSpPr>
        <p:spPr>
          <a:xfrm>
            <a:off x="4583004" y="7116296"/>
            <a:ext cx="484633" cy="226863"/>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115" name="TextBox 114">
            <a:extLst>
              <a:ext uri="{FF2B5EF4-FFF2-40B4-BE49-F238E27FC236}">
                <a16:creationId xmlns:a16="http://schemas.microsoft.com/office/drawing/2014/main" id="{BCFC377B-EC7F-5281-4D50-E8E6D6E8B695}"/>
              </a:ext>
            </a:extLst>
          </p:cNvPr>
          <p:cNvSpPr txBox="1"/>
          <p:nvPr/>
        </p:nvSpPr>
        <p:spPr>
          <a:xfrm>
            <a:off x="4157481" y="7353906"/>
            <a:ext cx="1801784" cy="276999"/>
          </a:xfrm>
          <a:prstGeom prst="rect">
            <a:avLst/>
          </a:prstGeom>
          <a:noFill/>
        </p:spPr>
        <p:txBody>
          <a:bodyPr wrap="square" rtlCol="0">
            <a:spAutoFit/>
          </a:bodyPr>
          <a:lstStyle/>
          <a:p>
            <a:r>
              <a:rPr lang="en-US" sz="1200" dirty="0"/>
              <a:t>To Register File</a:t>
            </a:r>
            <a:endParaRPr lang="en-CA" sz="1200" dirty="0"/>
          </a:p>
        </p:txBody>
      </p:sp>
      <p:sp>
        <p:nvSpPr>
          <p:cNvPr id="116" name="Arrow: Down 115">
            <a:extLst>
              <a:ext uri="{FF2B5EF4-FFF2-40B4-BE49-F238E27FC236}">
                <a16:creationId xmlns:a16="http://schemas.microsoft.com/office/drawing/2014/main" id="{AB52198D-094C-655D-F55B-1CCA4F32045F}"/>
              </a:ext>
            </a:extLst>
          </p:cNvPr>
          <p:cNvSpPr/>
          <p:nvPr/>
        </p:nvSpPr>
        <p:spPr>
          <a:xfrm>
            <a:off x="4554382" y="6770628"/>
            <a:ext cx="484633" cy="7746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117" name="Arrow: Down 116">
            <a:extLst>
              <a:ext uri="{FF2B5EF4-FFF2-40B4-BE49-F238E27FC236}">
                <a16:creationId xmlns:a16="http://schemas.microsoft.com/office/drawing/2014/main" id="{2D404FEE-D8C7-06A4-81CF-5BC31F6AD2B0}"/>
              </a:ext>
            </a:extLst>
          </p:cNvPr>
          <p:cNvSpPr/>
          <p:nvPr/>
        </p:nvSpPr>
        <p:spPr>
          <a:xfrm>
            <a:off x="4529332" y="6399617"/>
            <a:ext cx="484633" cy="113432"/>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601" dirty="0">
              <a:solidFill>
                <a:schemeClr val="tx1"/>
              </a:solidFill>
            </a:endParaRPr>
          </a:p>
        </p:txBody>
      </p:sp>
      <p:sp>
        <p:nvSpPr>
          <p:cNvPr id="119" name="Arrow: Up-Down 118">
            <a:extLst>
              <a:ext uri="{FF2B5EF4-FFF2-40B4-BE49-F238E27FC236}">
                <a16:creationId xmlns:a16="http://schemas.microsoft.com/office/drawing/2014/main" id="{FAD22F9F-4C24-5F9D-64D5-CF49CBB30926}"/>
              </a:ext>
            </a:extLst>
          </p:cNvPr>
          <p:cNvSpPr/>
          <p:nvPr/>
        </p:nvSpPr>
        <p:spPr>
          <a:xfrm>
            <a:off x="8093721" y="4770832"/>
            <a:ext cx="193675" cy="335890"/>
          </a:xfrm>
          <a:prstGeom prst="up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641523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E8015-4BCA-CDA4-F02E-92DFF9FCE7A1}"/>
              </a:ext>
            </a:extLst>
          </p:cNvPr>
          <p:cNvSpPr>
            <a:spLocks noGrp="1"/>
          </p:cNvSpPr>
          <p:nvPr>
            <p:ph type="title"/>
          </p:nvPr>
        </p:nvSpPr>
        <p:spPr>
          <a:xfrm>
            <a:off x="0" y="0"/>
            <a:ext cx="10515600" cy="919697"/>
          </a:xfrm>
        </p:spPr>
        <p:txBody>
          <a:bodyPr/>
          <a:lstStyle/>
          <a:p>
            <a:r>
              <a:rPr lang="en-US" dirty="0"/>
              <a:t>Qupls4: Streams</a:t>
            </a:r>
            <a:endParaRPr lang="en-CA" dirty="0"/>
          </a:p>
        </p:txBody>
      </p:sp>
      <p:sp>
        <p:nvSpPr>
          <p:cNvPr id="4" name="Rectangle 3">
            <a:extLst>
              <a:ext uri="{FF2B5EF4-FFF2-40B4-BE49-F238E27FC236}">
                <a16:creationId xmlns:a16="http://schemas.microsoft.com/office/drawing/2014/main" id="{D511A926-8D25-0351-2411-5D8F4080147B}"/>
              </a:ext>
            </a:extLst>
          </p:cNvPr>
          <p:cNvSpPr/>
          <p:nvPr/>
        </p:nvSpPr>
        <p:spPr>
          <a:xfrm>
            <a:off x="561550" y="1806040"/>
            <a:ext cx="1563584" cy="4291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IP</a:t>
            </a:r>
            <a:endParaRPr lang="en-CA" dirty="0"/>
          </a:p>
        </p:txBody>
      </p:sp>
      <p:sp>
        <p:nvSpPr>
          <p:cNvPr id="5" name="TextBox 4">
            <a:extLst>
              <a:ext uri="{FF2B5EF4-FFF2-40B4-BE49-F238E27FC236}">
                <a16:creationId xmlns:a16="http://schemas.microsoft.com/office/drawing/2014/main" id="{92A59765-8932-B2E3-138E-FF91AEEAAF77}"/>
              </a:ext>
            </a:extLst>
          </p:cNvPr>
          <p:cNvSpPr txBox="1"/>
          <p:nvPr/>
        </p:nvSpPr>
        <p:spPr>
          <a:xfrm>
            <a:off x="482600" y="1303868"/>
            <a:ext cx="1553695" cy="369332"/>
          </a:xfrm>
          <a:prstGeom prst="rect">
            <a:avLst/>
          </a:prstGeom>
          <a:noFill/>
        </p:spPr>
        <p:txBody>
          <a:bodyPr wrap="none" rtlCol="0">
            <a:spAutoFit/>
          </a:bodyPr>
          <a:lstStyle/>
          <a:p>
            <a:r>
              <a:rPr lang="en-US" dirty="0"/>
              <a:t>Group header</a:t>
            </a:r>
            <a:endParaRPr lang="en-CA" dirty="0"/>
          </a:p>
        </p:txBody>
      </p:sp>
      <p:sp>
        <p:nvSpPr>
          <p:cNvPr id="6" name="Rectangle 5">
            <a:extLst>
              <a:ext uri="{FF2B5EF4-FFF2-40B4-BE49-F238E27FC236}">
                <a16:creationId xmlns:a16="http://schemas.microsoft.com/office/drawing/2014/main" id="{8B6F8248-AAFA-9997-CD03-74D4874EDB01}"/>
              </a:ext>
            </a:extLst>
          </p:cNvPr>
          <p:cNvSpPr/>
          <p:nvPr/>
        </p:nvSpPr>
        <p:spPr>
          <a:xfrm>
            <a:off x="2458084" y="1806040"/>
            <a:ext cx="1207982" cy="4291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Stream #</a:t>
            </a:r>
            <a:endParaRPr lang="en-CA" dirty="0"/>
          </a:p>
        </p:txBody>
      </p:sp>
      <p:sp>
        <p:nvSpPr>
          <p:cNvPr id="7" name="Rectangle 6">
            <a:extLst>
              <a:ext uri="{FF2B5EF4-FFF2-40B4-BE49-F238E27FC236}">
                <a16:creationId xmlns:a16="http://schemas.microsoft.com/office/drawing/2014/main" id="{94B8571E-D6BE-E0DE-4E5C-CE07DF4CAF36}"/>
              </a:ext>
            </a:extLst>
          </p:cNvPr>
          <p:cNvSpPr/>
          <p:nvPr/>
        </p:nvSpPr>
        <p:spPr>
          <a:xfrm>
            <a:off x="3666066" y="1806040"/>
            <a:ext cx="1207982" cy="4291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IP Offset</a:t>
            </a:r>
            <a:endParaRPr lang="en-CA" dirty="0"/>
          </a:p>
        </p:txBody>
      </p:sp>
      <p:sp>
        <p:nvSpPr>
          <p:cNvPr id="8" name="Rectangle 7">
            <a:extLst>
              <a:ext uri="{FF2B5EF4-FFF2-40B4-BE49-F238E27FC236}">
                <a16:creationId xmlns:a16="http://schemas.microsoft.com/office/drawing/2014/main" id="{CC5200BA-174F-903D-F368-9035FF0B1BE5}"/>
              </a:ext>
            </a:extLst>
          </p:cNvPr>
          <p:cNvSpPr/>
          <p:nvPr/>
        </p:nvSpPr>
        <p:spPr>
          <a:xfrm>
            <a:off x="4874048" y="1806040"/>
            <a:ext cx="1484420" cy="4291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Micro-op</a:t>
            </a:r>
            <a:endParaRPr lang="en-CA" dirty="0"/>
          </a:p>
        </p:txBody>
      </p:sp>
      <p:sp>
        <p:nvSpPr>
          <p:cNvPr id="9" name="TextBox 8">
            <a:extLst>
              <a:ext uri="{FF2B5EF4-FFF2-40B4-BE49-F238E27FC236}">
                <a16:creationId xmlns:a16="http://schemas.microsoft.com/office/drawing/2014/main" id="{DB2BFE0D-4565-B537-234B-02718EA48F9A}"/>
              </a:ext>
            </a:extLst>
          </p:cNvPr>
          <p:cNvSpPr txBox="1"/>
          <p:nvPr/>
        </p:nvSpPr>
        <p:spPr>
          <a:xfrm>
            <a:off x="2370666" y="1303868"/>
            <a:ext cx="1608454" cy="369332"/>
          </a:xfrm>
          <a:prstGeom prst="rect">
            <a:avLst/>
          </a:prstGeom>
          <a:noFill/>
        </p:spPr>
        <p:txBody>
          <a:bodyPr wrap="none" rtlCol="0">
            <a:spAutoFit/>
          </a:bodyPr>
          <a:lstStyle/>
          <a:p>
            <a:r>
              <a:rPr lang="en-US" dirty="0"/>
              <a:t>Re-order entry</a:t>
            </a:r>
            <a:endParaRPr lang="en-CA" dirty="0"/>
          </a:p>
        </p:txBody>
      </p:sp>
      <p:sp>
        <p:nvSpPr>
          <p:cNvPr id="10" name="TextBox 9">
            <a:extLst>
              <a:ext uri="{FF2B5EF4-FFF2-40B4-BE49-F238E27FC236}">
                <a16:creationId xmlns:a16="http://schemas.microsoft.com/office/drawing/2014/main" id="{19F6CD47-E7F2-CEB8-E9BC-25360AF16E0C}"/>
              </a:ext>
            </a:extLst>
          </p:cNvPr>
          <p:cNvSpPr txBox="1"/>
          <p:nvPr/>
        </p:nvSpPr>
        <p:spPr>
          <a:xfrm>
            <a:off x="482600" y="2765944"/>
            <a:ext cx="10930467" cy="7571303"/>
          </a:xfrm>
          <a:prstGeom prst="rect">
            <a:avLst/>
          </a:prstGeom>
          <a:noFill/>
        </p:spPr>
        <p:txBody>
          <a:bodyPr wrap="square" rtlCol="0">
            <a:spAutoFit/>
          </a:bodyPr>
          <a:lstStyle/>
          <a:p>
            <a:r>
              <a:rPr lang="en-US" dirty="0"/>
              <a:t>Since instructions are fetched in groups from the same instruction pointer address, the IP address is stored in the group header for the instruction group. This conserves bits over storing the IP with each instruction.</a:t>
            </a:r>
          </a:p>
          <a:p>
            <a:endParaRPr lang="en-US" dirty="0"/>
          </a:p>
          <a:p>
            <a:r>
              <a:rPr lang="en-US" dirty="0"/>
              <a:t>The offset from the IP is stored for each instruction of the group in the re-order entry along with the stream number and micro-op among other things. The LSB of IP offset is not stored since it is always zero. So, the IP offset field contains one of 0,3,6,9,… multiples of three up to the machine width. Currently up to six bits are stored.</a:t>
            </a:r>
          </a:p>
          <a:p>
            <a:endParaRPr lang="en-US" dirty="0"/>
          </a:p>
          <a:p>
            <a:r>
              <a:rPr lang="en-US" dirty="0"/>
              <a:t>The stream number is a synonym for a branch checkpoint index; five bits are allowed for which allows for 32 streams. More than 16 streams does not improve performance; however, that is for a single thread. The streams are shared between all threads.</a:t>
            </a:r>
          </a:p>
          <a:p>
            <a:endParaRPr lang="en-US" dirty="0"/>
          </a:p>
          <a:p>
            <a:r>
              <a:rPr lang="en-US" dirty="0"/>
              <a:t>Whenever a new stream is needed (for a conditional branch) it is allocated and added to the dependency list of the active stream. The new stream inherits all the dependencies of the active stream. An X*Y dependency map is generated with newly allocated streams added to the map. Each row of the map represents the dependencies of a given stream. When a stream is freed up the row is marked empty with no dependencies. Computing the stream dependency map can be done quickly.</a:t>
            </a:r>
            <a:endParaRPr lang="en-CA" dirty="0"/>
          </a:p>
          <a:p>
            <a:endParaRPr lang="en-US" dirty="0"/>
          </a:p>
          <a:p>
            <a:r>
              <a:rPr lang="en-US" dirty="0"/>
              <a:t>The stream number is used when a branch resolves to invalidate the instructions that are not along the correct path. The stomp logic takes the ‘good’ stream as input and traces though all the dependent streams branching out from the good stream that are to be stomped on. Therefore, the stomp logic generates a list of dependent streams that are not to be taken.</a:t>
            </a:r>
            <a:endParaRPr lang="en-CA" dirty="0"/>
          </a:p>
          <a:p>
            <a:endParaRPr lang="en-CA" dirty="0"/>
          </a:p>
          <a:p>
            <a:r>
              <a:rPr lang="en-US" dirty="0"/>
              <a:t>The stomp logic then compares the stream in the pipeline registers and the stream in the re-order buffer for each bank of instructions to the listed entries. If a stream is found on the list it is stomped on. Doing the compare can be done fast, it is just checking a bit in a dependency list bitmap.</a:t>
            </a:r>
            <a:endParaRPr lang="en-CA" dirty="0"/>
          </a:p>
          <a:p>
            <a:endParaRPr lang="en-CA" dirty="0"/>
          </a:p>
        </p:txBody>
      </p:sp>
      <p:sp>
        <p:nvSpPr>
          <p:cNvPr id="11" name="Rectangle 10">
            <a:extLst>
              <a:ext uri="{FF2B5EF4-FFF2-40B4-BE49-F238E27FC236}">
                <a16:creationId xmlns:a16="http://schemas.microsoft.com/office/drawing/2014/main" id="{276F0DF0-E4F8-CFA6-66CE-BF892FA71D32}"/>
              </a:ext>
            </a:extLst>
          </p:cNvPr>
          <p:cNvSpPr/>
          <p:nvPr/>
        </p:nvSpPr>
        <p:spPr>
          <a:xfrm>
            <a:off x="6445886" y="1806040"/>
            <a:ext cx="1207982" cy="4291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Stream #</a:t>
            </a:r>
            <a:endParaRPr lang="en-CA" dirty="0"/>
          </a:p>
        </p:txBody>
      </p:sp>
      <p:sp>
        <p:nvSpPr>
          <p:cNvPr id="12" name="Rectangle 11">
            <a:extLst>
              <a:ext uri="{FF2B5EF4-FFF2-40B4-BE49-F238E27FC236}">
                <a16:creationId xmlns:a16="http://schemas.microsoft.com/office/drawing/2014/main" id="{ABEF18E6-7471-3A60-76B5-8DF2F87960DC}"/>
              </a:ext>
            </a:extLst>
          </p:cNvPr>
          <p:cNvSpPr/>
          <p:nvPr/>
        </p:nvSpPr>
        <p:spPr>
          <a:xfrm>
            <a:off x="7653868" y="1806040"/>
            <a:ext cx="1207982" cy="4291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IP Offset</a:t>
            </a:r>
            <a:endParaRPr lang="en-CA" dirty="0"/>
          </a:p>
        </p:txBody>
      </p:sp>
      <p:sp>
        <p:nvSpPr>
          <p:cNvPr id="13" name="Rectangle 12">
            <a:extLst>
              <a:ext uri="{FF2B5EF4-FFF2-40B4-BE49-F238E27FC236}">
                <a16:creationId xmlns:a16="http://schemas.microsoft.com/office/drawing/2014/main" id="{7963E740-622D-142A-9029-D55FA28B7EA3}"/>
              </a:ext>
            </a:extLst>
          </p:cNvPr>
          <p:cNvSpPr/>
          <p:nvPr/>
        </p:nvSpPr>
        <p:spPr>
          <a:xfrm>
            <a:off x="8861850" y="1806040"/>
            <a:ext cx="1484420" cy="4291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Micro-op</a:t>
            </a:r>
            <a:endParaRPr lang="en-CA" dirty="0"/>
          </a:p>
        </p:txBody>
      </p:sp>
      <p:sp>
        <p:nvSpPr>
          <p:cNvPr id="14" name="TextBox 13">
            <a:extLst>
              <a:ext uri="{FF2B5EF4-FFF2-40B4-BE49-F238E27FC236}">
                <a16:creationId xmlns:a16="http://schemas.microsoft.com/office/drawing/2014/main" id="{7CC03E4B-44D9-B0C8-F076-951BA0E7F5AF}"/>
              </a:ext>
            </a:extLst>
          </p:cNvPr>
          <p:cNvSpPr txBox="1"/>
          <p:nvPr/>
        </p:nvSpPr>
        <p:spPr>
          <a:xfrm>
            <a:off x="6358468" y="1303868"/>
            <a:ext cx="1608454" cy="369332"/>
          </a:xfrm>
          <a:prstGeom prst="rect">
            <a:avLst/>
          </a:prstGeom>
          <a:noFill/>
        </p:spPr>
        <p:txBody>
          <a:bodyPr wrap="none" rtlCol="0">
            <a:spAutoFit/>
          </a:bodyPr>
          <a:lstStyle/>
          <a:p>
            <a:r>
              <a:rPr lang="en-US" dirty="0"/>
              <a:t>Re-order entry</a:t>
            </a:r>
            <a:endParaRPr lang="en-CA" dirty="0"/>
          </a:p>
        </p:txBody>
      </p:sp>
      <p:sp>
        <p:nvSpPr>
          <p:cNvPr id="15" name="TextBox 14">
            <a:extLst>
              <a:ext uri="{FF2B5EF4-FFF2-40B4-BE49-F238E27FC236}">
                <a16:creationId xmlns:a16="http://schemas.microsoft.com/office/drawing/2014/main" id="{FDF91AD9-3D7D-9825-C12E-6068405350EA}"/>
              </a:ext>
            </a:extLst>
          </p:cNvPr>
          <p:cNvSpPr txBox="1"/>
          <p:nvPr/>
        </p:nvSpPr>
        <p:spPr>
          <a:xfrm>
            <a:off x="10346270" y="1303868"/>
            <a:ext cx="1608454" cy="369332"/>
          </a:xfrm>
          <a:prstGeom prst="rect">
            <a:avLst/>
          </a:prstGeom>
          <a:noFill/>
        </p:spPr>
        <p:txBody>
          <a:bodyPr wrap="none" rtlCol="0">
            <a:spAutoFit/>
          </a:bodyPr>
          <a:lstStyle/>
          <a:p>
            <a:r>
              <a:rPr lang="en-US" dirty="0"/>
              <a:t>Re-order entry</a:t>
            </a:r>
            <a:endParaRPr lang="en-CA" dirty="0"/>
          </a:p>
        </p:txBody>
      </p:sp>
      <p:sp>
        <p:nvSpPr>
          <p:cNvPr id="16" name="TextBox 15">
            <a:extLst>
              <a:ext uri="{FF2B5EF4-FFF2-40B4-BE49-F238E27FC236}">
                <a16:creationId xmlns:a16="http://schemas.microsoft.com/office/drawing/2014/main" id="{7A471318-F0B1-6290-777A-843E6CC538FB}"/>
              </a:ext>
            </a:extLst>
          </p:cNvPr>
          <p:cNvSpPr txBox="1"/>
          <p:nvPr/>
        </p:nvSpPr>
        <p:spPr>
          <a:xfrm>
            <a:off x="10515600" y="1806040"/>
            <a:ext cx="381836" cy="369332"/>
          </a:xfrm>
          <a:prstGeom prst="rect">
            <a:avLst/>
          </a:prstGeom>
          <a:noFill/>
        </p:spPr>
        <p:txBody>
          <a:bodyPr wrap="none" rtlCol="0">
            <a:spAutoFit/>
          </a:bodyPr>
          <a:lstStyle/>
          <a:p>
            <a:r>
              <a:rPr lang="en-US" dirty="0"/>
              <a:t>…</a:t>
            </a:r>
            <a:endParaRPr lang="en-CA" dirty="0"/>
          </a:p>
        </p:txBody>
      </p:sp>
    </p:spTree>
    <p:extLst>
      <p:ext uri="{BB962C8B-B14F-4D97-AF65-F5344CB8AC3E}">
        <p14:creationId xmlns:p14="http://schemas.microsoft.com/office/powerpoint/2010/main" val="1471184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214D7-7FB0-C648-ED5D-9613B048120B}"/>
              </a:ext>
            </a:extLst>
          </p:cNvPr>
          <p:cNvSpPr>
            <a:spLocks noGrp="1"/>
          </p:cNvSpPr>
          <p:nvPr>
            <p:ph type="title"/>
          </p:nvPr>
        </p:nvSpPr>
        <p:spPr>
          <a:xfrm>
            <a:off x="0" y="32391"/>
            <a:ext cx="10515600" cy="1036388"/>
          </a:xfrm>
        </p:spPr>
        <p:txBody>
          <a:bodyPr/>
          <a:lstStyle/>
          <a:p>
            <a:r>
              <a:rPr lang="en-US" dirty="0"/>
              <a:t>Qupls4: Read Port Selector</a:t>
            </a:r>
            <a:endParaRPr lang="en-CA" dirty="0"/>
          </a:p>
        </p:txBody>
      </p:sp>
      <p:sp>
        <p:nvSpPr>
          <p:cNvPr id="4" name="Rectangle 3">
            <a:extLst>
              <a:ext uri="{FF2B5EF4-FFF2-40B4-BE49-F238E27FC236}">
                <a16:creationId xmlns:a16="http://schemas.microsoft.com/office/drawing/2014/main" id="{9E72A569-8478-5E6E-B7F4-92887FD1B49E}"/>
              </a:ext>
            </a:extLst>
          </p:cNvPr>
          <p:cNvSpPr/>
          <p:nvPr/>
        </p:nvSpPr>
        <p:spPr>
          <a:xfrm>
            <a:off x="1544746" y="3209281"/>
            <a:ext cx="2599745" cy="4987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16 Ports</a:t>
            </a:r>
            <a:endParaRPr lang="en-CA" dirty="0"/>
          </a:p>
        </p:txBody>
      </p:sp>
      <p:sp>
        <p:nvSpPr>
          <p:cNvPr id="5" name="Rectangle 4">
            <a:extLst>
              <a:ext uri="{FF2B5EF4-FFF2-40B4-BE49-F238E27FC236}">
                <a16:creationId xmlns:a16="http://schemas.microsoft.com/office/drawing/2014/main" id="{BF4C2278-107E-828B-2B81-10A1321A27CA}"/>
              </a:ext>
            </a:extLst>
          </p:cNvPr>
          <p:cNvSpPr/>
          <p:nvPr/>
        </p:nvSpPr>
        <p:spPr>
          <a:xfrm>
            <a:off x="4144490" y="3209281"/>
            <a:ext cx="5688282" cy="4987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48Ports</a:t>
            </a:r>
            <a:endParaRPr lang="en-CA" dirty="0"/>
          </a:p>
        </p:txBody>
      </p:sp>
      <p:sp>
        <p:nvSpPr>
          <p:cNvPr id="6" name="Left Brace 5">
            <a:extLst>
              <a:ext uri="{FF2B5EF4-FFF2-40B4-BE49-F238E27FC236}">
                <a16:creationId xmlns:a16="http://schemas.microsoft.com/office/drawing/2014/main" id="{F686A5D1-66B3-D28B-A13D-0CDACAE6180D}"/>
              </a:ext>
            </a:extLst>
          </p:cNvPr>
          <p:cNvSpPr/>
          <p:nvPr/>
        </p:nvSpPr>
        <p:spPr>
          <a:xfrm rot="5400000">
            <a:off x="2698223" y="1668548"/>
            <a:ext cx="297421" cy="259511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7" name="Left Brace 6">
            <a:extLst>
              <a:ext uri="{FF2B5EF4-FFF2-40B4-BE49-F238E27FC236}">
                <a16:creationId xmlns:a16="http://schemas.microsoft.com/office/drawing/2014/main" id="{9091D01D-B814-966B-BE4C-03FBB9FDFBF8}"/>
              </a:ext>
            </a:extLst>
          </p:cNvPr>
          <p:cNvSpPr/>
          <p:nvPr/>
        </p:nvSpPr>
        <p:spPr>
          <a:xfrm rot="5400000">
            <a:off x="6839921" y="121967"/>
            <a:ext cx="297420" cy="5688282"/>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8" name="TextBox 7">
            <a:extLst>
              <a:ext uri="{FF2B5EF4-FFF2-40B4-BE49-F238E27FC236}">
                <a16:creationId xmlns:a16="http://schemas.microsoft.com/office/drawing/2014/main" id="{B33B3517-8104-1D41-7E86-488C1ADCBD09}"/>
              </a:ext>
            </a:extLst>
          </p:cNvPr>
          <p:cNvSpPr txBox="1"/>
          <p:nvPr/>
        </p:nvSpPr>
        <p:spPr>
          <a:xfrm>
            <a:off x="961903" y="1266195"/>
            <a:ext cx="4560124" cy="923330"/>
          </a:xfrm>
          <a:prstGeom prst="rect">
            <a:avLst/>
          </a:prstGeom>
          <a:noFill/>
        </p:spPr>
        <p:txBody>
          <a:bodyPr wrap="square" rtlCol="0">
            <a:spAutoFit/>
          </a:bodyPr>
          <a:lstStyle/>
          <a:p>
            <a:r>
              <a:rPr lang="en-US" dirty="0"/>
              <a:t>These ports are from the rename stage available when the instruction is queued or dispatched. (4 </a:t>
            </a:r>
            <a:r>
              <a:rPr lang="en-US" dirty="0" err="1"/>
              <a:t>insn</a:t>
            </a:r>
            <a:r>
              <a:rPr lang="en-US" dirty="0"/>
              <a:t> x 4 ports)</a:t>
            </a:r>
            <a:endParaRPr lang="en-CA" dirty="0"/>
          </a:p>
        </p:txBody>
      </p:sp>
      <p:sp>
        <p:nvSpPr>
          <p:cNvPr id="9" name="TextBox 8">
            <a:extLst>
              <a:ext uri="{FF2B5EF4-FFF2-40B4-BE49-F238E27FC236}">
                <a16:creationId xmlns:a16="http://schemas.microsoft.com/office/drawing/2014/main" id="{37D635A0-4357-3B98-A46F-0E8A83346DD4}"/>
              </a:ext>
            </a:extLst>
          </p:cNvPr>
          <p:cNvSpPr txBox="1"/>
          <p:nvPr/>
        </p:nvSpPr>
        <p:spPr>
          <a:xfrm>
            <a:off x="6038602" y="1266194"/>
            <a:ext cx="4815446" cy="923330"/>
          </a:xfrm>
          <a:prstGeom prst="rect">
            <a:avLst/>
          </a:prstGeom>
          <a:noFill/>
        </p:spPr>
        <p:txBody>
          <a:bodyPr wrap="square" rtlCol="0">
            <a:spAutoFit/>
          </a:bodyPr>
          <a:lstStyle/>
          <a:p>
            <a:r>
              <a:rPr lang="en-US" dirty="0"/>
              <a:t>These ports are “catch up” ports from the reservation stations for when the values were not available at queue/dispatch time.</a:t>
            </a:r>
            <a:endParaRPr lang="en-CA" dirty="0"/>
          </a:p>
        </p:txBody>
      </p:sp>
      <p:sp>
        <p:nvSpPr>
          <p:cNvPr id="10" name="Rectangle 9">
            <a:extLst>
              <a:ext uri="{FF2B5EF4-FFF2-40B4-BE49-F238E27FC236}">
                <a16:creationId xmlns:a16="http://schemas.microsoft.com/office/drawing/2014/main" id="{646D5ACC-DC0D-50F9-8F79-A72F1A59B605}"/>
              </a:ext>
            </a:extLst>
          </p:cNvPr>
          <p:cNvSpPr/>
          <p:nvPr/>
        </p:nvSpPr>
        <p:spPr>
          <a:xfrm>
            <a:off x="1651624" y="6474062"/>
            <a:ext cx="2599745" cy="4987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16 Ports</a:t>
            </a:r>
            <a:endParaRPr lang="en-CA" dirty="0"/>
          </a:p>
        </p:txBody>
      </p:sp>
      <p:sp>
        <p:nvSpPr>
          <p:cNvPr id="11" name="Rectangle 10">
            <a:extLst>
              <a:ext uri="{FF2B5EF4-FFF2-40B4-BE49-F238E27FC236}">
                <a16:creationId xmlns:a16="http://schemas.microsoft.com/office/drawing/2014/main" id="{F6D5FF8D-5611-9106-4C58-5BB744B961F4}"/>
              </a:ext>
            </a:extLst>
          </p:cNvPr>
          <p:cNvSpPr/>
          <p:nvPr/>
        </p:nvSpPr>
        <p:spPr>
          <a:xfrm>
            <a:off x="4251369" y="6474062"/>
            <a:ext cx="1282534" cy="4987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8 Ports</a:t>
            </a:r>
            <a:endParaRPr lang="en-CA" dirty="0"/>
          </a:p>
        </p:txBody>
      </p:sp>
      <p:sp>
        <p:nvSpPr>
          <p:cNvPr id="12" name="Arrow: Down 11">
            <a:extLst>
              <a:ext uri="{FF2B5EF4-FFF2-40B4-BE49-F238E27FC236}">
                <a16:creationId xmlns:a16="http://schemas.microsoft.com/office/drawing/2014/main" id="{A93CA663-6976-BFA7-DC52-CCF83EBA9657}"/>
              </a:ext>
            </a:extLst>
          </p:cNvPr>
          <p:cNvSpPr/>
          <p:nvPr/>
        </p:nvSpPr>
        <p:spPr>
          <a:xfrm>
            <a:off x="2642262" y="3708044"/>
            <a:ext cx="504700" cy="27660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Arrow: Down 12">
            <a:extLst>
              <a:ext uri="{FF2B5EF4-FFF2-40B4-BE49-F238E27FC236}">
                <a16:creationId xmlns:a16="http://schemas.microsoft.com/office/drawing/2014/main" id="{5A3AF91D-CA75-C507-E601-FD182B163BBB}"/>
              </a:ext>
            </a:extLst>
          </p:cNvPr>
          <p:cNvSpPr/>
          <p:nvPr/>
        </p:nvSpPr>
        <p:spPr>
          <a:xfrm rot="2644022">
            <a:off x="5269746" y="5074709"/>
            <a:ext cx="528313" cy="14468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ight Brace 13">
            <a:extLst>
              <a:ext uri="{FF2B5EF4-FFF2-40B4-BE49-F238E27FC236}">
                <a16:creationId xmlns:a16="http://schemas.microsoft.com/office/drawing/2014/main" id="{2B2D432A-2A88-8351-966B-F2B98D9ABCA3}"/>
              </a:ext>
            </a:extLst>
          </p:cNvPr>
          <p:cNvSpPr/>
          <p:nvPr/>
        </p:nvSpPr>
        <p:spPr>
          <a:xfrm rot="5400000">
            <a:off x="3343381" y="5606169"/>
            <a:ext cx="391885" cy="3775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15" name="TextBox 14">
            <a:extLst>
              <a:ext uri="{FF2B5EF4-FFF2-40B4-BE49-F238E27FC236}">
                <a16:creationId xmlns:a16="http://schemas.microsoft.com/office/drawing/2014/main" id="{67D12A01-2ECD-ACD2-D23F-56652589C07A}"/>
              </a:ext>
            </a:extLst>
          </p:cNvPr>
          <p:cNvSpPr txBox="1"/>
          <p:nvPr/>
        </p:nvSpPr>
        <p:spPr>
          <a:xfrm>
            <a:off x="1193099" y="8014913"/>
            <a:ext cx="6023637" cy="369332"/>
          </a:xfrm>
          <a:prstGeom prst="rect">
            <a:avLst/>
          </a:prstGeom>
          <a:noFill/>
        </p:spPr>
        <p:txBody>
          <a:bodyPr wrap="none" rtlCol="0">
            <a:spAutoFit/>
          </a:bodyPr>
          <a:lstStyle/>
          <a:p>
            <a:r>
              <a:rPr lang="en-US" dirty="0"/>
              <a:t>These are physically statically connected to the register file.</a:t>
            </a:r>
            <a:endParaRPr lang="en-CA" dirty="0"/>
          </a:p>
        </p:txBody>
      </p:sp>
      <p:sp>
        <p:nvSpPr>
          <p:cNvPr id="16" name="TextBox 15">
            <a:extLst>
              <a:ext uri="{FF2B5EF4-FFF2-40B4-BE49-F238E27FC236}">
                <a16:creationId xmlns:a16="http://schemas.microsoft.com/office/drawing/2014/main" id="{0A64CAA9-178A-E183-6927-FB11D4C59AF6}"/>
              </a:ext>
            </a:extLst>
          </p:cNvPr>
          <p:cNvSpPr txBox="1"/>
          <p:nvPr/>
        </p:nvSpPr>
        <p:spPr>
          <a:xfrm>
            <a:off x="7286112" y="3698564"/>
            <a:ext cx="2546659" cy="369332"/>
          </a:xfrm>
          <a:prstGeom prst="rect">
            <a:avLst/>
          </a:prstGeom>
          <a:noFill/>
        </p:spPr>
        <p:txBody>
          <a:bodyPr wrap="none" rtlCol="0">
            <a:spAutoFit/>
          </a:bodyPr>
          <a:lstStyle/>
          <a:p>
            <a:r>
              <a:rPr lang="en-US" dirty="0"/>
              <a:t>Six groups of eight ports</a:t>
            </a:r>
            <a:endParaRPr lang="en-CA" dirty="0"/>
          </a:p>
        </p:txBody>
      </p:sp>
      <p:sp>
        <p:nvSpPr>
          <p:cNvPr id="17" name="Rectangle: Rounded Corners 16">
            <a:extLst>
              <a:ext uri="{FF2B5EF4-FFF2-40B4-BE49-F238E27FC236}">
                <a16:creationId xmlns:a16="http://schemas.microsoft.com/office/drawing/2014/main" id="{584A5992-2D35-7C27-BE92-BB9425A1844D}"/>
              </a:ext>
            </a:extLst>
          </p:cNvPr>
          <p:cNvSpPr/>
          <p:nvPr/>
        </p:nvSpPr>
        <p:spPr>
          <a:xfrm>
            <a:off x="5427024" y="4207079"/>
            <a:ext cx="307921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Round-robin arbiter</a:t>
            </a:r>
          </a:p>
          <a:p>
            <a:pPr algn="ctr"/>
            <a:r>
              <a:rPr lang="en-US" dirty="0"/>
              <a:t>Selects one group from six</a:t>
            </a:r>
            <a:endParaRPr lang="en-CA" dirty="0"/>
          </a:p>
        </p:txBody>
      </p:sp>
      <p:sp>
        <p:nvSpPr>
          <p:cNvPr id="18" name="Arrow: Down 17">
            <a:extLst>
              <a:ext uri="{FF2B5EF4-FFF2-40B4-BE49-F238E27FC236}">
                <a16:creationId xmlns:a16="http://schemas.microsoft.com/office/drawing/2014/main" id="{717F51D5-EDA2-4EBE-9DCE-A3EF23B95E2E}"/>
              </a:ext>
            </a:extLst>
          </p:cNvPr>
          <p:cNvSpPr/>
          <p:nvPr/>
        </p:nvSpPr>
        <p:spPr>
          <a:xfrm>
            <a:off x="6736281" y="3708044"/>
            <a:ext cx="504700" cy="4987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20" name="Straight Arrow Connector 19">
            <a:extLst>
              <a:ext uri="{FF2B5EF4-FFF2-40B4-BE49-F238E27FC236}">
                <a16:creationId xmlns:a16="http://schemas.microsoft.com/office/drawing/2014/main" id="{CDC8ED40-A4A8-C6B2-BB8B-B5473F15AD59}"/>
              </a:ext>
            </a:extLst>
          </p:cNvPr>
          <p:cNvCxnSpPr/>
          <p:nvPr/>
        </p:nvCxnSpPr>
        <p:spPr>
          <a:xfrm>
            <a:off x="2517569" y="2189524"/>
            <a:ext cx="225631" cy="4230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E44E9CA-4FC7-60C7-3D41-DF52E40E09B1}"/>
              </a:ext>
            </a:extLst>
          </p:cNvPr>
          <p:cNvCxnSpPr/>
          <p:nvPr/>
        </p:nvCxnSpPr>
        <p:spPr>
          <a:xfrm flipH="1">
            <a:off x="7077694" y="2189524"/>
            <a:ext cx="724394" cy="4586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0018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EA9A9-477C-7415-D157-CE31FA37F97F}"/>
              </a:ext>
            </a:extLst>
          </p:cNvPr>
          <p:cNvSpPr>
            <a:spLocks noGrp="1"/>
          </p:cNvSpPr>
          <p:nvPr>
            <p:ph type="title"/>
          </p:nvPr>
        </p:nvSpPr>
        <p:spPr>
          <a:xfrm>
            <a:off x="0" y="0"/>
            <a:ext cx="10515600" cy="1062201"/>
          </a:xfrm>
        </p:spPr>
        <p:txBody>
          <a:bodyPr/>
          <a:lstStyle/>
          <a:p>
            <a:r>
              <a:rPr lang="en-US" dirty="0"/>
              <a:t>Qupls4: Dispatch</a:t>
            </a:r>
            <a:endParaRPr lang="en-CA" dirty="0"/>
          </a:p>
        </p:txBody>
      </p:sp>
      <p:sp>
        <p:nvSpPr>
          <p:cNvPr id="5" name="Rectangle: Rounded Corners 4">
            <a:extLst>
              <a:ext uri="{FF2B5EF4-FFF2-40B4-BE49-F238E27FC236}">
                <a16:creationId xmlns:a16="http://schemas.microsoft.com/office/drawing/2014/main" id="{A4A8CF4B-5065-C8DF-1645-8CE1C9FB2FFF}"/>
              </a:ext>
            </a:extLst>
          </p:cNvPr>
          <p:cNvSpPr/>
          <p:nvPr/>
        </p:nvSpPr>
        <p:spPr>
          <a:xfrm>
            <a:off x="1401285" y="1342715"/>
            <a:ext cx="2066307" cy="676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Fetch</a:t>
            </a:r>
            <a:endParaRPr lang="en-CA" dirty="0"/>
          </a:p>
        </p:txBody>
      </p:sp>
      <p:sp>
        <p:nvSpPr>
          <p:cNvPr id="6" name="Rectangle: Rounded Corners 5">
            <a:extLst>
              <a:ext uri="{FF2B5EF4-FFF2-40B4-BE49-F238E27FC236}">
                <a16:creationId xmlns:a16="http://schemas.microsoft.com/office/drawing/2014/main" id="{F83CE011-D1CA-66FC-9DA6-AE9FAB295C1B}"/>
              </a:ext>
            </a:extLst>
          </p:cNvPr>
          <p:cNvSpPr/>
          <p:nvPr/>
        </p:nvSpPr>
        <p:spPr>
          <a:xfrm>
            <a:off x="1401285" y="2454954"/>
            <a:ext cx="2066307" cy="676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Extract</a:t>
            </a:r>
            <a:endParaRPr lang="en-CA" dirty="0"/>
          </a:p>
        </p:txBody>
      </p:sp>
      <p:sp>
        <p:nvSpPr>
          <p:cNvPr id="7" name="Rectangle: Rounded Corners 6">
            <a:extLst>
              <a:ext uri="{FF2B5EF4-FFF2-40B4-BE49-F238E27FC236}">
                <a16:creationId xmlns:a16="http://schemas.microsoft.com/office/drawing/2014/main" id="{4F26EE38-DD28-1F63-9E34-F6BA907F8301}"/>
              </a:ext>
            </a:extLst>
          </p:cNvPr>
          <p:cNvSpPr/>
          <p:nvPr/>
        </p:nvSpPr>
        <p:spPr>
          <a:xfrm>
            <a:off x="1401285" y="3567194"/>
            <a:ext cx="2066307" cy="676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Decode</a:t>
            </a:r>
            <a:endParaRPr lang="en-CA" dirty="0"/>
          </a:p>
        </p:txBody>
      </p:sp>
      <p:sp>
        <p:nvSpPr>
          <p:cNvPr id="8" name="Rectangle: Rounded Corners 7">
            <a:extLst>
              <a:ext uri="{FF2B5EF4-FFF2-40B4-BE49-F238E27FC236}">
                <a16:creationId xmlns:a16="http://schemas.microsoft.com/office/drawing/2014/main" id="{951D4E64-E657-5A36-CEFE-99A87C2BE400}"/>
              </a:ext>
            </a:extLst>
          </p:cNvPr>
          <p:cNvSpPr/>
          <p:nvPr/>
        </p:nvSpPr>
        <p:spPr>
          <a:xfrm>
            <a:off x="1401285" y="4733945"/>
            <a:ext cx="2066307" cy="676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Rename</a:t>
            </a:r>
            <a:endParaRPr lang="en-CA" dirty="0"/>
          </a:p>
        </p:txBody>
      </p:sp>
      <p:sp>
        <p:nvSpPr>
          <p:cNvPr id="9" name="Rectangle: Rounded Corners 8">
            <a:extLst>
              <a:ext uri="{FF2B5EF4-FFF2-40B4-BE49-F238E27FC236}">
                <a16:creationId xmlns:a16="http://schemas.microsoft.com/office/drawing/2014/main" id="{C8911EDC-780D-6617-BAF1-D2FF0FB32A98}"/>
              </a:ext>
            </a:extLst>
          </p:cNvPr>
          <p:cNvSpPr/>
          <p:nvPr/>
        </p:nvSpPr>
        <p:spPr>
          <a:xfrm>
            <a:off x="1401286" y="6084094"/>
            <a:ext cx="2066307" cy="36291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Re-order buffer</a:t>
            </a:r>
            <a:endParaRPr lang="en-CA" dirty="0"/>
          </a:p>
        </p:txBody>
      </p:sp>
      <p:sp>
        <p:nvSpPr>
          <p:cNvPr id="10" name="Rectangle: Rounded Corners 9">
            <a:extLst>
              <a:ext uri="{FF2B5EF4-FFF2-40B4-BE49-F238E27FC236}">
                <a16:creationId xmlns:a16="http://schemas.microsoft.com/office/drawing/2014/main" id="{2EF20981-CEA4-6BCB-976E-7CC043C88E62}"/>
              </a:ext>
            </a:extLst>
          </p:cNvPr>
          <p:cNvSpPr/>
          <p:nvPr/>
        </p:nvSpPr>
        <p:spPr>
          <a:xfrm>
            <a:off x="4397829" y="6716774"/>
            <a:ext cx="2066307" cy="1566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Dispatch</a:t>
            </a:r>
            <a:endParaRPr lang="en-CA" dirty="0"/>
          </a:p>
        </p:txBody>
      </p:sp>
      <p:sp>
        <p:nvSpPr>
          <p:cNvPr id="11" name="Arrow: Up-Down 10">
            <a:extLst>
              <a:ext uri="{FF2B5EF4-FFF2-40B4-BE49-F238E27FC236}">
                <a16:creationId xmlns:a16="http://schemas.microsoft.com/office/drawing/2014/main" id="{13BD7154-9982-8555-E7F8-1426A33D9134}"/>
              </a:ext>
            </a:extLst>
          </p:cNvPr>
          <p:cNvSpPr/>
          <p:nvPr/>
        </p:nvSpPr>
        <p:spPr>
          <a:xfrm rot="16200000">
            <a:off x="3689207" y="7036295"/>
            <a:ext cx="484632" cy="9278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Arrow: Down 11">
            <a:extLst>
              <a:ext uri="{FF2B5EF4-FFF2-40B4-BE49-F238E27FC236}">
                <a16:creationId xmlns:a16="http://schemas.microsoft.com/office/drawing/2014/main" id="{0DA2FDFC-BF9E-E128-A312-1C1BF5DA2474}"/>
              </a:ext>
            </a:extLst>
          </p:cNvPr>
          <p:cNvSpPr/>
          <p:nvPr/>
        </p:nvSpPr>
        <p:spPr>
          <a:xfrm>
            <a:off x="2192122" y="2018074"/>
            <a:ext cx="484632" cy="4898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Arrow: Down 12">
            <a:extLst>
              <a:ext uri="{FF2B5EF4-FFF2-40B4-BE49-F238E27FC236}">
                <a16:creationId xmlns:a16="http://schemas.microsoft.com/office/drawing/2014/main" id="{F8FF303C-6E14-6D73-3668-3314E23456AE}"/>
              </a:ext>
            </a:extLst>
          </p:cNvPr>
          <p:cNvSpPr/>
          <p:nvPr/>
        </p:nvSpPr>
        <p:spPr>
          <a:xfrm>
            <a:off x="2192122" y="3077335"/>
            <a:ext cx="484632" cy="4898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Arrow: Down 13">
            <a:extLst>
              <a:ext uri="{FF2B5EF4-FFF2-40B4-BE49-F238E27FC236}">
                <a16:creationId xmlns:a16="http://schemas.microsoft.com/office/drawing/2014/main" id="{55965217-711B-361E-AC75-72568F20B733}"/>
              </a:ext>
            </a:extLst>
          </p:cNvPr>
          <p:cNvSpPr/>
          <p:nvPr/>
        </p:nvSpPr>
        <p:spPr>
          <a:xfrm>
            <a:off x="2192122" y="4252883"/>
            <a:ext cx="484632" cy="4898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Arrow: Down 14">
            <a:extLst>
              <a:ext uri="{FF2B5EF4-FFF2-40B4-BE49-F238E27FC236}">
                <a16:creationId xmlns:a16="http://schemas.microsoft.com/office/drawing/2014/main" id="{4D9700D9-EF1F-84F9-3F81-45A11F2B6E1C}"/>
              </a:ext>
            </a:extLst>
          </p:cNvPr>
          <p:cNvSpPr/>
          <p:nvPr/>
        </p:nvSpPr>
        <p:spPr>
          <a:xfrm>
            <a:off x="2192122" y="5397865"/>
            <a:ext cx="484632" cy="6768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B7B0DE35-1B5F-C6C5-9BC5-B397CB0C8E89}"/>
              </a:ext>
            </a:extLst>
          </p:cNvPr>
          <p:cNvSpPr txBox="1"/>
          <p:nvPr/>
        </p:nvSpPr>
        <p:spPr>
          <a:xfrm>
            <a:off x="6464136" y="5564025"/>
            <a:ext cx="1434945" cy="369332"/>
          </a:xfrm>
          <a:prstGeom prst="rect">
            <a:avLst/>
          </a:prstGeom>
          <a:noFill/>
        </p:spPr>
        <p:txBody>
          <a:bodyPr wrap="none" rtlCol="0">
            <a:spAutoFit/>
          </a:bodyPr>
          <a:lstStyle/>
          <a:p>
            <a:r>
              <a:rPr lang="en-US" dirty="0"/>
              <a:t>Out-of-order</a:t>
            </a:r>
            <a:endParaRPr lang="en-CA" dirty="0"/>
          </a:p>
        </p:txBody>
      </p:sp>
      <p:sp>
        <p:nvSpPr>
          <p:cNvPr id="17" name="Rectangle: Rounded Corners 16">
            <a:extLst>
              <a:ext uri="{FF2B5EF4-FFF2-40B4-BE49-F238E27FC236}">
                <a16:creationId xmlns:a16="http://schemas.microsoft.com/office/drawing/2014/main" id="{AD1E0AD6-08C1-D70F-9FB3-CD4BA3B76B58}"/>
              </a:ext>
            </a:extLst>
          </p:cNvPr>
          <p:cNvSpPr/>
          <p:nvPr/>
        </p:nvSpPr>
        <p:spPr>
          <a:xfrm>
            <a:off x="7823857" y="6716774"/>
            <a:ext cx="2066307" cy="676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Issue</a:t>
            </a:r>
            <a:endParaRPr lang="en-CA" dirty="0"/>
          </a:p>
        </p:txBody>
      </p:sp>
      <p:sp>
        <p:nvSpPr>
          <p:cNvPr id="18" name="Right Brace 17">
            <a:extLst>
              <a:ext uri="{FF2B5EF4-FFF2-40B4-BE49-F238E27FC236}">
                <a16:creationId xmlns:a16="http://schemas.microsoft.com/office/drawing/2014/main" id="{1EFBF7F9-D644-8047-FC77-21D4777E9C72}"/>
              </a:ext>
            </a:extLst>
          </p:cNvPr>
          <p:cNvSpPr/>
          <p:nvPr/>
        </p:nvSpPr>
        <p:spPr>
          <a:xfrm>
            <a:off x="3689207" y="1355688"/>
            <a:ext cx="484632" cy="405515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dirty="0"/>
          </a:p>
        </p:txBody>
      </p:sp>
      <p:sp>
        <p:nvSpPr>
          <p:cNvPr id="19" name="TextBox 18">
            <a:extLst>
              <a:ext uri="{FF2B5EF4-FFF2-40B4-BE49-F238E27FC236}">
                <a16:creationId xmlns:a16="http://schemas.microsoft.com/office/drawing/2014/main" id="{EED010C0-8835-E105-8618-F7B7E7CC7138}"/>
              </a:ext>
            </a:extLst>
          </p:cNvPr>
          <p:cNvSpPr txBox="1"/>
          <p:nvPr/>
        </p:nvSpPr>
        <p:spPr>
          <a:xfrm>
            <a:off x="4173839" y="3197861"/>
            <a:ext cx="1678023" cy="369332"/>
          </a:xfrm>
          <a:prstGeom prst="rect">
            <a:avLst/>
          </a:prstGeom>
          <a:noFill/>
        </p:spPr>
        <p:txBody>
          <a:bodyPr wrap="none" rtlCol="0">
            <a:spAutoFit/>
          </a:bodyPr>
          <a:lstStyle/>
          <a:p>
            <a:r>
              <a:rPr lang="en-US" dirty="0"/>
              <a:t>In-order stages</a:t>
            </a:r>
            <a:endParaRPr lang="en-CA" dirty="0"/>
          </a:p>
        </p:txBody>
      </p:sp>
      <p:sp>
        <p:nvSpPr>
          <p:cNvPr id="20" name="Rectangle: Rounded Corners 19">
            <a:extLst>
              <a:ext uri="{FF2B5EF4-FFF2-40B4-BE49-F238E27FC236}">
                <a16:creationId xmlns:a16="http://schemas.microsoft.com/office/drawing/2014/main" id="{0E60D693-E834-30C7-52D7-1CD775A603F0}"/>
              </a:ext>
            </a:extLst>
          </p:cNvPr>
          <p:cNvSpPr/>
          <p:nvPr/>
        </p:nvSpPr>
        <p:spPr>
          <a:xfrm>
            <a:off x="7823857" y="7996021"/>
            <a:ext cx="2066307" cy="15669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a:t>
            </a:r>
            <a:endParaRPr lang="en-CA" dirty="0"/>
          </a:p>
        </p:txBody>
      </p:sp>
      <p:sp>
        <p:nvSpPr>
          <p:cNvPr id="21" name="Arrow: Right 20">
            <a:extLst>
              <a:ext uri="{FF2B5EF4-FFF2-40B4-BE49-F238E27FC236}">
                <a16:creationId xmlns:a16="http://schemas.microsoft.com/office/drawing/2014/main" id="{9B860FB7-7060-28AF-C729-CEB0B06E74F7}"/>
              </a:ext>
            </a:extLst>
          </p:cNvPr>
          <p:cNvSpPr/>
          <p:nvPr/>
        </p:nvSpPr>
        <p:spPr>
          <a:xfrm>
            <a:off x="6464136" y="6887688"/>
            <a:ext cx="1359721" cy="3702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Arrow: Down 21">
            <a:extLst>
              <a:ext uri="{FF2B5EF4-FFF2-40B4-BE49-F238E27FC236}">
                <a16:creationId xmlns:a16="http://schemas.microsoft.com/office/drawing/2014/main" id="{F66E3EE8-64B2-CEFD-84B8-9014BBB7F1D4}"/>
              </a:ext>
            </a:extLst>
          </p:cNvPr>
          <p:cNvSpPr/>
          <p:nvPr/>
        </p:nvSpPr>
        <p:spPr>
          <a:xfrm>
            <a:off x="8614694" y="7393667"/>
            <a:ext cx="484632" cy="6023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Rounded Corners 22">
            <a:extLst>
              <a:ext uri="{FF2B5EF4-FFF2-40B4-BE49-F238E27FC236}">
                <a16:creationId xmlns:a16="http://schemas.microsoft.com/office/drawing/2014/main" id="{37247BBB-210D-2549-4845-32FF7631B94F}"/>
              </a:ext>
            </a:extLst>
          </p:cNvPr>
          <p:cNvSpPr/>
          <p:nvPr/>
        </p:nvSpPr>
        <p:spPr>
          <a:xfrm>
            <a:off x="1401284" y="10419758"/>
            <a:ext cx="2066307" cy="676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Commit</a:t>
            </a:r>
            <a:endParaRPr lang="en-CA" dirty="0"/>
          </a:p>
        </p:txBody>
      </p:sp>
      <p:sp>
        <p:nvSpPr>
          <p:cNvPr id="24" name="Arrow: Down 23">
            <a:extLst>
              <a:ext uri="{FF2B5EF4-FFF2-40B4-BE49-F238E27FC236}">
                <a16:creationId xmlns:a16="http://schemas.microsoft.com/office/drawing/2014/main" id="{39D7E4FE-A6EB-75A0-6401-37BCFBBD7274}"/>
              </a:ext>
            </a:extLst>
          </p:cNvPr>
          <p:cNvSpPr/>
          <p:nvPr/>
        </p:nvSpPr>
        <p:spPr>
          <a:xfrm>
            <a:off x="2192122" y="9704016"/>
            <a:ext cx="484632" cy="6768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Arrow: Right 24">
            <a:extLst>
              <a:ext uri="{FF2B5EF4-FFF2-40B4-BE49-F238E27FC236}">
                <a16:creationId xmlns:a16="http://schemas.microsoft.com/office/drawing/2014/main" id="{B95C6814-276E-10CC-B384-A1F124A4EC4C}"/>
              </a:ext>
            </a:extLst>
          </p:cNvPr>
          <p:cNvSpPr/>
          <p:nvPr/>
        </p:nvSpPr>
        <p:spPr>
          <a:xfrm rot="10800000">
            <a:off x="3467590" y="8540749"/>
            <a:ext cx="4356266" cy="5553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Right Brace 25">
            <a:extLst>
              <a:ext uri="{FF2B5EF4-FFF2-40B4-BE49-F238E27FC236}">
                <a16:creationId xmlns:a16="http://schemas.microsoft.com/office/drawing/2014/main" id="{7A2AD6FF-C12C-DB04-4185-1963B7FD86E9}"/>
              </a:ext>
            </a:extLst>
          </p:cNvPr>
          <p:cNvSpPr/>
          <p:nvPr/>
        </p:nvSpPr>
        <p:spPr>
          <a:xfrm rot="16200000">
            <a:off x="6958563" y="3528099"/>
            <a:ext cx="368490" cy="549471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CA"/>
          </a:p>
        </p:txBody>
      </p:sp>
      <p:sp>
        <p:nvSpPr>
          <p:cNvPr id="27" name="TextBox 26">
            <a:extLst>
              <a:ext uri="{FF2B5EF4-FFF2-40B4-BE49-F238E27FC236}">
                <a16:creationId xmlns:a16="http://schemas.microsoft.com/office/drawing/2014/main" id="{AC75AB80-21D8-43B4-3E2D-4916E74D4E35}"/>
              </a:ext>
            </a:extLst>
          </p:cNvPr>
          <p:cNvSpPr txBox="1"/>
          <p:nvPr/>
        </p:nvSpPr>
        <p:spPr>
          <a:xfrm>
            <a:off x="6179132" y="1319273"/>
            <a:ext cx="5090555" cy="2862322"/>
          </a:xfrm>
          <a:prstGeom prst="rect">
            <a:avLst/>
          </a:prstGeom>
          <a:noFill/>
        </p:spPr>
        <p:txBody>
          <a:bodyPr wrap="square" rtlCol="0">
            <a:spAutoFit/>
          </a:bodyPr>
          <a:lstStyle/>
          <a:p>
            <a:r>
              <a:rPr lang="en-US" dirty="0"/>
              <a:t>Out-of-order dispatch does not stall the pipeline when execution units are busy (queues full).</a:t>
            </a:r>
          </a:p>
          <a:p>
            <a:endParaRPr lang="en-US" dirty="0"/>
          </a:p>
          <a:p>
            <a:r>
              <a:rPr lang="en-US" dirty="0"/>
              <a:t>With out-of-order dispatch instructions may be dispatched again by resetting bits in the ROB.</a:t>
            </a:r>
            <a:endParaRPr lang="en-CA" dirty="0"/>
          </a:p>
          <a:p>
            <a:endParaRPr lang="en-US" dirty="0"/>
          </a:p>
          <a:p>
            <a:r>
              <a:rPr lang="en-US" dirty="0"/>
              <a:t>The execute unit may need more operands than are supplied by a single micro-op. (REXT) The REXT prefix is performed out-of-order.</a:t>
            </a:r>
          </a:p>
          <a:p>
            <a:endParaRPr lang="en-US" dirty="0"/>
          </a:p>
        </p:txBody>
      </p:sp>
    </p:spTree>
    <p:extLst>
      <p:ext uri="{BB962C8B-B14F-4D97-AF65-F5344CB8AC3E}">
        <p14:creationId xmlns:p14="http://schemas.microsoft.com/office/powerpoint/2010/main" val="2595397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B4536-7944-C148-358E-6B384E99691B}"/>
              </a:ext>
            </a:extLst>
          </p:cNvPr>
          <p:cNvSpPr>
            <a:spLocks noGrp="1"/>
          </p:cNvSpPr>
          <p:nvPr>
            <p:ph type="title"/>
          </p:nvPr>
        </p:nvSpPr>
        <p:spPr>
          <a:xfrm>
            <a:off x="0" y="32391"/>
            <a:ext cx="10515600" cy="1463900"/>
          </a:xfrm>
        </p:spPr>
        <p:txBody>
          <a:bodyPr/>
          <a:lstStyle/>
          <a:p>
            <a:r>
              <a:rPr lang="en-US" dirty="0"/>
              <a:t>Qupls4: Name Supplier</a:t>
            </a:r>
            <a:endParaRPr lang="en-CA" dirty="0"/>
          </a:p>
        </p:txBody>
      </p:sp>
      <p:sp>
        <p:nvSpPr>
          <p:cNvPr id="4" name="Rectangle 3">
            <a:extLst>
              <a:ext uri="{FF2B5EF4-FFF2-40B4-BE49-F238E27FC236}">
                <a16:creationId xmlns:a16="http://schemas.microsoft.com/office/drawing/2014/main" id="{AF3C5AAA-D33B-3FD7-6D70-E45A781CE8AF}"/>
              </a:ext>
            </a:extLst>
          </p:cNvPr>
          <p:cNvSpPr/>
          <p:nvPr/>
        </p:nvSpPr>
        <p:spPr>
          <a:xfrm>
            <a:off x="2018805" y="4999512"/>
            <a:ext cx="2921330" cy="4512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Bitmap1</a:t>
            </a:r>
            <a:endParaRPr lang="en-CA" dirty="0"/>
          </a:p>
        </p:txBody>
      </p:sp>
      <p:sp>
        <p:nvSpPr>
          <p:cNvPr id="5" name="Rectangle 4">
            <a:extLst>
              <a:ext uri="{FF2B5EF4-FFF2-40B4-BE49-F238E27FC236}">
                <a16:creationId xmlns:a16="http://schemas.microsoft.com/office/drawing/2014/main" id="{D8E03FC9-DEE5-A668-B1E6-2CF47085DD5D}"/>
              </a:ext>
            </a:extLst>
          </p:cNvPr>
          <p:cNvSpPr/>
          <p:nvPr/>
        </p:nvSpPr>
        <p:spPr>
          <a:xfrm>
            <a:off x="2018805" y="5450774"/>
            <a:ext cx="2921330" cy="4512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Bitmap2</a:t>
            </a:r>
            <a:endParaRPr lang="en-CA" dirty="0"/>
          </a:p>
        </p:txBody>
      </p:sp>
      <p:sp>
        <p:nvSpPr>
          <p:cNvPr id="7" name="Rectangle 6">
            <a:extLst>
              <a:ext uri="{FF2B5EF4-FFF2-40B4-BE49-F238E27FC236}">
                <a16:creationId xmlns:a16="http://schemas.microsoft.com/office/drawing/2014/main" id="{83F042D4-75DA-F1C9-A9A6-4EA9509E8BB0}"/>
              </a:ext>
            </a:extLst>
          </p:cNvPr>
          <p:cNvSpPr/>
          <p:nvPr/>
        </p:nvSpPr>
        <p:spPr>
          <a:xfrm>
            <a:off x="2018805" y="5902036"/>
            <a:ext cx="2921330" cy="4512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Bitmap3</a:t>
            </a:r>
            <a:endParaRPr lang="en-CA" dirty="0"/>
          </a:p>
        </p:txBody>
      </p:sp>
      <p:sp>
        <p:nvSpPr>
          <p:cNvPr id="8" name="Rectangle 7">
            <a:extLst>
              <a:ext uri="{FF2B5EF4-FFF2-40B4-BE49-F238E27FC236}">
                <a16:creationId xmlns:a16="http://schemas.microsoft.com/office/drawing/2014/main" id="{C3EB02B5-6969-92BE-DAE6-034A500B3281}"/>
              </a:ext>
            </a:extLst>
          </p:cNvPr>
          <p:cNvSpPr/>
          <p:nvPr/>
        </p:nvSpPr>
        <p:spPr>
          <a:xfrm>
            <a:off x="2018805" y="6363195"/>
            <a:ext cx="2921330" cy="4512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Bitmap4</a:t>
            </a:r>
            <a:endParaRPr lang="en-CA" dirty="0"/>
          </a:p>
        </p:txBody>
      </p:sp>
      <p:sp>
        <p:nvSpPr>
          <p:cNvPr id="9" name="Rectangle: Rounded Corners 8">
            <a:extLst>
              <a:ext uri="{FF2B5EF4-FFF2-40B4-BE49-F238E27FC236}">
                <a16:creationId xmlns:a16="http://schemas.microsoft.com/office/drawing/2014/main" id="{52E5F9BC-4C3C-D3BF-090F-6870B5C81C7F}"/>
              </a:ext>
            </a:extLst>
          </p:cNvPr>
          <p:cNvSpPr/>
          <p:nvPr/>
        </p:nvSpPr>
        <p:spPr>
          <a:xfrm>
            <a:off x="1971304" y="7792865"/>
            <a:ext cx="301633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a:t>
            </a:r>
            <a:endParaRPr lang="en-CA" dirty="0"/>
          </a:p>
        </p:txBody>
      </p:sp>
      <p:sp>
        <p:nvSpPr>
          <p:cNvPr id="10" name="Rectangle: Rounded Corners 9">
            <a:extLst>
              <a:ext uri="{FF2B5EF4-FFF2-40B4-BE49-F238E27FC236}">
                <a16:creationId xmlns:a16="http://schemas.microsoft.com/office/drawing/2014/main" id="{2E1959A4-6CF5-639A-E7AD-4586A986302B}"/>
              </a:ext>
            </a:extLst>
          </p:cNvPr>
          <p:cNvSpPr/>
          <p:nvPr/>
        </p:nvSpPr>
        <p:spPr>
          <a:xfrm>
            <a:off x="2018805" y="3146961"/>
            <a:ext cx="292133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Freed tag</a:t>
            </a:r>
          </a:p>
          <a:p>
            <a:pPr algn="ctr"/>
            <a:r>
              <a:rPr lang="en-US" dirty="0"/>
              <a:t>Delay Line (16 cycles)</a:t>
            </a:r>
            <a:endParaRPr lang="en-CA" dirty="0"/>
          </a:p>
        </p:txBody>
      </p:sp>
      <p:sp>
        <p:nvSpPr>
          <p:cNvPr id="11" name="TextBox 10">
            <a:extLst>
              <a:ext uri="{FF2B5EF4-FFF2-40B4-BE49-F238E27FC236}">
                <a16:creationId xmlns:a16="http://schemas.microsoft.com/office/drawing/2014/main" id="{20953A5F-6376-702C-63F4-950391C0AF5C}"/>
              </a:ext>
            </a:extLst>
          </p:cNvPr>
          <p:cNvSpPr txBox="1"/>
          <p:nvPr/>
        </p:nvSpPr>
        <p:spPr>
          <a:xfrm>
            <a:off x="5844639" y="2483364"/>
            <a:ext cx="4833257" cy="5078313"/>
          </a:xfrm>
          <a:prstGeom prst="rect">
            <a:avLst/>
          </a:prstGeom>
          <a:noFill/>
        </p:spPr>
        <p:txBody>
          <a:bodyPr wrap="square" rtlCol="0">
            <a:spAutoFit/>
          </a:bodyPr>
          <a:lstStyle/>
          <a:p>
            <a:pPr marL="285750" indent="-285750">
              <a:buFont typeface="Arial" panose="020B0604020202020204" pitchFamily="34" charset="0"/>
              <a:buChar char="•"/>
            </a:pPr>
            <a:r>
              <a:rPr lang="en-US" dirty="0"/>
              <a:t>The name supplier uses four bitmaps, each bitmap containing flags for the physical registers.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Each bitmap represents ¼ of the physical register tags.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register tag is chosen from each bitmap as needed to supply rename 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 a tag is freed, it is placed at the end of a delay line so that it may not be selected until the delay (16 cycles) expires.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Delaying the availability of free tags prevents pipelining issue resulting from a tag being reused too quickly.</a:t>
            </a:r>
          </a:p>
          <a:p>
            <a:endParaRPr lang="en-CA" dirty="0"/>
          </a:p>
        </p:txBody>
      </p:sp>
      <p:sp>
        <p:nvSpPr>
          <p:cNvPr id="12" name="Arrow: Bent 11">
            <a:extLst>
              <a:ext uri="{FF2B5EF4-FFF2-40B4-BE49-F238E27FC236}">
                <a16:creationId xmlns:a16="http://schemas.microsoft.com/office/drawing/2014/main" id="{8E650A4B-DDF1-2438-67DD-40D670604643}"/>
              </a:ext>
            </a:extLst>
          </p:cNvPr>
          <p:cNvSpPr/>
          <p:nvPr/>
        </p:nvSpPr>
        <p:spPr>
          <a:xfrm rot="5400000">
            <a:off x="2766951" y="2271266"/>
            <a:ext cx="813816" cy="86868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3" name="TextBox 12">
            <a:extLst>
              <a:ext uri="{FF2B5EF4-FFF2-40B4-BE49-F238E27FC236}">
                <a16:creationId xmlns:a16="http://schemas.microsoft.com/office/drawing/2014/main" id="{DC50DC72-4E1A-ABBE-4BB9-346D2DF5582D}"/>
              </a:ext>
            </a:extLst>
          </p:cNvPr>
          <p:cNvSpPr txBox="1"/>
          <p:nvPr/>
        </p:nvSpPr>
        <p:spPr>
          <a:xfrm>
            <a:off x="621790" y="2114032"/>
            <a:ext cx="1583382" cy="369332"/>
          </a:xfrm>
          <a:prstGeom prst="rect">
            <a:avLst/>
          </a:prstGeom>
          <a:noFill/>
        </p:spPr>
        <p:txBody>
          <a:bodyPr wrap="none" rtlCol="0">
            <a:spAutoFit/>
          </a:bodyPr>
          <a:lstStyle/>
          <a:p>
            <a:r>
              <a:rPr lang="en-US" dirty="0"/>
              <a:t>Commit stage</a:t>
            </a:r>
            <a:endParaRPr lang="en-CA" dirty="0"/>
          </a:p>
        </p:txBody>
      </p:sp>
      <p:sp>
        <p:nvSpPr>
          <p:cNvPr id="14" name="Arrow: Down 13">
            <a:extLst>
              <a:ext uri="{FF2B5EF4-FFF2-40B4-BE49-F238E27FC236}">
                <a16:creationId xmlns:a16="http://schemas.microsoft.com/office/drawing/2014/main" id="{58B24AA2-39DD-9EBF-D6A7-903CB134765B}"/>
              </a:ext>
            </a:extLst>
          </p:cNvPr>
          <p:cNvSpPr/>
          <p:nvPr/>
        </p:nvSpPr>
        <p:spPr>
          <a:xfrm>
            <a:off x="3173859" y="4061361"/>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Arrow: Down 14">
            <a:extLst>
              <a:ext uri="{FF2B5EF4-FFF2-40B4-BE49-F238E27FC236}">
                <a16:creationId xmlns:a16="http://schemas.microsoft.com/office/drawing/2014/main" id="{50749C08-B1D9-75A2-36DA-8315023E0B6D}"/>
              </a:ext>
            </a:extLst>
          </p:cNvPr>
          <p:cNvSpPr/>
          <p:nvPr/>
        </p:nvSpPr>
        <p:spPr>
          <a:xfrm>
            <a:off x="3289465" y="6814457"/>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Arrow: Right 15">
            <a:extLst>
              <a:ext uri="{FF2B5EF4-FFF2-40B4-BE49-F238E27FC236}">
                <a16:creationId xmlns:a16="http://schemas.microsoft.com/office/drawing/2014/main" id="{1F0B450E-689F-5C28-0CC7-1FEB60ECDA05}"/>
              </a:ext>
            </a:extLst>
          </p:cNvPr>
          <p:cNvSpPr/>
          <p:nvPr/>
        </p:nvSpPr>
        <p:spPr>
          <a:xfrm>
            <a:off x="992896" y="8007749"/>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E94A2AC3-8BAC-17CF-D21C-6AC1F6905CCA}"/>
              </a:ext>
            </a:extLst>
          </p:cNvPr>
          <p:cNvSpPr txBox="1"/>
          <p:nvPr/>
        </p:nvSpPr>
        <p:spPr>
          <a:xfrm>
            <a:off x="403761" y="7303661"/>
            <a:ext cx="1321772" cy="646331"/>
          </a:xfrm>
          <a:prstGeom prst="rect">
            <a:avLst/>
          </a:prstGeom>
          <a:noFill/>
        </p:spPr>
        <p:txBody>
          <a:bodyPr wrap="none" rtlCol="0">
            <a:spAutoFit/>
          </a:bodyPr>
          <a:lstStyle/>
          <a:p>
            <a:r>
              <a:rPr lang="en-US" dirty="0"/>
              <a:t>Tag request</a:t>
            </a:r>
          </a:p>
          <a:p>
            <a:r>
              <a:rPr lang="en-US" dirty="0"/>
              <a:t>(Rename)</a:t>
            </a:r>
            <a:endParaRPr lang="en-CA" dirty="0"/>
          </a:p>
        </p:txBody>
      </p:sp>
      <p:sp>
        <p:nvSpPr>
          <p:cNvPr id="21" name="Arrow: Down 20">
            <a:extLst>
              <a:ext uri="{FF2B5EF4-FFF2-40B4-BE49-F238E27FC236}">
                <a16:creationId xmlns:a16="http://schemas.microsoft.com/office/drawing/2014/main" id="{1FD94E7E-686E-1A87-E3E2-4AEB965BB3C8}"/>
              </a:ext>
            </a:extLst>
          </p:cNvPr>
          <p:cNvSpPr/>
          <p:nvPr/>
        </p:nvSpPr>
        <p:spPr>
          <a:xfrm>
            <a:off x="3289465" y="8705286"/>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TextBox 21">
            <a:extLst>
              <a:ext uri="{FF2B5EF4-FFF2-40B4-BE49-F238E27FC236}">
                <a16:creationId xmlns:a16="http://schemas.microsoft.com/office/drawing/2014/main" id="{29E55605-0CEB-F36B-3ADF-203C0ECA362C}"/>
              </a:ext>
            </a:extLst>
          </p:cNvPr>
          <p:cNvSpPr txBox="1"/>
          <p:nvPr/>
        </p:nvSpPr>
        <p:spPr>
          <a:xfrm>
            <a:off x="2739519" y="9765624"/>
            <a:ext cx="1691810" cy="369332"/>
          </a:xfrm>
          <a:prstGeom prst="rect">
            <a:avLst/>
          </a:prstGeom>
          <a:noFill/>
        </p:spPr>
        <p:txBody>
          <a:bodyPr wrap="none" rtlCol="0">
            <a:spAutoFit/>
          </a:bodyPr>
          <a:lstStyle/>
          <a:p>
            <a:r>
              <a:rPr lang="en-US" dirty="0"/>
              <a:t>Re-order buffer</a:t>
            </a:r>
            <a:endParaRPr lang="en-CA" dirty="0"/>
          </a:p>
        </p:txBody>
      </p:sp>
    </p:spTree>
    <p:extLst>
      <p:ext uri="{BB962C8B-B14F-4D97-AF65-F5344CB8AC3E}">
        <p14:creationId xmlns:p14="http://schemas.microsoft.com/office/powerpoint/2010/main" val="2907071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070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37363-78A7-E562-EDEF-A1FB8A29502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35D253-AA39-A15B-A4C1-F94B4FD71904}"/>
              </a:ext>
            </a:extLst>
          </p:cNvPr>
          <p:cNvSpPr/>
          <p:nvPr/>
        </p:nvSpPr>
        <p:spPr>
          <a:xfrm>
            <a:off x="1026406" y="5101331"/>
            <a:ext cx="8107004" cy="12998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prstClr val="black"/>
                </a:solidFill>
                <a:effectLst/>
                <a:uLnTx/>
                <a:uFillTx/>
                <a:latin typeface="Aptos" panose="02110004020202020204"/>
                <a:ea typeface="+mn-ea"/>
                <a:cs typeface="+mn-cs"/>
              </a:rPr>
              <a:t>Execute</a:t>
            </a:r>
          </a:p>
        </p:txBody>
      </p:sp>
      <p:sp>
        <p:nvSpPr>
          <p:cNvPr id="6" name="Title 1">
            <a:extLst>
              <a:ext uri="{FF2B5EF4-FFF2-40B4-BE49-F238E27FC236}">
                <a16:creationId xmlns:a16="http://schemas.microsoft.com/office/drawing/2014/main" id="{4B5A5EAB-FAB5-8DEA-9B1E-11A6C890728A}"/>
              </a:ext>
            </a:extLst>
          </p:cNvPr>
          <p:cNvSpPr txBox="1">
            <a:spLocks/>
          </p:cNvSpPr>
          <p:nvPr/>
        </p:nvSpPr>
        <p:spPr>
          <a:xfrm>
            <a:off x="383382" y="0"/>
            <a:ext cx="6190533" cy="8065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CA" sz="4400" b="0" i="0" u="none" strike="noStrike" kern="1200" cap="none" spc="0" normalizeH="0" baseline="0" noProof="0" dirty="0">
                <a:ln>
                  <a:noFill/>
                </a:ln>
                <a:solidFill>
                  <a:prstClr val="black"/>
                </a:solidFill>
                <a:effectLst/>
                <a:uLnTx/>
                <a:uFillTx/>
                <a:latin typeface="Aptos Display" panose="02110004020202020204"/>
                <a:ea typeface="+mj-ea"/>
                <a:cs typeface="+mj-cs"/>
              </a:rPr>
              <a:t>Q+4 Block Diagram</a:t>
            </a:r>
          </a:p>
        </p:txBody>
      </p:sp>
      <p:sp>
        <p:nvSpPr>
          <p:cNvPr id="7" name="Rectangle 6">
            <a:extLst>
              <a:ext uri="{FF2B5EF4-FFF2-40B4-BE49-F238E27FC236}">
                <a16:creationId xmlns:a16="http://schemas.microsoft.com/office/drawing/2014/main" id="{5C23E5F5-8A23-0E9D-6013-D43B81AD1B46}"/>
              </a:ext>
            </a:extLst>
          </p:cNvPr>
          <p:cNvSpPr/>
          <p:nvPr/>
        </p:nvSpPr>
        <p:spPr>
          <a:xfrm>
            <a:off x="1026410" y="1511403"/>
            <a:ext cx="4690586" cy="5189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L1 I-Cache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32kB – 4 way</a:t>
            </a:r>
          </a:p>
        </p:txBody>
      </p:sp>
      <p:sp>
        <p:nvSpPr>
          <p:cNvPr id="8" name="Rectangle 7">
            <a:extLst>
              <a:ext uri="{FF2B5EF4-FFF2-40B4-BE49-F238E27FC236}">
                <a16:creationId xmlns:a16="http://schemas.microsoft.com/office/drawing/2014/main" id="{C2A8DB9D-0CF6-5499-8E36-0A2BC4FBAA8D}"/>
              </a:ext>
            </a:extLst>
          </p:cNvPr>
          <p:cNvSpPr/>
          <p:nvPr/>
        </p:nvSpPr>
        <p:spPr>
          <a:xfrm>
            <a:off x="2056538" y="2172585"/>
            <a:ext cx="3654195" cy="33269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Fetch</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128B cache line pair</a:t>
            </a:r>
          </a:p>
        </p:txBody>
      </p:sp>
      <p:sp>
        <p:nvSpPr>
          <p:cNvPr id="9" name="Rectangle 8">
            <a:extLst>
              <a:ext uri="{FF2B5EF4-FFF2-40B4-BE49-F238E27FC236}">
                <a16:creationId xmlns:a16="http://schemas.microsoft.com/office/drawing/2014/main" id="{EB23E26B-22B5-E210-E46A-5F118654AB39}"/>
              </a:ext>
            </a:extLst>
          </p:cNvPr>
          <p:cNvSpPr/>
          <p:nvPr/>
        </p:nvSpPr>
        <p:spPr>
          <a:xfrm>
            <a:off x="2062801" y="2688127"/>
            <a:ext cx="3654195" cy="2949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Align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48x4= 192 Bits = 24B</a:t>
            </a:r>
          </a:p>
        </p:txBody>
      </p:sp>
      <p:sp>
        <p:nvSpPr>
          <p:cNvPr id="10" name="Rectangle 9">
            <a:extLst>
              <a:ext uri="{FF2B5EF4-FFF2-40B4-BE49-F238E27FC236}">
                <a16:creationId xmlns:a16="http://schemas.microsoft.com/office/drawing/2014/main" id="{02F2661C-3B47-2750-9D2B-848675A2E091}"/>
              </a:ext>
            </a:extLst>
          </p:cNvPr>
          <p:cNvSpPr/>
          <p:nvPr/>
        </p:nvSpPr>
        <p:spPr>
          <a:xfrm>
            <a:off x="2062801" y="3174910"/>
            <a:ext cx="3654195" cy="263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Extract x4</a:t>
            </a:r>
          </a:p>
        </p:txBody>
      </p:sp>
      <p:sp>
        <p:nvSpPr>
          <p:cNvPr id="11" name="Arrow: Down 10">
            <a:extLst>
              <a:ext uri="{FF2B5EF4-FFF2-40B4-BE49-F238E27FC236}">
                <a16:creationId xmlns:a16="http://schemas.microsoft.com/office/drawing/2014/main" id="{D54A9FB7-3AD9-A504-2625-AA77983FBC0D}"/>
              </a:ext>
            </a:extLst>
          </p:cNvPr>
          <p:cNvSpPr/>
          <p:nvPr/>
        </p:nvSpPr>
        <p:spPr>
          <a:xfrm>
            <a:off x="3593514" y="2974547"/>
            <a:ext cx="484633" cy="19753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1"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FFD9247-1771-C882-F141-29BAB0F61224}"/>
              </a:ext>
            </a:extLst>
          </p:cNvPr>
          <p:cNvSpPr/>
          <p:nvPr/>
        </p:nvSpPr>
        <p:spPr>
          <a:xfrm>
            <a:off x="2059980" y="3520426"/>
            <a:ext cx="3657016" cy="263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Decoder x4</a:t>
            </a:r>
          </a:p>
        </p:txBody>
      </p:sp>
      <p:sp>
        <p:nvSpPr>
          <p:cNvPr id="13" name="Arrow: Down 12">
            <a:extLst>
              <a:ext uri="{FF2B5EF4-FFF2-40B4-BE49-F238E27FC236}">
                <a16:creationId xmlns:a16="http://schemas.microsoft.com/office/drawing/2014/main" id="{67FCE386-0FEB-B87A-1F92-A1E459C23F7D}"/>
              </a:ext>
            </a:extLst>
          </p:cNvPr>
          <p:cNvSpPr/>
          <p:nvPr/>
        </p:nvSpPr>
        <p:spPr>
          <a:xfrm>
            <a:off x="2625151" y="2042369"/>
            <a:ext cx="1624729" cy="123151"/>
          </a:xfrm>
          <a:prstGeom prst="downArrow">
            <a:avLst>
              <a:gd name="adj1" fmla="val 50000"/>
              <a:gd name="adj2" fmla="val 5902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7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4" name="Arrow: Down 13">
            <a:extLst>
              <a:ext uri="{FF2B5EF4-FFF2-40B4-BE49-F238E27FC236}">
                <a16:creationId xmlns:a16="http://schemas.microsoft.com/office/drawing/2014/main" id="{CDCCA8A4-E543-DF56-641C-5942633A7639}"/>
              </a:ext>
            </a:extLst>
          </p:cNvPr>
          <p:cNvSpPr/>
          <p:nvPr/>
        </p:nvSpPr>
        <p:spPr>
          <a:xfrm>
            <a:off x="3034142" y="2525037"/>
            <a:ext cx="1624729" cy="141612"/>
          </a:xfrm>
          <a:prstGeom prst="downArrow">
            <a:avLst>
              <a:gd name="adj1" fmla="val 50000"/>
              <a:gd name="adj2" fmla="val 5902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7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FCE21128-9DCB-5767-24EE-8B394251BF7F}"/>
              </a:ext>
            </a:extLst>
          </p:cNvPr>
          <p:cNvSpPr/>
          <p:nvPr/>
        </p:nvSpPr>
        <p:spPr>
          <a:xfrm>
            <a:off x="2059980" y="3884673"/>
            <a:ext cx="3657016" cy="263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Rename x4</a:t>
            </a:r>
          </a:p>
        </p:txBody>
      </p:sp>
      <p:sp>
        <p:nvSpPr>
          <p:cNvPr id="16" name="Arrow: Down 15">
            <a:extLst>
              <a:ext uri="{FF2B5EF4-FFF2-40B4-BE49-F238E27FC236}">
                <a16:creationId xmlns:a16="http://schemas.microsoft.com/office/drawing/2014/main" id="{46B55538-7903-AFA4-ED4A-2CEADF9A7996}"/>
              </a:ext>
            </a:extLst>
          </p:cNvPr>
          <p:cNvSpPr/>
          <p:nvPr/>
        </p:nvSpPr>
        <p:spPr>
          <a:xfrm>
            <a:off x="3604191" y="3780136"/>
            <a:ext cx="484633" cy="86861"/>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601"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BDC172D2-0270-637F-DD2D-0B8481CD8239}"/>
              </a:ext>
            </a:extLst>
          </p:cNvPr>
          <p:cNvSpPr/>
          <p:nvPr/>
        </p:nvSpPr>
        <p:spPr>
          <a:xfrm>
            <a:off x="3979443" y="4285274"/>
            <a:ext cx="1624729" cy="632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8" name="Arrow: Down 17">
            <a:extLst>
              <a:ext uri="{FF2B5EF4-FFF2-40B4-BE49-F238E27FC236}">
                <a16:creationId xmlns:a16="http://schemas.microsoft.com/office/drawing/2014/main" id="{8C4CE9AB-0696-35C0-BEF2-153B4D52BB43}"/>
              </a:ext>
            </a:extLst>
          </p:cNvPr>
          <p:cNvSpPr/>
          <p:nvPr/>
        </p:nvSpPr>
        <p:spPr>
          <a:xfrm>
            <a:off x="2636226" y="4160650"/>
            <a:ext cx="484633" cy="75872"/>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601"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CB159CAA-F776-EAEB-091B-DE4F619AE5FF}"/>
              </a:ext>
            </a:extLst>
          </p:cNvPr>
          <p:cNvSpPr/>
          <p:nvPr/>
        </p:nvSpPr>
        <p:spPr>
          <a:xfrm>
            <a:off x="3976000" y="4317956"/>
            <a:ext cx="1591299" cy="5999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dirty="0">
                <a:ln>
                  <a:noFill/>
                </a:ln>
                <a:solidFill>
                  <a:prstClr val="black"/>
                </a:solidFill>
                <a:effectLst/>
                <a:uLnTx/>
                <a:uFillTx/>
                <a:latin typeface="Aptos" panose="02110004020202020204"/>
                <a:ea typeface="+mn-ea"/>
                <a:cs typeface="+mn-cs"/>
              </a:rPr>
              <a:t>Reorder Buffer 16 to 64 Entries</a:t>
            </a:r>
          </a:p>
        </p:txBody>
      </p:sp>
      <p:cxnSp>
        <p:nvCxnSpPr>
          <p:cNvPr id="20" name="Straight Connector 19">
            <a:extLst>
              <a:ext uri="{FF2B5EF4-FFF2-40B4-BE49-F238E27FC236}">
                <a16:creationId xmlns:a16="http://schemas.microsoft.com/office/drawing/2014/main" id="{46903646-CC68-2E7E-7068-F1DF3E5395A1}"/>
              </a:ext>
            </a:extLst>
          </p:cNvPr>
          <p:cNvCxnSpPr>
            <a:cxnSpLocks/>
          </p:cNvCxnSpPr>
          <p:nvPr/>
        </p:nvCxnSpPr>
        <p:spPr>
          <a:xfrm>
            <a:off x="3976000" y="4617910"/>
            <a:ext cx="159129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EC349DF4-28BB-4D1D-5523-F9B7A987F645}"/>
              </a:ext>
            </a:extLst>
          </p:cNvPr>
          <p:cNvCxnSpPr>
            <a:cxnSpLocks/>
          </p:cNvCxnSpPr>
          <p:nvPr/>
        </p:nvCxnSpPr>
        <p:spPr>
          <a:xfrm>
            <a:off x="3976000" y="4617910"/>
            <a:ext cx="15912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F31CC5B3-2695-6CF0-19BF-3DE31B1C8EA7}"/>
              </a:ext>
            </a:extLst>
          </p:cNvPr>
          <p:cNvCxnSpPr>
            <a:cxnSpLocks/>
          </p:cNvCxnSpPr>
          <p:nvPr/>
        </p:nvCxnSpPr>
        <p:spPr>
          <a:xfrm>
            <a:off x="4088824" y="4569818"/>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6873AD7-0B37-6112-DF7B-897BCA3D4215}"/>
              </a:ext>
            </a:extLst>
          </p:cNvPr>
          <p:cNvCxnSpPr>
            <a:cxnSpLocks/>
          </p:cNvCxnSpPr>
          <p:nvPr/>
        </p:nvCxnSpPr>
        <p:spPr>
          <a:xfrm>
            <a:off x="4088824" y="4679722"/>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69F6B7E-89AA-3E05-440A-E216036DCE6C}"/>
              </a:ext>
            </a:extLst>
          </p:cNvPr>
          <p:cNvCxnSpPr>
            <a:cxnSpLocks/>
          </p:cNvCxnSpPr>
          <p:nvPr/>
        </p:nvCxnSpPr>
        <p:spPr>
          <a:xfrm>
            <a:off x="4088824" y="4735335"/>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A37CAAD-C337-4854-D668-6C8651A2697B}"/>
              </a:ext>
            </a:extLst>
          </p:cNvPr>
          <p:cNvCxnSpPr>
            <a:cxnSpLocks/>
          </p:cNvCxnSpPr>
          <p:nvPr/>
        </p:nvCxnSpPr>
        <p:spPr>
          <a:xfrm>
            <a:off x="4088824" y="4789626"/>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7505234-053F-FEC1-8EAF-D22404B492A0}"/>
              </a:ext>
            </a:extLst>
          </p:cNvPr>
          <p:cNvCxnSpPr>
            <a:cxnSpLocks/>
          </p:cNvCxnSpPr>
          <p:nvPr/>
        </p:nvCxnSpPr>
        <p:spPr>
          <a:xfrm>
            <a:off x="4088824" y="4842380"/>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942B647B-7D94-61A3-5FFC-35EB25CEFEE1}"/>
              </a:ext>
            </a:extLst>
          </p:cNvPr>
          <p:cNvCxnSpPr>
            <a:cxnSpLocks/>
          </p:cNvCxnSpPr>
          <p:nvPr/>
        </p:nvCxnSpPr>
        <p:spPr>
          <a:xfrm>
            <a:off x="4088824" y="4894224"/>
            <a:ext cx="140492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C90AE24E-A418-AEF0-6865-43D7D7A6ACF8}"/>
              </a:ext>
            </a:extLst>
          </p:cNvPr>
          <p:cNvSpPr/>
          <p:nvPr/>
        </p:nvSpPr>
        <p:spPr>
          <a:xfrm>
            <a:off x="1903065" y="5717428"/>
            <a:ext cx="2790232" cy="3546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Scheduling</a:t>
            </a:r>
          </a:p>
        </p:txBody>
      </p:sp>
      <p:sp>
        <p:nvSpPr>
          <p:cNvPr id="29" name="Rectangle 28">
            <a:extLst>
              <a:ext uri="{FF2B5EF4-FFF2-40B4-BE49-F238E27FC236}">
                <a16:creationId xmlns:a16="http://schemas.microsoft.com/office/drawing/2014/main" id="{E6FA1C43-7C5F-44E8-834A-4D32D472C632}"/>
              </a:ext>
            </a:extLst>
          </p:cNvPr>
          <p:cNvSpPr/>
          <p:nvPr/>
        </p:nvSpPr>
        <p:spPr>
          <a:xfrm>
            <a:off x="1904860" y="5465259"/>
            <a:ext cx="564852" cy="1873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XPIPE 0</a:t>
            </a:r>
          </a:p>
        </p:txBody>
      </p:sp>
      <p:sp>
        <p:nvSpPr>
          <p:cNvPr id="37" name="Rectangle 36">
            <a:extLst>
              <a:ext uri="{FF2B5EF4-FFF2-40B4-BE49-F238E27FC236}">
                <a16:creationId xmlns:a16="http://schemas.microsoft.com/office/drawing/2014/main" id="{27469E07-2A30-1B00-C47E-D99F68E5765F}"/>
              </a:ext>
            </a:extLst>
          </p:cNvPr>
          <p:cNvSpPr/>
          <p:nvPr/>
        </p:nvSpPr>
        <p:spPr>
          <a:xfrm>
            <a:off x="6048160" y="3396671"/>
            <a:ext cx="1082956" cy="13386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prstClr val="black"/>
                </a:solidFill>
                <a:effectLst/>
                <a:uLnTx/>
                <a:uFillTx/>
                <a:latin typeface="Aptos" panose="02110004020202020204"/>
                <a:ea typeface="+mn-ea"/>
                <a:cs typeface="+mn-cs"/>
              </a:rPr>
              <a:t>GP File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prstClr val="black"/>
                </a:solidFill>
                <a:effectLst/>
                <a:uLnTx/>
                <a:uFillTx/>
                <a:latin typeface="Aptos" panose="02110004020202020204"/>
                <a:ea typeface="+mn-ea"/>
                <a:cs typeface="+mn-cs"/>
              </a:rPr>
              <a:t>Arch. Regs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prstClr val="black"/>
                </a:solidFill>
                <a:effectLst/>
                <a:uLnTx/>
                <a:uFillTx/>
                <a:latin typeface="Aptos" panose="02110004020202020204"/>
                <a:ea typeface="+mn-ea"/>
                <a:cs typeface="+mn-cs"/>
              </a:rPr>
              <a:t>128 x 64b</a:t>
            </a:r>
          </a:p>
        </p:txBody>
      </p:sp>
      <p:sp>
        <p:nvSpPr>
          <p:cNvPr id="38" name="Rectangle 37">
            <a:extLst>
              <a:ext uri="{FF2B5EF4-FFF2-40B4-BE49-F238E27FC236}">
                <a16:creationId xmlns:a16="http://schemas.microsoft.com/office/drawing/2014/main" id="{D811C57C-1556-92B4-7056-CDC1E5AAED46}"/>
              </a:ext>
            </a:extLst>
          </p:cNvPr>
          <p:cNvSpPr/>
          <p:nvPr/>
        </p:nvSpPr>
        <p:spPr>
          <a:xfrm>
            <a:off x="7247709" y="3396758"/>
            <a:ext cx="1885700" cy="13580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prstClr val="black"/>
                </a:solidFill>
                <a:effectLst/>
                <a:uLnTx/>
                <a:uFillTx/>
                <a:latin typeface="Aptos" panose="02110004020202020204"/>
                <a:ea typeface="+mn-ea"/>
                <a:cs typeface="+mn-cs"/>
              </a:rPr>
              <a:t>Physical Register File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prstClr val="black"/>
                </a:solidFill>
                <a:effectLst/>
                <a:uLnTx/>
                <a:uFillTx/>
                <a:latin typeface="Aptos" panose="02110004020202020204"/>
                <a:ea typeface="+mn-ea"/>
                <a:cs typeface="+mn-cs"/>
              </a:rPr>
              <a:t>512 x 64b</a:t>
            </a:r>
          </a:p>
          <a:p>
            <a:pPr marL="0" marR="0" lvl="0" indent="0" algn="ctr" defTabSz="457200" rtl="0" eaLnBrk="1" fontAlgn="auto" latinLnBrk="0" hangingPunct="1">
              <a:lnSpc>
                <a:spcPct val="100000"/>
              </a:lnSpc>
              <a:spcBef>
                <a:spcPts val="0"/>
              </a:spcBef>
              <a:spcAft>
                <a:spcPts val="0"/>
              </a:spcAft>
              <a:buClrTx/>
              <a:buSzTx/>
              <a:buFontTx/>
              <a:buNone/>
              <a:tabLst/>
              <a:defRPr/>
            </a:pPr>
            <a:r>
              <a:rPr lang="en-CA" sz="1100" dirty="0">
                <a:solidFill>
                  <a:prstClr val="black"/>
                </a:solidFill>
                <a:latin typeface="Aptos" panose="02110004020202020204"/>
              </a:rPr>
              <a:t>(12 read / 6 write)</a:t>
            </a:r>
            <a:endParaRPr kumimoji="0" lang="en-CA" sz="11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8" name="Rectangle 47">
            <a:extLst>
              <a:ext uri="{FF2B5EF4-FFF2-40B4-BE49-F238E27FC236}">
                <a16:creationId xmlns:a16="http://schemas.microsoft.com/office/drawing/2014/main" id="{CA108C11-7A20-9F3F-3930-B55573EE9934}"/>
              </a:ext>
            </a:extLst>
          </p:cNvPr>
          <p:cNvSpPr/>
          <p:nvPr/>
        </p:nvSpPr>
        <p:spPr>
          <a:xfrm>
            <a:off x="5923198" y="5731106"/>
            <a:ext cx="1200398" cy="5321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Load / Store Queue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8 Entries</a:t>
            </a:r>
          </a:p>
        </p:txBody>
      </p:sp>
      <p:sp>
        <p:nvSpPr>
          <p:cNvPr id="51" name="Rectangle 50">
            <a:extLst>
              <a:ext uri="{FF2B5EF4-FFF2-40B4-BE49-F238E27FC236}">
                <a16:creationId xmlns:a16="http://schemas.microsoft.com/office/drawing/2014/main" id="{23AD8690-1F38-2A29-A5AC-314ED3DEACCC}"/>
              </a:ext>
            </a:extLst>
          </p:cNvPr>
          <p:cNvSpPr/>
          <p:nvPr/>
        </p:nvSpPr>
        <p:spPr>
          <a:xfrm>
            <a:off x="2827306" y="7360789"/>
            <a:ext cx="5402294" cy="5727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L1 Data Cache</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64kB – 4 way</a:t>
            </a:r>
          </a:p>
        </p:txBody>
      </p:sp>
      <p:sp>
        <p:nvSpPr>
          <p:cNvPr id="52" name="Rectangle 51">
            <a:extLst>
              <a:ext uri="{FF2B5EF4-FFF2-40B4-BE49-F238E27FC236}">
                <a16:creationId xmlns:a16="http://schemas.microsoft.com/office/drawing/2014/main" id="{2B5A6BE6-A7DF-9404-46AE-29911C79D51C}"/>
              </a:ext>
            </a:extLst>
          </p:cNvPr>
          <p:cNvSpPr/>
          <p:nvPr/>
        </p:nvSpPr>
        <p:spPr>
          <a:xfrm>
            <a:off x="1026411" y="2308465"/>
            <a:ext cx="853585" cy="59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BTB 512 Entries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Instruction Pointers</a:t>
            </a:r>
          </a:p>
        </p:txBody>
      </p:sp>
      <p:sp>
        <p:nvSpPr>
          <p:cNvPr id="53" name="Rectangle 52">
            <a:extLst>
              <a:ext uri="{FF2B5EF4-FFF2-40B4-BE49-F238E27FC236}">
                <a16:creationId xmlns:a16="http://schemas.microsoft.com/office/drawing/2014/main" id="{96A0031E-BA0C-3918-0C90-45B668CA86FA}"/>
              </a:ext>
            </a:extLst>
          </p:cNvPr>
          <p:cNvSpPr/>
          <p:nvPr/>
        </p:nvSpPr>
        <p:spPr>
          <a:xfrm>
            <a:off x="1026410" y="3184434"/>
            <a:ext cx="853585" cy="2635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err="1">
                <a:ln>
                  <a:noFill/>
                </a:ln>
                <a:solidFill>
                  <a:prstClr val="black"/>
                </a:solidFill>
                <a:effectLst/>
                <a:uLnTx/>
                <a:uFillTx/>
                <a:latin typeface="Aptos" panose="02110004020202020204"/>
                <a:ea typeface="+mn-ea"/>
                <a:cs typeface="+mn-cs"/>
              </a:rPr>
              <a:t>gselect</a:t>
            </a:r>
            <a:endPar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predictor</a:t>
            </a:r>
          </a:p>
        </p:txBody>
      </p:sp>
      <p:sp>
        <p:nvSpPr>
          <p:cNvPr id="54" name="Arrow: Bent 53">
            <a:extLst>
              <a:ext uri="{FF2B5EF4-FFF2-40B4-BE49-F238E27FC236}">
                <a16:creationId xmlns:a16="http://schemas.microsoft.com/office/drawing/2014/main" id="{DC4A4C24-EB28-5C5B-5CCC-FE27838AE558}"/>
              </a:ext>
            </a:extLst>
          </p:cNvPr>
          <p:cNvSpPr/>
          <p:nvPr/>
        </p:nvSpPr>
        <p:spPr>
          <a:xfrm rot="16200000">
            <a:off x="1594849" y="3250915"/>
            <a:ext cx="260504" cy="662873"/>
          </a:xfrm>
          <a:prstGeom prst="bentArrow">
            <a:avLst>
              <a:gd name="adj1" fmla="val 25000"/>
              <a:gd name="adj2" fmla="val 19027"/>
              <a:gd name="adj3" fmla="val 25000"/>
              <a:gd name="adj4" fmla="val 4375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1"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7" name="Rectangle 56">
            <a:extLst>
              <a:ext uri="{FF2B5EF4-FFF2-40B4-BE49-F238E27FC236}">
                <a16:creationId xmlns:a16="http://schemas.microsoft.com/office/drawing/2014/main" id="{68FD6D40-399D-085E-289F-44101678569D}"/>
              </a:ext>
            </a:extLst>
          </p:cNvPr>
          <p:cNvSpPr/>
          <p:nvPr/>
        </p:nvSpPr>
        <p:spPr>
          <a:xfrm>
            <a:off x="5887506" y="1553684"/>
            <a:ext cx="1521864" cy="4766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TLB L1: 8 Entry – 8 way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TLB L2: 1024 Entry – 3 way</a:t>
            </a:r>
          </a:p>
        </p:txBody>
      </p:sp>
      <p:sp>
        <p:nvSpPr>
          <p:cNvPr id="58" name="Arrow: Right 57">
            <a:extLst>
              <a:ext uri="{FF2B5EF4-FFF2-40B4-BE49-F238E27FC236}">
                <a16:creationId xmlns:a16="http://schemas.microsoft.com/office/drawing/2014/main" id="{3A9B9827-21B0-A8E3-8800-AAA20767F84B}"/>
              </a:ext>
            </a:extLst>
          </p:cNvPr>
          <p:cNvSpPr/>
          <p:nvPr/>
        </p:nvSpPr>
        <p:spPr>
          <a:xfrm rot="10800000">
            <a:off x="5717730" y="1535884"/>
            <a:ext cx="169776" cy="4846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9" name="Arrow: Right 58">
            <a:extLst>
              <a:ext uri="{FF2B5EF4-FFF2-40B4-BE49-F238E27FC236}">
                <a16:creationId xmlns:a16="http://schemas.microsoft.com/office/drawing/2014/main" id="{B0AD8FCF-BBB2-4BF4-651E-7493DC9899DC}"/>
              </a:ext>
            </a:extLst>
          </p:cNvPr>
          <p:cNvSpPr/>
          <p:nvPr/>
        </p:nvSpPr>
        <p:spPr>
          <a:xfrm>
            <a:off x="2635944" y="7417637"/>
            <a:ext cx="169776" cy="4846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0" name="Arrow: Down 59">
            <a:extLst>
              <a:ext uri="{FF2B5EF4-FFF2-40B4-BE49-F238E27FC236}">
                <a16:creationId xmlns:a16="http://schemas.microsoft.com/office/drawing/2014/main" id="{7A1A3E8A-4384-7CAF-FB99-BBD9E2ED6CD2}"/>
              </a:ext>
            </a:extLst>
          </p:cNvPr>
          <p:cNvSpPr/>
          <p:nvPr/>
        </p:nvSpPr>
        <p:spPr>
          <a:xfrm rot="10800000">
            <a:off x="1415415" y="2042369"/>
            <a:ext cx="119064" cy="25922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1" name="Arrow: Down 60">
            <a:extLst>
              <a:ext uri="{FF2B5EF4-FFF2-40B4-BE49-F238E27FC236}">
                <a16:creationId xmlns:a16="http://schemas.microsoft.com/office/drawing/2014/main" id="{05BB0A13-9906-FD3F-DD8F-7F4E703A7990}"/>
              </a:ext>
            </a:extLst>
          </p:cNvPr>
          <p:cNvSpPr/>
          <p:nvPr/>
        </p:nvSpPr>
        <p:spPr>
          <a:xfrm rot="10800000">
            <a:off x="1393664" y="2939632"/>
            <a:ext cx="140816" cy="24480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2" name="Arrow: Down 61">
            <a:extLst>
              <a:ext uri="{FF2B5EF4-FFF2-40B4-BE49-F238E27FC236}">
                <a16:creationId xmlns:a16="http://schemas.microsoft.com/office/drawing/2014/main" id="{871C87A5-E060-4A98-137C-DDF086EBD513}"/>
              </a:ext>
            </a:extLst>
          </p:cNvPr>
          <p:cNvSpPr/>
          <p:nvPr/>
        </p:nvSpPr>
        <p:spPr>
          <a:xfrm>
            <a:off x="2827306" y="1146311"/>
            <a:ext cx="1175973" cy="348672"/>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prstClr val="black"/>
                </a:solidFill>
                <a:effectLst/>
                <a:uLnTx/>
                <a:uFillTx/>
                <a:latin typeface="Aptos" panose="02110004020202020204"/>
                <a:ea typeface="+mn-ea"/>
                <a:cs typeface="+mn-cs"/>
              </a:rPr>
              <a:t>32B</a:t>
            </a:r>
          </a:p>
        </p:txBody>
      </p:sp>
      <p:sp>
        <p:nvSpPr>
          <p:cNvPr id="63" name="Rectangle 62">
            <a:extLst>
              <a:ext uri="{FF2B5EF4-FFF2-40B4-BE49-F238E27FC236}">
                <a16:creationId xmlns:a16="http://schemas.microsoft.com/office/drawing/2014/main" id="{934ADC77-F9E5-E279-40E2-160A31F1D80D}"/>
              </a:ext>
            </a:extLst>
          </p:cNvPr>
          <p:cNvSpPr/>
          <p:nvPr/>
        </p:nvSpPr>
        <p:spPr>
          <a:xfrm>
            <a:off x="1026405" y="895347"/>
            <a:ext cx="4684328" cy="2509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prstClr val="black"/>
                </a:solidFill>
                <a:effectLst/>
                <a:uLnTx/>
                <a:uFillTx/>
                <a:latin typeface="Aptos" panose="02110004020202020204"/>
                <a:ea typeface="+mn-ea"/>
                <a:cs typeface="+mn-cs"/>
              </a:rPr>
              <a:t>System Bus</a:t>
            </a:r>
          </a:p>
        </p:txBody>
      </p:sp>
      <p:sp>
        <p:nvSpPr>
          <p:cNvPr id="64" name="Rectangle 63">
            <a:extLst>
              <a:ext uri="{FF2B5EF4-FFF2-40B4-BE49-F238E27FC236}">
                <a16:creationId xmlns:a16="http://schemas.microsoft.com/office/drawing/2014/main" id="{C119B157-70F4-F944-1AB9-095B141FFB8F}"/>
              </a:ext>
            </a:extLst>
          </p:cNvPr>
          <p:cNvSpPr/>
          <p:nvPr/>
        </p:nvSpPr>
        <p:spPr>
          <a:xfrm>
            <a:off x="1047495" y="8288113"/>
            <a:ext cx="7182105" cy="2509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prstClr val="black"/>
                </a:solidFill>
                <a:effectLst/>
                <a:uLnTx/>
                <a:uFillTx/>
                <a:latin typeface="Aptos" panose="02110004020202020204"/>
                <a:ea typeface="+mn-ea"/>
                <a:cs typeface="+mn-cs"/>
              </a:rPr>
              <a:t>System Bus</a:t>
            </a:r>
          </a:p>
        </p:txBody>
      </p:sp>
      <p:cxnSp>
        <p:nvCxnSpPr>
          <p:cNvPr id="65" name="Straight Arrow Connector 64">
            <a:extLst>
              <a:ext uri="{FF2B5EF4-FFF2-40B4-BE49-F238E27FC236}">
                <a16:creationId xmlns:a16="http://schemas.microsoft.com/office/drawing/2014/main" id="{552BE5F5-53A9-3FEE-9FAA-9553969D6A75}"/>
              </a:ext>
            </a:extLst>
          </p:cNvPr>
          <p:cNvCxnSpPr>
            <a:cxnSpLocks/>
          </p:cNvCxnSpPr>
          <p:nvPr/>
        </p:nvCxnSpPr>
        <p:spPr>
          <a:xfrm>
            <a:off x="4059911" y="7944751"/>
            <a:ext cx="0" cy="316838"/>
          </a:xfrm>
          <a:prstGeom prst="straightConnector1">
            <a:avLst/>
          </a:prstGeom>
          <a:ln w="5080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2682230A-1244-0566-4E3B-4A63C2302892}"/>
              </a:ext>
            </a:extLst>
          </p:cNvPr>
          <p:cNvSpPr txBox="1"/>
          <p:nvPr/>
        </p:nvSpPr>
        <p:spPr>
          <a:xfrm>
            <a:off x="4081462" y="7984590"/>
            <a:ext cx="441146"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dirty="0">
                <a:ln>
                  <a:noFill/>
                </a:ln>
                <a:solidFill>
                  <a:prstClr val="black"/>
                </a:solidFill>
                <a:effectLst/>
                <a:uLnTx/>
                <a:uFillTx/>
                <a:latin typeface="Aptos" panose="02110004020202020204"/>
                <a:ea typeface="+mn-ea"/>
                <a:cs typeface="+mn-cs"/>
              </a:rPr>
              <a:t>32B</a:t>
            </a:r>
          </a:p>
        </p:txBody>
      </p:sp>
      <p:sp>
        <p:nvSpPr>
          <p:cNvPr id="68" name="Arrow: Down 67">
            <a:extLst>
              <a:ext uri="{FF2B5EF4-FFF2-40B4-BE49-F238E27FC236}">
                <a16:creationId xmlns:a16="http://schemas.microsoft.com/office/drawing/2014/main" id="{7A107DDE-CD4D-2F90-5350-34CA119C2D32}"/>
              </a:ext>
            </a:extLst>
          </p:cNvPr>
          <p:cNvSpPr/>
          <p:nvPr/>
        </p:nvSpPr>
        <p:spPr>
          <a:xfrm>
            <a:off x="3593514" y="3444629"/>
            <a:ext cx="484633" cy="57221"/>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601"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3" name="Rectangle 72">
            <a:extLst>
              <a:ext uri="{FF2B5EF4-FFF2-40B4-BE49-F238E27FC236}">
                <a16:creationId xmlns:a16="http://schemas.microsoft.com/office/drawing/2014/main" id="{454BBABF-D3ED-3371-D9F1-77C2E2B91DC0}"/>
              </a:ext>
            </a:extLst>
          </p:cNvPr>
          <p:cNvSpPr/>
          <p:nvPr/>
        </p:nvSpPr>
        <p:spPr>
          <a:xfrm>
            <a:off x="1103287" y="7418593"/>
            <a:ext cx="1521864" cy="4766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TLB L1: 8 Entry – 8 way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TLB L2: 1024 Entry – 3 way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(Same TLB as above)</a:t>
            </a:r>
          </a:p>
        </p:txBody>
      </p:sp>
      <p:sp>
        <p:nvSpPr>
          <p:cNvPr id="108" name="Rectangle 107">
            <a:extLst>
              <a:ext uri="{FF2B5EF4-FFF2-40B4-BE49-F238E27FC236}">
                <a16:creationId xmlns:a16="http://schemas.microsoft.com/office/drawing/2014/main" id="{7EDC3D13-03BE-9332-08E6-FC61C533F84D}"/>
              </a:ext>
            </a:extLst>
          </p:cNvPr>
          <p:cNvSpPr/>
          <p:nvPr/>
        </p:nvSpPr>
        <p:spPr>
          <a:xfrm>
            <a:off x="2043987" y="4260000"/>
            <a:ext cx="1624729" cy="6578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Dispatch x6</a:t>
            </a:r>
          </a:p>
        </p:txBody>
      </p:sp>
      <p:sp>
        <p:nvSpPr>
          <p:cNvPr id="109" name="Arrow: Down 108">
            <a:extLst>
              <a:ext uri="{FF2B5EF4-FFF2-40B4-BE49-F238E27FC236}">
                <a16:creationId xmlns:a16="http://schemas.microsoft.com/office/drawing/2014/main" id="{529EC356-7F02-863B-958D-E4C9106BEB0D}"/>
              </a:ext>
            </a:extLst>
          </p:cNvPr>
          <p:cNvSpPr/>
          <p:nvPr/>
        </p:nvSpPr>
        <p:spPr>
          <a:xfrm>
            <a:off x="4598923" y="4164620"/>
            <a:ext cx="484633" cy="9772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601"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0" name="Arrow: Down 109">
            <a:extLst>
              <a:ext uri="{FF2B5EF4-FFF2-40B4-BE49-F238E27FC236}">
                <a16:creationId xmlns:a16="http://schemas.microsoft.com/office/drawing/2014/main" id="{F951373A-6C3F-1D78-92E9-148CB4A67546}"/>
              </a:ext>
            </a:extLst>
          </p:cNvPr>
          <p:cNvSpPr/>
          <p:nvPr/>
        </p:nvSpPr>
        <p:spPr>
          <a:xfrm>
            <a:off x="2625151" y="4926387"/>
            <a:ext cx="484633" cy="17494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601"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1" name="TextBox 110">
            <a:extLst>
              <a:ext uri="{FF2B5EF4-FFF2-40B4-BE49-F238E27FC236}">
                <a16:creationId xmlns:a16="http://schemas.microsoft.com/office/drawing/2014/main" id="{AF2634B9-ECA8-D24D-FA7D-4046FBE10D85}"/>
              </a:ext>
            </a:extLst>
          </p:cNvPr>
          <p:cNvSpPr txBox="1"/>
          <p:nvPr/>
        </p:nvSpPr>
        <p:spPr>
          <a:xfrm>
            <a:off x="1009847" y="5097974"/>
            <a:ext cx="1664943"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Execution Pipelines x6</a:t>
            </a:r>
            <a:endParaRPr kumimoji="0" lang="en-CA"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6" name="Arrow: Down 55">
            <a:extLst>
              <a:ext uri="{FF2B5EF4-FFF2-40B4-BE49-F238E27FC236}">
                <a16:creationId xmlns:a16="http://schemas.microsoft.com/office/drawing/2014/main" id="{66BD3E29-5F3A-F78A-1820-F28419BF088B}"/>
              </a:ext>
            </a:extLst>
          </p:cNvPr>
          <p:cNvSpPr/>
          <p:nvPr/>
        </p:nvSpPr>
        <p:spPr>
          <a:xfrm>
            <a:off x="6281080" y="6261858"/>
            <a:ext cx="484633" cy="1069527"/>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601"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5" name="TextBox 114">
            <a:extLst>
              <a:ext uri="{FF2B5EF4-FFF2-40B4-BE49-F238E27FC236}">
                <a16:creationId xmlns:a16="http://schemas.microsoft.com/office/drawing/2014/main" id="{15C98AB9-4C2E-32A1-27AE-235C9624077F}"/>
              </a:ext>
            </a:extLst>
          </p:cNvPr>
          <p:cNvSpPr txBox="1"/>
          <p:nvPr/>
        </p:nvSpPr>
        <p:spPr>
          <a:xfrm>
            <a:off x="3715769" y="6716965"/>
            <a:ext cx="2026362"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6x Results to Register File</a:t>
            </a:r>
            <a:endParaRPr kumimoji="0" lang="en-CA"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7" name="Arrow: Down 116">
            <a:extLst>
              <a:ext uri="{FF2B5EF4-FFF2-40B4-BE49-F238E27FC236}">
                <a16:creationId xmlns:a16="http://schemas.microsoft.com/office/drawing/2014/main" id="{B43E5A34-9BD0-B748-67E8-8C0A924F461F}"/>
              </a:ext>
            </a:extLst>
          </p:cNvPr>
          <p:cNvSpPr/>
          <p:nvPr/>
        </p:nvSpPr>
        <p:spPr>
          <a:xfrm>
            <a:off x="4529332" y="6399617"/>
            <a:ext cx="484633" cy="249922"/>
          </a:xfrm>
          <a:prstGeom prst="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601"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19" name="Arrow: Up-Down 118">
            <a:extLst>
              <a:ext uri="{FF2B5EF4-FFF2-40B4-BE49-F238E27FC236}">
                <a16:creationId xmlns:a16="http://schemas.microsoft.com/office/drawing/2014/main" id="{6FFC6CAC-9720-F890-A0F0-2615619EC345}"/>
              </a:ext>
            </a:extLst>
          </p:cNvPr>
          <p:cNvSpPr/>
          <p:nvPr/>
        </p:nvSpPr>
        <p:spPr>
          <a:xfrm>
            <a:off x="8093721" y="4770832"/>
            <a:ext cx="193675" cy="335890"/>
          </a:xfrm>
          <a:prstGeom prst="up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EDE29F26-7526-D491-545D-A40FC48D2CA8}"/>
              </a:ext>
            </a:extLst>
          </p:cNvPr>
          <p:cNvSpPr/>
          <p:nvPr/>
        </p:nvSpPr>
        <p:spPr>
          <a:xfrm>
            <a:off x="2528362" y="5455893"/>
            <a:ext cx="564852" cy="1918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XPIPE 1</a:t>
            </a:r>
          </a:p>
        </p:txBody>
      </p:sp>
      <p:sp>
        <p:nvSpPr>
          <p:cNvPr id="41" name="Rectangle 40">
            <a:extLst>
              <a:ext uri="{FF2B5EF4-FFF2-40B4-BE49-F238E27FC236}">
                <a16:creationId xmlns:a16="http://schemas.microsoft.com/office/drawing/2014/main" id="{7D58F424-C989-76BF-A4A8-A4230A31004E}"/>
              </a:ext>
            </a:extLst>
          </p:cNvPr>
          <p:cNvSpPr/>
          <p:nvPr/>
        </p:nvSpPr>
        <p:spPr>
          <a:xfrm>
            <a:off x="3150917" y="5465259"/>
            <a:ext cx="564852" cy="1825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XPIPE 2</a:t>
            </a:r>
          </a:p>
        </p:txBody>
      </p:sp>
      <p:sp>
        <p:nvSpPr>
          <p:cNvPr id="43" name="Rectangle 42">
            <a:extLst>
              <a:ext uri="{FF2B5EF4-FFF2-40B4-BE49-F238E27FC236}">
                <a16:creationId xmlns:a16="http://schemas.microsoft.com/office/drawing/2014/main" id="{D9CB0B13-AEAB-669D-58C7-DB4CF4AD5687}"/>
              </a:ext>
            </a:extLst>
          </p:cNvPr>
          <p:cNvSpPr/>
          <p:nvPr/>
        </p:nvSpPr>
        <p:spPr>
          <a:xfrm>
            <a:off x="3773472" y="5465259"/>
            <a:ext cx="564852" cy="178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XPIPE 3</a:t>
            </a:r>
          </a:p>
        </p:txBody>
      </p:sp>
      <p:sp>
        <p:nvSpPr>
          <p:cNvPr id="45" name="Rectangle 44">
            <a:extLst>
              <a:ext uri="{FF2B5EF4-FFF2-40B4-BE49-F238E27FC236}">
                <a16:creationId xmlns:a16="http://schemas.microsoft.com/office/drawing/2014/main" id="{4A2EBF1E-3636-D39C-A528-E362B2A131C0}"/>
              </a:ext>
            </a:extLst>
          </p:cNvPr>
          <p:cNvSpPr/>
          <p:nvPr/>
        </p:nvSpPr>
        <p:spPr>
          <a:xfrm>
            <a:off x="4393929" y="5464198"/>
            <a:ext cx="564852" cy="1782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XPIPE 4</a:t>
            </a:r>
          </a:p>
        </p:txBody>
      </p:sp>
      <p:sp>
        <p:nvSpPr>
          <p:cNvPr id="47" name="Rectangle 46">
            <a:extLst>
              <a:ext uri="{FF2B5EF4-FFF2-40B4-BE49-F238E27FC236}">
                <a16:creationId xmlns:a16="http://schemas.microsoft.com/office/drawing/2014/main" id="{7D319E9D-D1BA-FABC-C06D-B4B2AA9F647C}"/>
              </a:ext>
            </a:extLst>
          </p:cNvPr>
          <p:cNvSpPr/>
          <p:nvPr/>
        </p:nvSpPr>
        <p:spPr>
          <a:xfrm>
            <a:off x="5006453" y="5455893"/>
            <a:ext cx="564852" cy="1865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dirty="0">
                <a:ln>
                  <a:noFill/>
                </a:ln>
                <a:solidFill>
                  <a:prstClr val="black"/>
                </a:solidFill>
                <a:effectLst/>
                <a:uLnTx/>
                <a:uFillTx/>
                <a:latin typeface="Aptos" panose="02110004020202020204"/>
                <a:ea typeface="+mn-ea"/>
                <a:cs typeface="+mn-cs"/>
              </a:rPr>
              <a:t>XPIPE 5</a:t>
            </a:r>
          </a:p>
        </p:txBody>
      </p:sp>
    </p:spTree>
    <p:extLst>
      <p:ext uri="{BB962C8B-B14F-4D97-AF65-F5344CB8AC3E}">
        <p14:creationId xmlns:p14="http://schemas.microsoft.com/office/powerpoint/2010/main" val="2172903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2DFEC-1832-076C-B8A0-996885E53EAD}"/>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B80D61A2-1B2F-214B-96AA-0A44FAA4009F}"/>
              </a:ext>
            </a:extLst>
          </p:cNvPr>
          <p:cNvSpPr/>
          <p:nvPr/>
        </p:nvSpPr>
        <p:spPr>
          <a:xfrm>
            <a:off x="1161210" y="5120706"/>
            <a:ext cx="4683221" cy="3996866"/>
          </a:xfrm>
          <a:prstGeom prst="rect">
            <a:avLst/>
          </a:prstGeom>
          <a:solidFill>
            <a:schemeClr val="accent1">
              <a:alpha val="3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10" name="Rectangle 109">
            <a:extLst>
              <a:ext uri="{FF2B5EF4-FFF2-40B4-BE49-F238E27FC236}">
                <a16:creationId xmlns:a16="http://schemas.microsoft.com/office/drawing/2014/main" id="{68991CCC-D4AB-5D0D-4189-031997210A0C}"/>
              </a:ext>
            </a:extLst>
          </p:cNvPr>
          <p:cNvSpPr/>
          <p:nvPr/>
        </p:nvSpPr>
        <p:spPr>
          <a:xfrm>
            <a:off x="1448131" y="7768891"/>
            <a:ext cx="515549" cy="214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Bitfield </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81" name="Rectangle 80">
            <a:extLst>
              <a:ext uri="{FF2B5EF4-FFF2-40B4-BE49-F238E27FC236}">
                <a16:creationId xmlns:a16="http://schemas.microsoft.com/office/drawing/2014/main" id="{76B3EAC3-07C9-3A38-3291-46474DFF4FF1}"/>
              </a:ext>
            </a:extLst>
          </p:cNvPr>
          <p:cNvSpPr/>
          <p:nvPr/>
        </p:nvSpPr>
        <p:spPr>
          <a:xfrm>
            <a:off x="2666821" y="6225252"/>
            <a:ext cx="72000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ALU</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DC8A2D0-F430-85EE-9D97-B8B759E16596}"/>
              </a:ext>
            </a:extLst>
          </p:cNvPr>
          <p:cNvSpPr>
            <a:spLocks noGrp="1"/>
          </p:cNvSpPr>
          <p:nvPr>
            <p:ph type="ctrTitle"/>
          </p:nvPr>
        </p:nvSpPr>
        <p:spPr>
          <a:xfrm>
            <a:off x="220859" y="2264212"/>
            <a:ext cx="9144000" cy="529741"/>
          </a:xfrm>
        </p:spPr>
        <p:txBody>
          <a:bodyPr anchor="t">
            <a:noAutofit/>
          </a:bodyPr>
          <a:lstStyle/>
          <a:p>
            <a:pPr algn="l"/>
            <a:r>
              <a:rPr lang="en-US" sz="6000" dirty="0"/>
              <a:t>Qupls4: Execute Stage</a:t>
            </a:r>
            <a:endParaRPr lang="en-CA" sz="6000" dirty="0"/>
          </a:p>
        </p:txBody>
      </p:sp>
      <p:sp>
        <p:nvSpPr>
          <p:cNvPr id="4" name="Rectangle 3">
            <a:extLst>
              <a:ext uri="{FF2B5EF4-FFF2-40B4-BE49-F238E27FC236}">
                <a16:creationId xmlns:a16="http://schemas.microsoft.com/office/drawing/2014/main" id="{F47E2DD6-2B0B-C66E-312C-585AD6FD2A54}"/>
              </a:ext>
            </a:extLst>
          </p:cNvPr>
          <p:cNvSpPr/>
          <p:nvPr/>
        </p:nvSpPr>
        <p:spPr>
          <a:xfrm>
            <a:off x="1450793" y="6215533"/>
            <a:ext cx="50050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ALU</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8093C771-1051-896A-F7D2-15804EDD6C55}"/>
              </a:ext>
            </a:extLst>
          </p:cNvPr>
          <p:cNvSpPr/>
          <p:nvPr/>
        </p:nvSpPr>
        <p:spPr>
          <a:xfrm>
            <a:off x="2666821" y="6486420"/>
            <a:ext cx="714472"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IMUL</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CD60ADB1-08F7-18C9-F456-455C5FEF28DD}"/>
              </a:ext>
            </a:extLst>
          </p:cNvPr>
          <p:cNvSpPr/>
          <p:nvPr/>
        </p:nvSpPr>
        <p:spPr>
          <a:xfrm>
            <a:off x="4222360" y="6490349"/>
            <a:ext cx="700811"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IDIV</a:t>
            </a:r>
          </a:p>
        </p:txBody>
      </p:sp>
      <p:sp>
        <p:nvSpPr>
          <p:cNvPr id="8" name="Rectangle 7">
            <a:extLst>
              <a:ext uri="{FF2B5EF4-FFF2-40B4-BE49-F238E27FC236}">
                <a16:creationId xmlns:a16="http://schemas.microsoft.com/office/drawing/2014/main" id="{F26EE982-AC31-807F-D932-EB05D4E275F7}"/>
              </a:ext>
            </a:extLst>
          </p:cNvPr>
          <p:cNvSpPr/>
          <p:nvPr/>
        </p:nvSpPr>
        <p:spPr>
          <a:xfrm>
            <a:off x="3451637" y="6753080"/>
            <a:ext cx="699521"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FMA</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1CF136D8-4D0D-2EC3-B0E1-FCF14BE63798}"/>
              </a:ext>
            </a:extLst>
          </p:cNvPr>
          <p:cNvSpPr/>
          <p:nvPr/>
        </p:nvSpPr>
        <p:spPr>
          <a:xfrm>
            <a:off x="4983212" y="7823552"/>
            <a:ext cx="68765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TRIG</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74BFDC52-D77E-F551-B5D1-153BFAEADDB7}"/>
              </a:ext>
            </a:extLst>
          </p:cNvPr>
          <p:cNvSpPr/>
          <p:nvPr/>
        </p:nvSpPr>
        <p:spPr>
          <a:xfrm>
            <a:off x="1457683" y="7001331"/>
            <a:ext cx="50050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CSRs</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0764E86-8500-6EFA-8F73-93A88D0385CF}"/>
              </a:ext>
            </a:extLst>
          </p:cNvPr>
          <p:cNvSpPr/>
          <p:nvPr/>
        </p:nvSpPr>
        <p:spPr>
          <a:xfrm>
            <a:off x="1450052" y="7258753"/>
            <a:ext cx="51554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Counts</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653B0638-C2FF-CFB3-34AE-59DFB4FF7737}"/>
              </a:ext>
            </a:extLst>
          </p:cNvPr>
          <p:cNvSpPr/>
          <p:nvPr/>
        </p:nvSpPr>
        <p:spPr>
          <a:xfrm>
            <a:off x="1449312" y="7507780"/>
            <a:ext cx="515549" cy="214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Shift </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A7114B00-76A1-EA1E-2075-900961A32456}"/>
              </a:ext>
            </a:extLst>
          </p:cNvPr>
          <p:cNvSpPr/>
          <p:nvPr/>
        </p:nvSpPr>
        <p:spPr>
          <a:xfrm>
            <a:off x="4976398" y="6756774"/>
            <a:ext cx="681924"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ISQRT</a:t>
            </a:r>
          </a:p>
        </p:txBody>
      </p:sp>
      <p:sp>
        <p:nvSpPr>
          <p:cNvPr id="14" name="Rectangle 13">
            <a:extLst>
              <a:ext uri="{FF2B5EF4-FFF2-40B4-BE49-F238E27FC236}">
                <a16:creationId xmlns:a16="http://schemas.microsoft.com/office/drawing/2014/main" id="{94250E16-B522-4E5D-137F-732E52FDE33A}"/>
              </a:ext>
            </a:extLst>
          </p:cNvPr>
          <p:cNvSpPr/>
          <p:nvPr/>
        </p:nvSpPr>
        <p:spPr>
          <a:xfrm>
            <a:off x="4209081" y="7550931"/>
            <a:ext cx="706578"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FMA </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CCB2735E-1FC9-021A-39B6-63CED9703673}"/>
              </a:ext>
            </a:extLst>
          </p:cNvPr>
          <p:cNvSpPr/>
          <p:nvPr/>
        </p:nvSpPr>
        <p:spPr>
          <a:xfrm>
            <a:off x="4225821" y="7013029"/>
            <a:ext cx="69735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AGEN</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FA203621-49B4-B692-D451-E9B8548F79D8}"/>
              </a:ext>
            </a:extLst>
          </p:cNvPr>
          <p:cNvSpPr/>
          <p:nvPr/>
        </p:nvSpPr>
        <p:spPr>
          <a:xfrm>
            <a:off x="4204305" y="7282243"/>
            <a:ext cx="71886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MEM </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A27F280E-0FCD-6351-A479-582FB11857CE}"/>
              </a:ext>
            </a:extLst>
          </p:cNvPr>
          <p:cNvSpPr/>
          <p:nvPr/>
        </p:nvSpPr>
        <p:spPr>
          <a:xfrm>
            <a:off x="1222970" y="4794779"/>
            <a:ext cx="4564068" cy="219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4" name="Arrow: Up-Down 33">
            <a:extLst>
              <a:ext uri="{FF2B5EF4-FFF2-40B4-BE49-F238E27FC236}">
                <a16:creationId xmlns:a16="http://schemas.microsoft.com/office/drawing/2014/main" id="{6786C987-023E-8B36-0A2D-850C9C33D17F}"/>
              </a:ext>
            </a:extLst>
          </p:cNvPr>
          <p:cNvSpPr/>
          <p:nvPr/>
        </p:nvSpPr>
        <p:spPr>
          <a:xfrm>
            <a:off x="1537212" y="5026915"/>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Aptos" panose="02110004020202020204"/>
                <a:ea typeface="+mn-ea"/>
                <a:cs typeface="+mn-cs"/>
              </a:rPr>
              <a:t>4</a:t>
            </a:r>
            <a:endParaRPr kumimoji="0" lang="en-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5" name="Arrow: Up-Down 34">
            <a:extLst>
              <a:ext uri="{FF2B5EF4-FFF2-40B4-BE49-F238E27FC236}">
                <a16:creationId xmlns:a16="http://schemas.microsoft.com/office/drawing/2014/main" id="{65C4549E-7B68-F20B-43AB-A69EC3CB4117}"/>
              </a:ext>
            </a:extLst>
          </p:cNvPr>
          <p:cNvSpPr/>
          <p:nvPr/>
        </p:nvSpPr>
        <p:spPr>
          <a:xfrm>
            <a:off x="2129868" y="5017196"/>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Aptos" panose="02110004020202020204"/>
                <a:ea typeface="+mn-ea"/>
                <a:cs typeface="+mn-cs"/>
              </a:rPr>
              <a:t>3</a:t>
            </a:r>
            <a:endParaRPr kumimoji="0" lang="en-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6" name="Arrow: Up-Down 45">
            <a:extLst>
              <a:ext uri="{FF2B5EF4-FFF2-40B4-BE49-F238E27FC236}">
                <a16:creationId xmlns:a16="http://schemas.microsoft.com/office/drawing/2014/main" id="{048DC7FC-57D0-6C33-5183-A3DD00A509C5}"/>
              </a:ext>
            </a:extLst>
          </p:cNvPr>
          <p:cNvSpPr/>
          <p:nvPr/>
        </p:nvSpPr>
        <p:spPr>
          <a:xfrm>
            <a:off x="4090363" y="4312135"/>
            <a:ext cx="347844" cy="461717"/>
          </a:xfrm>
          <a:prstGeom prst="upDownArrow">
            <a:avLst>
              <a:gd name="adj1" fmla="val 50000"/>
              <a:gd name="adj2" fmla="val 4829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ptos" panose="02110004020202020204"/>
                <a:ea typeface="+mn-ea"/>
                <a:cs typeface="+mn-cs"/>
              </a:rPr>
              <a:t>12</a:t>
            </a:r>
            <a:endParaRPr kumimoji="0" lang="en-CA" sz="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7" name="TextBox 46">
            <a:extLst>
              <a:ext uri="{FF2B5EF4-FFF2-40B4-BE49-F238E27FC236}">
                <a16:creationId xmlns:a16="http://schemas.microsoft.com/office/drawing/2014/main" id="{4FD2692D-4EB0-B351-D78D-BB8ADC8C6DCA}"/>
              </a:ext>
            </a:extLst>
          </p:cNvPr>
          <p:cNvSpPr txBox="1"/>
          <p:nvPr/>
        </p:nvSpPr>
        <p:spPr>
          <a:xfrm>
            <a:off x="4448512" y="4302465"/>
            <a:ext cx="235596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Read from register file</a:t>
            </a:r>
            <a:endParaRPr kumimoji="0" lang="en-C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1" name="Arrow: Down 60">
            <a:extLst>
              <a:ext uri="{FF2B5EF4-FFF2-40B4-BE49-F238E27FC236}">
                <a16:creationId xmlns:a16="http://schemas.microsoft.com/office/drawing/2014/main" id="{BF052E32-B8E8-4C74-1144-548E69DD8395}"/>
              </a:ext>
            </a:extLst>
          </p:cNvPr>
          <p:cNvSpPr/>
          <p:nvPr/>
        </p:nvSpPr>
        <p:spPr>
          <a:xfrm>
            <a:off x="1467928" y="8262231"/>
            <a:ext cx="412386" cy="5682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C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1" name="Rectangle 70">
            <a:extLst>
              <a:ext uri="{FF2B5EF4-FFF2-40B4-BE49-F238E27FC236}">
                <a16:creationId xmlns:a16="http://schemas.microsoft.com/office/drawing/2014/main" id="{B4E820CE-E270-9147-EC64-19EEA5991939}"/>
              </a:ext>
            </a:extLst>
          </p:cNvPr>
          <p:cNvSpPr/>
          <p:nvPr/>
        </p:nvSpPr>
        <p:spPr>
          <a:xfrm>
            <a:off x="1236010" y="8861555"/>
            <a:ext cx="4513096" cy="1518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3" name="Arrow: Down 72">
            <a:extLst>
              <a:ext uri="{FF2B5EF4-FFF2-40B4-BE49-F238E27FC236}">
                <a16:creationId xmlns:a16="http://schemas.microsoft.com/office/drawing/2014/main" id="{2575CF77-AB10-89EC-FE1E-9D49BDFDA847}"/>
              </a:ext>
            </a:extLst>
          </p:cNvPr>
          <p:cNvSpPr/>
          <p:nvPr/>
        </p:nvSpPr>
        <p:spPr>
          <a:xfrm>
            <a:off x="1793673" y="9018714"/>
            <a:ext cx="3418296" cy="6556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rPr>
              <a:t>6 Results</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prstClr val="white"/>
                </a:solidFill>
                <a:latin typeface="Aptos" panose="02110004020202020204"/>
              </a:rPr>
              <a:t>To </a:t>
            </a:r>
            <a:r>
              <a:rPr lang="en-US" sz="1200" dirty="0" err="1">
                <a:solidFill>
                  <a:prstClr val="white"/>
                </a:solidFill>
                <a:latin typeface="Aptos" panose="02110004020202020204"/>
              </a:rPr>
              <a:t>regfile</a:t>
            </a:r>
            <a:endParaRPr kumimoji="0" lang="en-CA" sz="12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5" name="TextBox 74">
            <a:extLst>
              <a:ext uri="{FF2B5EF4-FFF2-40B4-BE49-F238E27FC236}">
                <a16:creationId xmlns:a16="http://schemas.microsoft.com/office/drawing/2014/main" id="{0194EFB8-1575-CD15-D345-841A159262BF}"/>
              </a:ext>
            </a:extLst>
          </p:cNvPr>
          <p:cNvSpPr txBox="1"/>
          <p:nvPr/>
        </p:nvSpPr>
        <p:spPr>
          <a:xfrm>
            <a:off x="2491525" y="9648979"/>
            <a:ext cx="210698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Write to register file</a:t>
            </a:r>
            <a:endParaRPr kumimoji="0" lang="en-C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9" name="TextBox 78">
            <a:extLst>
              <a:ext uri="{FF2B5EF4-FFF2-40B4-BE49-F238E27FC236}">
                <a16:creationId xmlns:a16="http://schemas.microsoft.com/office/drawing/2014/main" id="{B2F530B4-43D0-5018-89CF-982AC5011910}"/>
              </a:ext>
            </a:extLst>
          </p:cNvPr>
          <p:cNvSpPr txBox="1"/>
          <p:nvPr/>
        </p:nvSpPr>
        <p:spPr>
          <a:xfrm>
            <a:off x="6846659" y="3877168"/>
            <a:ext cx="3001143" cy="178510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ALU: Arithmetic Logic Unit (integer and float)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IMUL: Integer multiplier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IDIV: Integer Divider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FMA: Floating-point multiply and add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TRIG: Floating-point trig, divide and square root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FCU: Flow control unit (branch unit)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AGEN: Address generator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MEM: Memory (Data cache control logic)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Read ports are packed into a vector containing only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source operands that need reading.</a:t>
            </a:r>
            <a:endParaRPr kumimoji="0" lang="en-CA" sz="1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0" name="Arrow: Up-Down 79">
            <a:extLst>
              <a:ext uri="{FF2B5EF4-FFF2-40B4-BE49-F238E27FC236}">
                <a16:creationId xmlns:a16="http://schemas.microsoft.com/office/drawing/2014/main" id="{D416A5EF-AF3B-6BDE-1A59-FD266DCB177E}"/>
              </a:ext>
            </a:extLst>
          </p:cNvPr>
          <p:cNvSpPr/>
          <p:nvPr/>
        </p:nvSpPr>
        <p:spPr>
          <a:xfrm>
            <a:off x="2855243" y="5027175"/>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Aptos" panose="02110004020202020204"/>
                <a:ea typeface="+mn-ea"/>
                <a:cs typeface="+mn-cs"/>
              </a:rPr>
              <a:t>4</a:t>
            </a:r>
            <a:endParaRPr kumimoji="0" lang="en-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2" name="Arrow: Down 81">
            <a:extLst>
              <a:ext uri="{FF2B5EF4-FFF2-40B4-BE49-F238E27FC236}">
                <a16:creationId xmlns:a16="http://schemas.microsoft.com/office/drawing/2014/main" id="{4E017986-6C0C-36EA-7574-F92C44D6E8DD}"/>
              </a:ext>
            </a:extLst>
          </p:cNvPr>
          <p:cNvSpPr/>
          <p:nvPr/>
        </p:nvSpPr>
        <p:spPr>
          <a:xfrm>
            <a:off x="2808746" y="8410992"/>
            <a:ext cx="412386" cy="4225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C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4" name="TextBox 83">
            <a:extLst>
              <a:ext uri="{FF2B5EF4-FFF2-40B4-BE49-F238E27FC236}">
                <a16:creationId xmlns:a16="http://schemas.microsoft.com/office/drawing/2014/main" id="{95FEDAAB-7634-1AE0-5343-303E849BE047}"/>
              </a:ext>
            </a:extLst>
          </p:cNvPr>
          <p:cNvSpPr txBox="1"/>
          <p:nvPr/>
        </p:nvSpPr>
        <p:spPr>
          <a:xfrm>
            <a:off x="1199841" y="8338720"/>
            <a:ext cx="335348" cy="1692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prstClr val="black"/>
                </a:solidFill>
                <a:effectLst/>
                <a:uLnTx/>
                <a:uFillTx/>
                <a:latin typeface="Aptos" panose="02110004020202020204"/>
                <a:ea typeface="+mn-ea"/>
                <a:cs typeface="+mn-cs"/>
              </a:rPr>
              <a:t>Lat: 1</a:t>
            </a:r>
            <a:endParaRPr kumimoji="0" lang="en-CA" sz="5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5" name="TextBox 84">
            <a:extLst>
              <a:ext uri="{FF2B5EF4-FFF2-40B4-BE49-F238E27FC236}">
                <a16:creationId xmlns:a16="http://schemas.microsoft.com/office/drawing/2014/main" id="{9883616A-D2EE-26C7-4079-8F76C313EEF7}"/>
              </a:ext>
            </a:extLst>
          </p:cNvPr>
          <p:cNvSpPr txBox="1"/>
          <p:nvPr/>
        </p:nvSpPr>
        <p:spPr>
          <a:xfrm>
            <a:off x="1824004" y="8342980"/>
            <a:ext cx="335348" cy="1692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prstClr val="black"/>
                </a:solidFill>
                <a:effectLst/>
                <a:uLnTx/>
                <a:uFillTx/>
                <a:latin typeface="Aptos" panose="02110004020202020204"/>
                <a:ea typeface="+mn-ea"/>
                <a:cs typeface="+mn-cs"/>
              </a:rPr>
              <a:t>Lat: 1</a:t>
            </a:r>
            <a:endParaRPr kumimoji="0" lang="en-CA" sz="5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2" name="TextBox 91">
            <a:extLst>
              <a:ext uri="{FF2B5EF4-FFF2-40B4-BE49-F238E27FC236}">
                <a16:creationId xmlns:a16="http://schemas.microsoft.com/office/drawing/2014/main" id="{8F7A3230-CE63-45AA-3833-6C55EDA0D549}"/>
              </a:ext>
            </a:extLst>
          </p:cNvPr>
          <p:cNvSpPr txBox="1"/>
          <p:nvPr/>
        </p:nvSpPr>
        <p:spPr>
          <a:xfrm>
            <a:off x="2519895" y="8390956"/>
            <a:ext cx="335348" cy="1692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prstClr val="black"/>
                </a:solidFill>
                <a:effectLst/>
                <a:uLnTx/>
                <a:uFillTx/>
                <a:latin typeface="Aptos" panose="02110004020202020204"/>
                <a:ea typeface="+mn-ea"/>
                <a:cs typeface="+mn-cs"/>
              </a:rPr>
              <a:t>Lat: 5</a:t>
            </a:r>
            <a:endParaRPr kumimoji="0" lang="en-CA" sz="5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0043DABA-125C-0A72-A543-531ABC64EFC4}"/>
              </a:ext>
            </a:extLst>
          </p:cNvPr>
          <p:cNvSpPr/>
          <p:nvPr/>
        </p:nvSpPr>
        <p:spPr>
          <a:xfrm>
            <a:off x="2676956" y="7881872"/>
            <a:ext cx="699521" cy="5329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Neural Network</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16 parallel neurons</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29" name="Rectangle 28">
            <a:extLst>
              <a:ext uri="{FF2B5EF4-FFF2-40B4-BE49-F238E27FC236}">
                <a16:creationId xmlns:a16="http://schemas.microsoft.com/office/drawing/2014/main" id="{6E466728-6277-795B-BB81-E680E699E3D5}"/>
              </a:ext>
            </a:extLst>
          </p:cNvPr>
          <p:cNvSpPr/>
          <p:nvPr/>
        </p:nvSpPr>
        <p:spPr>
          <a:xfrm>
            <a:off x="3911829" y="3378341"/>
            <a:ext cx="72000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white"/>
                </a:solidFill>
                <a:effectLst/>
                <a:uLnTx/>
                <a:uFillTx/>
                <a:latin typeface="Aptos" panose="02110004020202020204"/>
                <a:ea typeface="+mn-ea"/>
                <a:cs typeface="+mn-cs"/>
              </a:rPr>
              <a:t>Port Packing</a:t>
            </a:r>
            <a:endParaRPr kumimoji="0" lang="en-CA" sz="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0" name="Arrow: Up-Down 29">
            <a:extLst>
              <a:ext uri="{FF2B5EF4-FFF2-40B4-BE49-F238E27FC236}">
                <a16:creationId xmlns:a16="http://schemas.microsoft.com/office/drawing/2014/main" id="{B6BFF518-2DE6-FCD8-3E0B-08292CAE2CE0}"/>
              </a:ext>
            </a:extLst>
          </p:cNvPr>
          <p:cNvSpPr/>
          <p:nvPr/>
        </p:nvSpPr>
        <p:spPr>
          <a:xfrm>
            <a:off x="4172573" y="3576880"/>
            <a:ext cx="212826" cy="33736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Aptos" panose="02110004020202020204"/>
                <a:ea typeface="+mn-ea"/>
                <a:cs typeface="+mn-cs"/>
              </a:rPr>
              <a:t>12</a:t>
            </a:r>
            <a:endParaRPr kumimoji="0" lang="en-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1" name="TextBox 30">
            <a:extLst>
              <a:ext uri="{FF2B5EF4-FFF2-40B4-BE49-F238E27FC236}">
                <a16:creationId xmlns:a16="http://schemas.microsoft.com/office/drawing/2014/main" id="{F81722C6-EAF5-E56B-D223-E84A80BF1DC8}"/>
              </a:ext>
            </a:extLst>
          </p:cNvPr>
          <p:cNvSpPr txBox="1"/>
          <p:nvPr/>
        </p:nvSpPr>
        <p:spPr>
          <a:xfrm>
            <a:off x="6796543" y="6194704"/>
            <a:ext cx="3643143" cy="127727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Rotating muxes change the read port priority every clock cycle to prevent ports from starving.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There is bypassing from register file inputs to reservation stations.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Reservation stations have three entry input queues.</a:t>
            </a:r>
            <a:endParaRPr kumimoji="0" lang="en-CA" sz="11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5" name="Rectangle 94">
            <a:extLst>
              <a:ext uri="{FF2B5EF4-FFF2-40B4-BE49-F238E27FC236}">
                <a16:creationId xmlns:a16="http://schemas.microsoft.com/office/drawing/2014/main" id="{8C9018EB-6AF2-AE0F-CE21-8B6F7DC85A64}"/>
              </a:ext>
            </a:extLst>
          </p:cNvPr>
          <p:cNvSpPr/>
          <p:nvPr/>
        </p:nvSpPr>
        <p:spPr>
          <a:xfrm>
            <a:off x="3451637" y="3915294"/>
            <a:ext cx="1598322" cy="37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white"/>
                </a:solidFill>
                <a:effectLst/>
                <a:uLnTx/>
                <a:uFillTx/>
                <a:latin typeface="Aptos" panose="02110004020202020204"/>
                <a:ea typeface="+mn-ea"/>
                <a:cs typeface="+mn-cs"/>
              </a:rPr>
              <a:t>Register File Read</a:t>
            </a:r>
            <a:endParaRPr kumimoji="0" lang="en-CA" sz="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7" name="TextBox 96">
            <a:extLst>
              <a:ext uri="{FF2B5EF4-FFF2-40B4-BE49-F238E27FC236}">
                <a16:creationId xmlns:a16="http://schemas.microsoft.com/office/drawing/2014/main" id="{A3B5AC6F-B847-3BFF-BC64-260A6E0380AD}"/>
              </a:ext>
            </a:extLst>
          </p:cNvPr>
          <p:cNvSpPr txBox="1"/>
          <p:nvPr/>
        </p:nvSpPr>
        <p:spPr>
          <a:xfrm>
            <a:off x="272553" y="5770705"/>
            <a:ext cx="98102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Reservation Stations</a:t>
            </a:r>
            <a:endParaRPr kumimoji="0" lang="en-CA"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105" name="Straight Arrow Connector 104">
            <a:extLst>
              <a:ext uri="{FF2B5EF4-FFF2-40B4-BE49-F238E27FC236}">
                <a16:creationId xmlns:a16="http://schemas.microsoft.com/office/drawing/2014/main" id="{0CC3B12D-7361-87A8-DE71-4D65331D6E93}"/>
              </a:ext>
            </a:extLst>
          </p:cNvPr>
          <p:cNvCxnSpPr>
            <a:cxnSpLocks/>
          </p:cNvCxnSpPr>
          <p:nvPr/>
        </p:nvCxnSpPr>
        <p:spPr>
          <a:xfrm>
            <a:off x="1236010" y="5954288"/>
            <a:ext cx="1874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6" name="Rectangle 105">
            <a:extLst>
              <a:ext uri="{FF2B5EF4-FFF2-40B4-BE49-F238E27FC236}">
                <a16:creationId xmlns:a16="http://schemas.microsoft.com/office/drawing/2014/main" id="{8ECCDEE0-513D-D63D-5D2D-F9D86046D758}"/>
              </a:ext>
            </a:extLst>
          </p:cNvPr>
          <p:cNvSpPr/>
          <p:nvPr/>
        </p:nvSpPr>
        <p:spPr>
          <a:xfrm>
            <a:off x="3439688" y="7281699"/>
            <a:ext cx="699521" cy="250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Graphics</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BF1F26FD-1EB7-E15D-1C56-CAE5B37FA604}"/>
              </a:ext>
            </a:extLst>
          </p:cNvPr>
          <p:cNvSpPr/>
          <p:nvPr/>
        </p:nvSpPr>
        <p:spPr>
          <a:xfrm>
            <a:off x="3439688" y="7586531"/>
            <a:ext cx="729525" cy="250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Hardware Queues</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53" name="Arrow: Down 52">
            <a:extLst>
              <a:ext uri="{FF2B5EF4-FFF2-40B4-BE49-F238E27FC236}">
                <a16:creationId xmlns:a16="http://schemas.microsoft.com/office/drawing/2014/main" id="{4FCBB207-1731-65CF-E056-8314CE8BFC2B}"/>
              </a:ext>
            </a:extLst>
          </p:cNvPr>
          <p:cNvSpPr/>
          <p:nvPr/>
        </p:nvSpPr>
        <p:spPr>
          <a:xfrm>
            <a:off x="4325379" y="8048639"/>
            <a:ext cx="412386" cy="7913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C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4" name="Rectangle 53">
            <a:extLst>
              <a:ext uri="{FF2B5EF4-FFF2-40B4-BE49-F238E27FC236}">
                <a16:creationId xmlns:a16="http://schemas.microsoft.com/office/drawing/2014/main" id="{37723E71-29BB-3242-78B4-6C8172F803F3}"/>
              </a:ext>
            </a:extLst>
          </p:cNvPr>
          <p:cNvSpPr/>
          <p:nvPr/>
        </p:nvSpPr>
        <p:spPr>
          <a:xfrm>
            <a:off x="3451977" y="6225278"/>
            <a:ext cx="72000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ALU</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55" name="Rectangle 54">
            <a:extLst>
              <a:ext uri="{FF2B5EF4-FFF2-40B4-BE49-F238E27FC236}">
                <a16:creationId xmlns:a16="http://schemas.microsoft.com/office/drawing/2014/main" id="{4CC48138-EFC1-FEE2-97CD-654843864692}"/>
              </a:ext>
            </a:extLst>
          </p:cNvPr>
          <p:cNvSpPr/>
          <p:nvPr/>
        </p:nvSpPr>
        <p:spPr>
          <a:xfrm>
            <a:off x="3454741" y="6486951"/>
            <a:ext cx="714472"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IMUL</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56" name="Rectangle 55">
            <a:extLst>
              <a:ext uri="{FF2B5EF4-FFF2-40B4-BE49-F238E27FC236}">
                <a16:creationId xmlns:a16="http://schemas.microsoft.com/office/drawing/2014/main" id="{00AE3B2E-9400-700B-4CDB-FA86CC6F4D8B}"/>
              </a:ext>
            </a:extLst>
          </p:cNvPr>
          <p:cNvSpPr/>
          <p:nvPr/>
        </p:nvSpPr>
        <p:spPr>
          <a:xfrm>
            <a:off x="4978975" y="7025705"/>
            <a:ext cx="69735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AGEN </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57" name="Rectangle 56">
            <a:extLst>
              <a:ext uri="{FF2B5EF4-FFF2-40B4-BE49-F238E27FC236}">
                <a16:creationId xmlns:a16="http://schemas.microsoft.com/office/drawing/2014/main" id="{4C75D08C-4803-EFA6-F124-F5FB50CC7699}"/>
              </a:ext>
            </a:extLst>
          </p:cNvPr>
          <p:cNvSpPr/>
          <p:nvPr/>
        </p:nvSpPr>
        <p:spPr>
          <a:xfrm>
            <a:off x="4976398" y="7277655"/>
            <a:ext cx="70671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MEM </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58" name="Arrow: Up-Down 57">
            <a:extLst>
              <a:ext uri="{FF2B5EF4-FFF2-40B4-BE49-F238E27FC236}">
                <a16:creationId xmlns:a16="http://schemas.microsoft.com/office/drawing/2014/main" id="{55559F9D-81B0-B92E-73C9-FA05DEDCA241}"/>
              </a:ext>
            </a:extLst>
          </p:cNvPr>
          <p:cNvSpPr/>
          <p:nvPr/>
        </p:nvSpPr>
        <p:spPr>
          <a:xfrm>
            <a:off x="3632768" y="5034676"/>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Aptos" panose="02110004020202020204"/>
                <a:ea typeface="+mn-ea"/>
                <a:cs typeface="+mn-cs"/>
              </a:rPr>
              <a:t>4</a:t>
            </a:r>
            <a:endParaRPr kumimoji="0" lang="en-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9" name="Arrow: Down 58">
            <a:extLst>
              <a:ext uri="{FF2B5EF4-FFF2-40B4-BE49-F238E27FC236}">
                <a16:creationId xmlns:a16="http://schemas.microsoft.com/office/drawing/2014/main" id="{536196FE-81A4-F798-2A69-24A33B096DCA}"/>
              </a:ext>
            </a:extLst>
          </p:cNvPr>
          <p:cNvSpPr/>
          <p:nvPr/>
        </p:nvSpPr>
        <p:spPr>
          <a:xfrm>
            <a:off x="3586271" y="8451362"/>
            <a:ext cx="412386" cy="38969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C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3" name="Arrow: Down 92">
            <a:extLst>
              <a:ext uri="{FF2B5EF4-FFF2-40B4-BE49-F238E27FC236}">
                <a16:creationId xmlns:a16="http://schemas.microsoft.com/office/drawing/2014/main" id="{C407CB6E-73EE-95F5-AC6C-EA5035B201AE}"/>
              </a:ext>
            </a:extLst>
          </p:cNvPr>
          <p:cNvSpPr/>
          <p:nvPr/>
        </p:nvSpPr>
        <p:spPr>
          <a:xfrm>
            <a:off x="5080180" y="8048640"/>
            <a:ext cx="412386" cy="7935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C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96" name="Rectangle 95">
            <a:extLst>
              <a:ext uri="{FF2B5EF4-FFF2-40B4-BE49-F238E27FC236}">
                <a16:creationId xmlns:a16="http://schemas.microsoft.com/office/drawing/2014/main" id="{29445450-FDF6-23A0-B63A-FA80C9F16A49}"/>
              </a:ext>
            </a:extLst>
          </p:cNvPr>
          <p:cNvSpPr/>
          <p:nvPr/>
        </p:nvSpPr>
        <p:spPr>
          <a:xfrm>
            <a:off x="2666821" y="7014964"/>
            <a:ext cx="69735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FRCPA</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98" name="Rectangle 97">
            <a:extLst>
              <a:ext uri="{FF2B5EF4-FFF2-40B4-BE49-F238E27FC236}">
                <a16:creationId xmlns:a16="http://schemas.microsoft.com/office/drawing/2014/main" id="{AF3F32A0-EC1C-3F6A-5D0A-6A614459FFB5}"/>
              </a:ext>
            </a:extLst>
          </p:cNvPr>
          <p:cNvSpPr/>
          <p:nvPr/>
        </p:nvSpPr>
        <p:spPr>
          <a:xfrm>
            <a:off x="1463927" y="5805296"/>
            <a:ext cx="474236" cy="297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dirty="0" err="1">
                <a:solidFill>
                  <a:prstClr val="white"/>
                </a:solidFill>
                <a:latin typeface="Aptos" panose="02110004020202020204"/>
              </a:rPr>
              <a:t>Insn</a:t>
            </a:r>
            <a:endParaRPr lang="en-US" sz="700" dirty="0">
              <a:solidFill>
                <a:prstClr val="white"/>
              </a:solidFill>
              <a:latin typeface="Aptos" panose="0211000402020202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white"/>
                </a:solidFill>
                <a:effectLst/>
                <a:uLnTx/>
                <a:uFillTx/>
                <a:latin typeface="Aptos" panose="02110004020202020204"/>
                <a:ea typeface="+mn-ea"/>
                <a:cs typeface="+mn-cs"/>
              </a:rPr>
              <a:t>Queue</a:t>
            </a:r>
            <a:endParaRPr kumimoji="0" lang="en-CA" sz="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4" name="Rectangle 103">
            <a:extLst>
              <a:ext uri="{FF2B5EF4-FFF2-40B4-BE49-F238E27FC236}">
                <a16:creationId xmlns:a16="http://schemas.microsoft.com/office/drawing/2014/main" id="{2BF82ACC-2017-F81E-2F45-38EC840E05E6}"/>
              </a:ext>
            </a:extLst>
          </p:cNvPr>
          <p:cNvSpPr/>
          <p:nvPr/>
        </p:nvSpPr>
        <p:spPr>
          <a:xfrm>
            <a:off x="2784828" y="5789198"/>
            <a:ext cx="474236" cy="297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dirty="0" err="1">
                <a:solidFill>
                  <a:prstClr val="white"/>
                </a:solidFill>
                <a:latin typeface="Aptos" panose="02110004020202020204"/>
              </a:rPr>
              <a:t>Insn</a:t>
            </a:r>
            <a:endParaRPr lang="en-US" sz="700" dirty="0">
              <a:solidFill>
                <a:prstClr val="white"/>
              </a:solidFill>
              <a:latin typeface="Aptos" panose="0211000402020202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white"/>
                </a:solidFill>
                <a:effectLst/>
                <a:uLnTx/>
                <a:uFillTx/>
                <a:latin typeface="Aptos" panose="02110004020202020204"/>
                <a:ea typeface="+mn-ea"/>
                <a:cs typeface="+mn-cs"/>
              </a:rPr>
              <a:t>Queue</a:t>
            </a:r>
            <a:endParaRPr kumimoji="0" lang="en-CA" sz="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8" name="Rectangle 107">
            <a:extLst>
              <a:ext uri="{FF2B5EF4-FFF2-40B4-BE49-F238E27FC236}">
                <a16:creationId xmlns:a16="http://schemas.microsoft.com/office/drawing/2014/main" id="{1DA3B973-E994-F79B-763C-C0F08124EE1B}"/>
              </a:ext>
            </a:extLst>
          </p:cNvPr>
          <p:cNvSpPr/>
          <p:nvPr/>
        </p:nvSpPr>
        <p:spPr>
          <a:xfrm>
            <a:off x="3564977" y="5807314"/>
            <a:ext cx="474236" cy="297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dirty="0" err="1">
                <a:solidFill>
                  <a:prstClr val="white"/>
                </a:solidFill>
                <a:latin typeface="Aptos" panose="02110004020202020204"/>
              </a:rPr>
              <a:t>Insn</a:t>
            </a:r>
            <a:endParaRPr lang="en-US" sz="700" dirty="0">
              <a:solidFill>
                <a:prstClr val="white"/>
              </a:solidFill>
              <a:latin typeface="Aptos" panose="0211000402020202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white"/>
                </a:solidFill>
                <a:effectLst/>
                <a:uLnTx/>
                <a:uFillTx/>
                <a:latin typeface="Aptos" panose="02110004020202020204"/>
                <a:ea typeface="+mn-ea"/>
                <a:cs typeface="+mn-cs"/>
              </a:rPr>
              <a:t>Queue</a:t>
            </a:r>
            <a:endParaRPr kumimoji="0" lang="en-CA" sz="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 name="Arrow: Up-Down 2">
            <a:extLst>
              <a:ext uri="{FF2B5EF4-FFF2-40B4-BE49-F238E27FC236}">
                <a16:creationId xmlns:a16="http://schemas.microsoft.com/office/drawing/2014/main" id="{665F5A0E-DD70-6B16-13F8-09D55C6046A2}"/>
              </a:ext>
            </a:extLst>
          </p:cNvPr>
          <p:cNvSpPr/>
          <p:nvPr/>
        </p:nvSpPr>
        <p:spPr>
          <a:xfrm>
            <a:off x="4374516" y="5032359"/>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Aptos" panose="02110004020202020204"/>
                <a:ea typeface="+mn-ea"/>
                <a:cs typeface="+mn-cs"/>
              </a:rPr>
              <a:t>4</a:t>
            </a:r>
            <a:endParaRPr kumimoji="0" lang="en-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7331763D-4150-BF46-58BA-82C22B8DDDD6}"/>
              </a:ext>
            </a:extLst>
          </p:cNvPr>
          <p:cNvSpPr/>
          <p:nvPr/>
        </p:nvSpPr>
        <p:spPr>
          <a:xfrm>
            <a:off x="4325252" y="5802815"/>
            <a:ext cx="474236" cy="297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dirty="0" err="1">
                <a:solidFill>
                  <a:prstClr val="white"/>
                </a:solidFill>
                <a:latin typeface="Aptos" panose="02110004020202020204"/>
              </a:rPr>
              <a:t>Insn</a:t>
            </a:r>
            <a:endParaRPr lang="en-US" sz="700" dirty="0">
              <a:solidFill>
                <a:prstClr val="white"/>
              </a:solidFill>
              <a:latin typeface="Aptos" panose="0211000402020202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white"/>
                </a:solidFill>
                <a:effectLst/>
                <a:uLnTx/>
                <a:uFillTx/>
                <a:latin typeface="Aptos" panose="02110004020202020204"/>
                <a:ea typeface="+mn-ea"/>
                <a:cs typeface="+mn-cs"/>
              </a:rPr>
              <a:t>Queue</a:t>
            </a:r>
            <a:endParaRPr kumimoji="0" lang="en-CA" sz="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Arrow: Up-Down 18">
            <a:extLst>
              <a:ext uri="{FF2B5EF4-FFF2-40B4-BE49-F238E27FC236}">
                <a16:creationId xmlns:a16="http://schemas.microsoft.com/office/drawing/2014/main" id="{D878CE96-ACDA-07C8-0116-F7E29F5C3AEA}"/>
              </a:ext>
            </a:extLst>
          </p:cNvPr>
          <p:cNvSpPr/>
          <p:nvPr/>
        </p:nvSpPr>
        <p:spPr>
          <a:xfrm>
            <a:off x="5101012" y="5039981"/>
            <a:ext cx="340139" cy="768626"/>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Aptos" panose="02110004020202020204"/>
                <a:ea typeface="+mn-ea"/>
                <a:cs typeface="+mn-cs"/>
              </a:rPr>
              <a:t>3</a:t>
            </a:r>
            <a:endParaRPr kumimoji="0" lang="en-CA"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6" name="Rectangle 35">
            <a:extLst>
              <a:ext uri="{FF2B5EF4-FFF2-40B4-BE49-F238E27FC236}">
                <a16:creationId xmlns:a16="http://schemas.microsoft.com/office/drawing/2014/main" id="{FD586AC3-0CAE-E4B6-0BCA-290D1E289AB5}"/>
              </a:ext>
            </a:extLst>
          </p:cNvPr>
          <p:cNvSpPr/>
          <p:nvPr/>
        </p:nvSpPr>
        <p:spPr>
          <a:xfrm>
            <a:off x="5025695" y="5800612"/>
            <a:ext cx="474236" cy="297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dirty="0" err="1">
                <a:solidFill>
                  <a:prstClr val="white"/>
                </a:solidFill>
                <a:latin typeface="Aptos" panose="02110004020202020204"/>
              </a:rPr>
              <a:t>Insn</a:t>
            </a:r>
            <a:endParaRPr lang="en-US" sz="700" dirty="0">
              <a:solidFill>
                <a:prstClr val="white"/>
              </a:solidFill>
              <a:latin typeface="Aptos" panose="0211000402020202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white"/>
                </a:solidFill>
                <a:effectLst/>
                <a:uLnTx/>
                <a:uFillTx/>
                <a:latin typeface="Aptos" panose="02110004020202020204"/>
                <a:ea typeface="+mn-ea"/>
                <a:cs typeface="+mn-cs"/>
              </a:rPr>
              <a:t>Queue</a:t>
            </a:r>
            <a:endParaRPr kumimoji="0" lang="en-CA" sz="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9" name="TextBox 38">
            <a:extLst>
              <a:ext uri="{FF2B5EF4-FFF2-40B4-BE49-F238E27FC236}">
                <a16:creationId xmlns:a16="http://schemas.microsoft.com/office/drawing/2014/main" id="{12A00DE7-BB54-684B-A0F7-625401CF87EC}"/>
              </a:ext>
            </a:extLst>
          </p:cNvPr>
          <p:cNvSpPr txBox="1"/>
          <p:nvPr/>
        </p:nvSpPr>
        <p:spPr>
          <a:xfrm>
            <a:off x="3276511" y="8403634"/>
            <a:ext cx="317716" cy="1692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prstClr val="black"/>
                </a:solidFill>
                <a:effectLst/>
                <a:uLnTx/>
                <a:uFillTx/>
                <a:latin typeface="Aptos" panose="02110004020202020204"/>
                <a:ea typeface="+mn-ea"/>
                <a:cs typeface="+mn-cs"/>
              </a:rPr>
              <a:t>Lat 5</a:t>
            </a:r>
            <a:endParaRPr kumimoji="0" lang="en-CA" sz="5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2" name="Rectangle 41">
            <a:extLst>
              <a:ext uri="{FF2B5EF4-FFF2-40B4-BE49-F238E27FC236}">
                <a16:creationId xmlns:a16="http://schemas.microsoft.com/office/drawing/2014/main" id="{CF893D2B-6FC1-D062-0F53-786B933AD546}"/>
              </a:ext>
            </a:extLst>
          </p:cNvPr>
          <p:cNvSpPr/>
          <p:nvPr/>
        </p:nvSpPr>
        <p:spPr>
          <a:xfrm>
            <a:off x="4992202" y="6234441"/>
            <a:ext cx="67356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ALU </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43" name="Rectangle 42">
            <a:extLst>
              <a:ext uri="{FF2B5EF4-FFF2-40B4-BE49-F238E27FC236}">
                <a16:creationId xmlns:a16="http://schemas.microsoft.com/office/drawing/2014/main" id="{DDDA548E-E46F-13F4-C665-BCAA6D7D8D3D}"/>
              </a:ext>
            </a:extLst>
          </p:cNvPr>
          <p:cNvSpPr/>
          <p:nvPr/>
        </p:nvSpPr>
        <p:spPr>
          <a:xfrm>
            <a:off x="4216604" y="6232370"/>
            <a:ext cx="72000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ALU</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065F6771-7659-5278-6FFA-BC757934A192}"/>
              </a:ext>
            </a:extLst>
          </p:cNvPr>
          <p:cNvSpPr/>
          <p:nvPr/>
        </p:nvSpPr>
        <p:spPr>
          <a:xfrm>
            <a:off x="2068809" y="6223878"/>
            <a:ext cx="514437"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ALU</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62" name="Arrow: Down 61">
            <a:extLst>
              <a:ext uri="{FF2B5EF4-FFF2-40B4-BE49-F238E27FC236}">
                <a16:creationId xmlns:a16="http://schemas.microsoft.com/office/drawing/2014/main" id="{AB396FC0-5153-09C8-9EF4-FF327C1DCC22}"/>
              </a:ext>
            </a:extLst>
          </p:cNvPr>
          <p:cNvSpPr/>
          <p:nvPr/>
        </p:nvSpPr>
        <p:spPr>
          <a:xfrm>
            <a:off x="2110429" y="8270414"/>
            <a:ext cx="412386" cy="5706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1</a:t>
            </a:r>
            <a:endParaRPr kumimoji="0" lang="en-C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2" name="Rectangle 31">
            <a:extLst>
              <a:ext uri="{FF2B5EF4-FFF2-40B4-BE49-F238E27FC236}">
                <a16:creationId xmlns:a16="http://schemas.microsoft.com/office/drawing/2014/main" id="{2FFC8C59-74EC-D3BA-CC55-09A40CA5442A}"/>
              </a:ext>
            </a:extLst>
          </p:cNvPr>
          <p:cNvSpPr/>
          <p:nvPr/>
        </p:nvSpPr>
        <p:spPr>
          <a:xfrm>
            <a:off x="2073763" y="6486951"/>
            <a:ext cx="514068"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Crypto</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102" name="Rectangle 101">
            <a:extLst>
              <a:ext uri="{FF2B5EF4-FFF2-40B4-BE49-F238E27FC236}">
                <a16:creationId xmlns:a16="http://schemas.microsoft.com/office/drawing/2014/main" id="{C168DA8F-AD8B-5E51-E711-11FBBF17988D}"/>
              </a:ext>
            </a:extLst>
          </p:cNvPr>
          <p:cNvSpPr/>
          <p:nvPr/>
        </p:nvSpPr>
        <p:spPr>
          <a:xfrm>
            <a:off x="2068809" y="5800624"/>
            <a:ext cx="474236" cy="2979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700" dirty="0" err="1">
                <a:solidFill>
                  <a:prstClr val="white"/>
                </a:solidFill>
                <a:latin typeface="Aptos" panose="02110004020202020204"/>
              </a:rPr>
              <a:t>Insn</a:t>
            </a:r>
            <a:endParaRPr lang="en-US" sz="700" dirty="0">
              <a:solidFill>
                <a:prstClr val="white"/>
              </a:solidFill>
              <a:latin typeface="Aptos" panose="02110004020202020204"/>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white"/>
                </a:solidFill>
                <a:effectLst/>
                <a:uLnTx/>
                <a:uFillTx/>
                <a:latin typeface="Aptos" panose="02110004020202020204"/>
                <a:ea typeface="+mn-ea"/>
                <a:cs typeface="+mn-cs"/>
              </a:rPr>
              <a:t>Queue</a:t>
            </a:r>
            <a:endParaRPr kumimoji="0" lang="en-CA" sz="7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5C73882D-5585-473B-45AF-61EA0DAF5570}"/>
              </a:ext>
            </a:extLst>
          </p:cNvPr>
          <p:cNvSpPr/>
          <p:nvPr/>
        </p:nvSpPr>
        <p:spPr>
          <a:xfrm>
            <a:off x="2061589" y="6758280"/>
            <a:ext cx="51829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Branch</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44" name="Rectangle 43">
            <a:extLst>
              <a:ext uri="{FF2B5EF4-FFF2-40B4-BE49-F238E27FC236}">
                <a16:creationId xmlns:a16="http://schemas.microsoft.com/office/drawing/2014/main" id="{EC25C865-337B-1822-7193-54987126C037}"/>
              </a:ext>
            </a:extLst>
          </p:cNvPr>
          <p:cNvSpPr/>
          <p:nvPr/>
        </p:nvSpPr>
        <p:spPr>
          <a:xfrm>
            <a:off x="2035353" y="8026411"/>
            <a:ext cx="51829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Cap.</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45" name="Arrow: Down 44">
            <a:extLst>
              <a:ext uri="{FF2B5EF4-FFF2-40B4-BE49-F238E27FC236}">
                <a16:creationId xmlns:a16="http://schemas.microsoft.com/office/drawing/2014/main" id="{86CD15A0-A148-A8DB-B4C8-0EF176823B08}"/>
              </a:ext>
            </a:extLst>
          </p:cNvPr>
          <p:cNvSpPr/>
          <p:nvPr/>
        </p:nvSpPr>
        <p:spPr>
          <a:xfrm>
            <a:off x="1388189" y="4121152"/>
            <a:ext cx="1823495" cy="6556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rPr>
              <a:t>6 Results Bypass</a:t>
            </a:r>
          </a:p>
        </p:txBody>
      </p:sp>
      <p:sp>
        <p:nvSpPr>
          <p:cNvPr id="48" name="Rectangle 47">
            <a:extLst>
              <a:ext uri="{FF2B5EF4-FFF2-40B4-BE49-F238E27FC236}">
                <a16:creationId xmlns:a16="http://schemas.microsoft.com/office/drawing/2014/main" id="{A402BF55-2840-9187-0012-4FE833446AE1}"/>
              </a:ext>
            </a:extLst>
          </p:cNvPr>
          <p:cNvSpPr/>
          <p:nvPr/>
        </p:nvSpPr>
        <p:spPr>
          <a:xfrm>
            <a:off x="1450793" y="6481873"/>
            <a:ext cx="514068"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Crypto</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49" name="Rectangle 48">
            <a:extLst>
              <a:ext uri="{FF2B5EF4-FFF2-40B4-BE49-F238E27FC236}">
                <a16:creationId xmlns:a16="http://schemas.microsoft.com/office/drawing/2014/main" id="{3D5B8381-C8FF-7E75-E5B3-41F4B9D9C5D3}"/>
              </a:ext>
            </a:extLst>
          </p:cNvPr>
          <p:cNvSpPr/>
          <p:nvPr/>
        </p:nvSpPr>
        <p:spPr>
          <a:xfrm>
            <a:off x="1448131" y="6747033"/>
            <a:ext cx="51829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Branch</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95BA6E94-A331-15DF-63B6-F5BA48EF614A}"/>
              </a:ext>
            </a:extLst>
          </p:cNvPr>
          <p:cNvSpPr/>
          <p:nvPr/>
        </p:nvSpPr>
        <p:spPr>
          <a:xfrm>
            <a:off x="1441895" y="8031555"/>
            <a:ext cx="51829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Cap.</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51" name="Rectangle 50">
            <a:extLst>
              <a:ext uri="{FF2B5EF4-FFF2-40B4-BE49-F238E27FC236}">
                <a16:creationId xmlns:a16="http://schemas.microsoft.com/office/drawing/2014/main" id="{405F4DB3-B078-4D74-54D3-80B3EE6892B5}"/>
              </a:ext>
            </a:extLst>
          </p:cNvPr>
          <p:cNvSpPr/>
          <p:nvPr/>
        </p:nvSpPr>
        <p:spPr>
          <a:xfrm>
            <a:off x="2056888" y="7011139"/>
            <a:ext cx="500506"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CSRs</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63" name="Rectangle 62">
            <a:extLst>
              <a:ext uri="{FF2B5EF4-FFF2-40B4-BE49-F238E27FC236}">
                <a16:creationId xmlns:a16="http://schemas.microsoft.com/office/drawing/2014/main" id="{17BFC020-CD37-E93E-707A-B2D868EF7C24}"/>
              </a:ext>
            </a:extLst>
          </p:cNvPr>
          <p:cNvSpPr/>
          <p:nvPr/>
        </p:nvSpPr>
        <p:spPr>
          <a:xfrm>
            <a:off x="2044554" y="7271026"/>
            <a:ext cx="51554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Counts</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64" name="Rectangle 63">
            <a:extLst>
              <a:ext uri="{FF2B5EF4-FFF2-40B4-BE49-F238E27FC236}">
                <a16:creationId xmlns:a16="http://schemas.microsoft.com/office/drawing/2014/main" id="{AD80AAC1-321E-CC09-2171-7F065165BA71}"/>
              </a:ext>
            </a:extLst>
          </p:cNvPr>
          <p:cNvSpPr/>
          <p:nvPr/>
        </p:nvSpPr>
        <p:spPr>
          <a:xfrm>
            <a:off x="2040783" y="7523043"/>
            <a:ext cx="515549" cy="214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Shift </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68" name="Rectangle 67">
            <a:extLst>
              <a:ext uri="{FF2B5EF4-FFF2-40B4-BE49-F238E27FC236}">
                <a16:creationId xmlns:a16="http://schemas.microsoft.com/office/drawing/2014/main" id="{A520185E-14CB-45E8-5F1F-670AB8E06226}"/>
              </a:ext>
            </a:extLst>
          </p:cNvPr>
          <p:cNvSpPr/>
          <p:nvPr/>
        </p:nvSpPr>
        <p:spPr>
          <a:xfrm>
            <a:off x="2684423" y="6756774"/>
            <a:ext cx="699521"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FMA</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
        <p:nvSpPr>
          <p:cNvPr id="69" name="Rectangle 68">
            <a:extLst>
              <a:ext uri="{FF2B5EF4-FFF2-40B4-BE49-F238E27FC236}">
                <a16:creationId xmlns:a16="http://schemas.microsoft.com/office/drawing/2014/main" id="{2A16B93E-7053-73E1-A3ED-CEA1F482D161}"/>
              </a:ext>
            </a:extLst>
          </p:cNvPr>
          <p:cNvSpPr/>
          <p:nvPr/>
        </p:nvSpPr>
        <p:spPr>
          <a:xfrm>
            <a:off x="2659359" y="7277655"/>
            <a:ext cx="699521" cy="250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Graphics</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70" name="Rectangle 69">
            <a:extLst>
              <a:ext uri="{FF2B5EF4-FFF2-40B4-BE49-F238E27FC236}">
                <a16:creationId xmlns:a16="http://schemas.microsoft.com/office/drawing/2014/main" id="{C2A161EF-2DB7-6F00-8620-75E8AA8F537C}"/>
              </a:ext>
            </a:extLst>
          </p:cNvPr>
          <p:cNvSpPr/>
          <p:nvPr/>
        </p:nvSpPr>
        <p:spPr>
          <a:xfrm>
            <a:off x="2646952" y="7575224"/>
            <a:ext cx="729525" cy="250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Hardware Queues</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72" name="Rectangle 71">
            <a:extLst>
              <a:ext uri="{FF2B5EF4-FFF2-40B4-BE49-F238E27FC236}">
                <a16:creationId xmlns:a16="http://schemas.microsoft.com/office/drawing/2014/main" id="{39CD2A56-C135-7E9D-83AA-A7F487A52C9A}"/>
              </a:ext>
            </a:extLst>
          </p:cNvPr>
          <p:cNvSpPr/>
          <p:nvPr/>
        </p:nvSpPr>
        <p:spPr>
          <a:xfrm>
            <a:off x="3442523" y="7012685"/>
            <a:ext cx="697350"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FRCPA</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74" name="Rectangle 73">
            <a:extLst>
              <a:ext uri="{FF2B5EF4-FFF2-40B4-BE49-F238E27FC236}">
                <a16:creationId xmlns:a16="http://schemas.microsoft.com/office/drawing/2014/main" id="{0CF948EE-7A24-ED6D-87D0-2B462BF93757}"/>
              </a:ext>
            </a:extLst>
          </p:cNvPr>
          <p:cNvSpPr/>
          <p:nvPr/>
        </p:nvSpPr>
        <p:spPr>
          <a:xfrm>
            <a:off x="3451636" y="7890423"/>
            <a:ext cx="699521" cy="5329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Neural Network</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16 parallel neurons</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76" name="Rectangle 75">
            <a:extLst>
              <a:ext uri="{FF2B5EF4-FFF2-40B4-BE49-F238E27FC236}">
                <a16:creationId xmlns:a16="http://schemas.microsoft.com/office/drawing/2014/main" id="{19E29878-EC2F-317C-4DF1-988B5B263D3D}"/>
              </a:ext>
            </a:extLst>
          </p:cNvPr>
          <p:cNvSpPr/>
          <p:nvPr/>
        </p:nvSpPr>
        <p:spPr>
          <a:xfrm>
            <a:off x="4231803" y="6747150"/>
            <a:ext cx="681924"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ISQRT</a:t>
            </a:r>
          </a:p>
        </p:txBody>
      </p:sp>
      <p:sp>
        <p:nvSpPr>
          <p:cNvPr id="77" name="Rectangle 76">
            <a:extLst>
              <a:ext uri="{FF2B5EF4-FFF2-40B4-BE49-F238E27FC236}">
                <a16:creationId xmlns:a16="http://schemas.microsoft.com/office/drawing/2014/main" id="{BBA8BAF5-0A15-9704-0C58-6EDFFDB422B8}"/>
              </a:ext>
            </a:extLst>
          </p:cNvPr>
          <p:cNvSpPr/>
          <p:nvPr/>
        </p:nvSpPr>
        <p:spPr>
          <a:xfrm>
            <a:off x="4216604" y="7826102"/>
            <a:ext cx="68765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TRIG</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51D411AA-9EB7-A937-C070-31E37A4975B8}"/>
              </a:ext>
            </a:extLst>
          </p:cNvPr>
          <p:cNvSpPr/>
          <p:nvPr/>
        </p:nvSpPr>
        <p:spPr>
          <a:xfrm>
            <a:off x="4992202" y="6488075"/>
            <a:ext cx="666119"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IDIV</a:t>
            </a:r>
          </a:p>
        </p:txBody>
      </p:sp>
      <p:sp>
        <p:nvSpPr>
          <p:cNvPr id="86" name="Rectangle 85">
            <a:extLst>
              <a:ext uri="{FF2B5EF4-FFF2-40B4-BE49-F238E27FC236}">
                <a16:creationId xmlns:a16="http://schemas.microsoft.com/office/drawing/2014/main" id="{3638F8D0-83ED-D717-1A0E-2834713046E4}"/>
              </a:ext>
            </a:extLst>
          </p:cNvPr>
          <p:cNvSpPr/>
          <p:nvPr/>
        </p:nvSpPr>
        <p:spPr>
          <a:xfrm>
            <a:off x="4964071" y="7554338"/>
            <a:ext cx="706578"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rPr>
              <a:t>FMA </a:t>
            </a:r>
            <a:endParaRPr kumimoji="0" lang="en-CA" sz="700" b="0" i="0" u="none" strike="noStrike" kern="1200" cap="none" spc="0" normalizeH="0" baseline="0" noProof="0" dirty="0">
              <a:ln>
                <a:noFill/>
              </a:ln>
              <a:solidFill>
                <a:schemeClr val="bg2">
                  <a:lumMod val="75000"/>
                </a:schemeClr>
              </a:solidFill>
              <a:effectLst/>
              <a:uLnTx/>
              <a:uFillTx/>
              <a:latin typeface="Aptos" panose="02110004020202020204"/>
              <a:ea typeface="+mn-ea"/>
              <a:cs typeface="+mn-cs"/>
            </a:endParaRPr>
          </a:p>
        </p:txBody>
      </p:sp>
      <p:sp>
        <p:nvSpPr>
          <p:cNvPr id="87" name="Rectangle 86">
            <a:extLst>
              <a:ext uri="{FF2B5EF4-FFF2-40B4-BE49-F238E27FC236}">
                <a16:creationId xmlns:a16="http://schemas.microsoft.com/office/drawing/2014/main" id="{19C13FC5-EE7F-A6B1-8389-2EDD148519CA}"/>
              </a:ext>
            </a:extLst>
          </p:cNvPr>
          <p:cNvSpPr/>
          <p:nvPr/>
        </p:nvSpPr>
        <p:spPr>
          <a:xfrm>
            <a:off x="2043041" y="7779257"/>
            <a:ext cx="515549" cy="214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rPr>
              <a:t>Bitfield </a:t>
            </a:r>
            <a:endParaRPr kumimoji="0" lang="en-CA" sz="700" b="0" i="0" u="none" strike="noStrike" kern="1200" cap="none" spc="0" normalizeH="0" baseline="0" noProof="0" dirty="0">
              <a:ln>
                <a:noFill/>
              </a:ln>
              <a:solidFill>
                <a:schemeClr val="accent6">
                  <a:lumMod val="60000"/>
                  <a:lumOff val="40000"/>
                </a:scheme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86512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18057</TotalTime>
  <Words>3216</Words>
  <Application>Microsoft Office PowerPoint</Application>
  <PresentationFormat>Custom</PresentationFormat>
  <Paragraphs>736</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Qupls4: Instruction Cache</vt:lpstr>
      <vt:lpstr>Qupls4: Instruction Fetch Stage (*_fet)</vt:lpstr>
      <vt:lpstr>Qupls4: Instruction Extract Stage (*_mux)</vt:lpstr>
      <vt:lpstr>Qupls4: Decode Stage (*_dec)</vt:lpstr>
      <vt:lpstr>Qupls4: Decode Stage (more)</vt:lpstr>
      <vt:lpstr>Qupls4: Rename Stage (*_ren)</vt:lpstr>
      <vt:lpstr>Qupls4 Rename Stage</vt:lpstr>
      <vt:lpstr>Qupls4: Execute Stage</vt:lpstr>
      <vt:lpstr>Qupls4: Reservation Stations</vt:lpstr>
      <vt:lpstr>PowerPoint Presentation</vt:lpstr>
      <vt:lpstr>Qupls4: External Interrupt Handling</vt:lpstr>
      <vt:lpstr>Qupls4: MSI Interrupt Logging</vt:lpstr>
      <vt:lpstr>PowerPoint Presentation</vt:lpstr>
      <vt:lpstr>Qupls4: QMSI Interrupt Controller Site</vt:lpstr>
      <vt:lpstr>Qupls4: Decoding Placement</vt:lpstr>
      <vt:lpstr>Qupls4: Data Cache</vt:lpstr>
      <vt:lpstr>Qupls4: Reorder Buffer</vt:lpstr>
      <vt:lpstr>Qupls4: QMSI Interrupt Cycle</vt:lpstr>
      <vt:lpstr>PowerPoint Presentation</vt:lpstr>
      <vt:lpstr>Qupls4: Streams</vt:lpstr>
      <vt:lpstr>Qupls4: Read Port Selector</vt:lpstr>
      <vt:lpstr>Qupls4: Dispatch</vt:lpstr>
      <vt:lpstr>Qupls4: Name Supplier</vt:lpstr>
      <vt:lpstr>PowerPoint Presentation</vt:lpstr>
      <vt:lpstr>PowerPoint Presentation</vt:lpstr>
      <vt:lpstr>Qupls4: Execute Stage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Finch</dc:creator>
  <cp:lastModifiedBy>Robert Finch</cp:lastModifiedBy>
  <cp:revision>3</cp:revision>
  <dcterms:created xsi:type="dcterms:W3CDTF">2025-04-28T15:04:58Z</dcterms:created>
  <dcterms:modified xsi:type="dcterms:W3CDTF">2026-09-15T04:14:53Z</dcterms:modified>
</cp:coreProperties>
</file>