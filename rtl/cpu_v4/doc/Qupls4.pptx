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1" r:id="rId3"/>
    <p:sldId id="258" r:id="rId4"/>
    <p:sldId id="257" r:id="rId5"/>
    <p:sldId id="259" r:id="rId6"/>
    <p:sldId id="260" r:id="rId7"/>
    <p:sldId id="256" r:id="rId8"/>
    <p:sldId id="262" r:id="rId9"/>
    <p:sldId id="263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96" d="100"/>
          <a:sy n="96" d="100"/>
        </p:scale>
        <p:origin x="1060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ert Finch" userId="360118edfabb5ba6" providerId="LiveId" clId="{940D50E2-FEDC-434C-83CF-A13052851249}"/>
    <pc:docChg chg="modSld">
      <pc:chgData name="Robert Finch" userId="360118edfabb5ba6" providerId="LiveId" clId="{940D50E2-FEDC-434C-83CF-A13052851249}" dt="2025-12-01T12:31:35.416" v="23" actId="20577"/>
      <pc:docMkLst>
        <pc:docMk/>
      </pc:docMkLst>
      <pc:sldChg chg="modSp mod">
        <pc:chgData name="Robert Finch" userId="360118edfabb5ba6" providerId="LiveId" clId="{940D50E2-FEDC-434C-83CF-A13052851249}" dt="2025-12-01T12:31:30.059" v="22" actId="20577"/>
        <pc:sldMkLst>
          <pc:docMk/>
          <pc:sldMk cId="3493996368" sldId="256"/>
        </pc:sldMkLst>
        <pc:spChg chg="mod">
          <ac:chgData name="Robert Finch" userId="360118edfabb5ba6" providerId="LiveId" clId="{940D50E2-FEDC-434C-83CF-A13052851249}" dt="2025-12-01T12:31:30.059" v="22" actId="20577"/>
          <ac:spMkLst>
            <pc:docMk/>
            <pc:sldMk cId="3493996368" sldId="256"/>
            <ac:spMk id="2" creationId="{7730D39D-FAB4-71A0-50A9-AAFD49CFD457}"/>
          </ac:spMkLst>
        </pc:spChg>
      </pc:sldChg>
      <pc:sldChg chg="modSp mod">
        <pc:chgData name="Robert Finch" userId="360118edfabb5ba6" providerId="LiveId" clId="{940D50E2-FEDC-434C-83CF-A13052851249}" dt="2025-12-01T12:31:07.022" v="19" actId="20577"/>
        <pc:sldMkLst>
          <pc:docMk/>
          <pc:sldMk cId="2594290601" sldId="257"/>
        </pc:sldMkLst>
        <pc:spChg chg="mod">
          <ac:chgData name="Robert Finch" userId="360118edfabb5ba6" providerId="LiveId" clId="{940D50E2-FEDC-434C-83CF-A13052851249}" dt="2025-12-01T12:31:07.022" v="19" actId="20577"/>
          <ac:spMkLst>
            <pc:docMk/>
            <pc:sldMk cId="2594290601" sldId="257"/>
            <ac:spMk id="2" creationId="{922B9395-D48D-D2C9-3B68-4D26BC937E22}"/>
          </ac:spMkLst>
        </pc:spChg>
      </pc:sldChg>
      <pc:sldChg chg="modSp mod">
        <pc:chgData name="Robert Finch" userId="360118edfabb5ba6" providerId="LiveId" clId="{940D50E2-FEDC-434C-83CF-A13052851249}" dt="2025-12-01T12:31:00.542" v="14" actId="20577"/>
        <pc:sldMkLst>
          <pc:docMk/>
          <pc:sldMk cId="2650679018" sldId="258"/>
        </pc:sldMkLst>
        <pc:spChg chg="mod">
          <ac:chgData name="Robert Finch" userId="360118edfabb5ba6" providerId="LiveId" clId="{940D50E2-FEDC-434C-83CF-A13052851249}" dt="2025-12-01T12:31:00.542" v="14" actId="20577"/>
          <ac:spMkLst>
            <pc:docMk/>
            <pc:sldMk cId="2650679018" sldId="258"/>
            <ac:spMk id="2" creationId="{589C157B-1C51-0E6E-C43E-CBBA43BA6BE8}"/>
          </ac:spMkLst>
        </pc:spChg>
      </pc:sldChg>
      <pc:sldChg chg="modSp mod">
        <pc:chgData name="Robert Finch" userId="360118edfabb5ba6" providerId="LiveId" clId="{940D50E2-FEDC-434C-83CF-A13052851249}" dt="2025-12-01T12:31:14.706" v="20" actId="20577"/>
        <pc:sldMkLst>
          <pc:docMk/>
          <pc:sldMk cId="2694914445" sldId="259"/>
        </pc:sldMkLst>
        <pc:spChg chg="mod">
          <ac:chgData name="Robert Finch" userId="360118edfabb5ba6" providerId="LiveId" clId="{940D50E2-FEDC-434C-83CF-A13052851249}" dt="2025-12-01T12:31:14.706" v="20" actId="20577"/>
          <ac:spMkLst>
            <pc:docMk/>
            <pc:sldMk cId="2694914445" sldId="259"/>
            <ac:spMk id="2" creationId="{8C0E7671-DA3D-5C66-D0DC-22B672A22041}"/>
          </ac:spMkLst>
        </pc:spChg>
      </pc:sldChg>
      <pc:sldChg chg="modSp mod">
        <pc:chgData name="Robert Finch" userId="360118edfabb5ba6" providerId="LiveId" clId="{940D50E2-FEDC-434C-83CF-A13052851249}" dt="2025-12-01T12:31:24.640" v="21" actId="20577"/>
        <pc:sldMkLst>
          <pc:docMk/>
          <pc:sldMk cId="522921597" sldId="260"/>
        </pc:sldMkLst>
        <pc:spChg chg="mod">
          <ac:chgData name="Robert Finch" userId="360118edfabb5ba6" providerId="LiveId" clId="{940D50E2-FEDC-434C-83CF-A13052851249}" dt="2025-12-01T12:31:24.640" v="21" actId="20577"/>
          <ac:spMkLst>
            <pc:docMk/>
            <pc:sldMk cId="522921597" sldId="260"/>
            <ac:spMk id="2" creationId="{F8A33C03-86BC-47B3-352E-CEAFA8E49E87}"/>
          </ac:spMkLst>
        </pc:spChg>
      </pc:sldChg>
      <pc:sldChg chg="modSp mod">
        <pc:chgData name="Robert Finch" userId="360118edfabb5ba6" providerId="LiveId" clId="{940D50E2-FEDC-434C-83CF-A13052851249}" dt="2025-12-01T12:30:54.846" v="9" actId="20577"/>
        <pc:sldMkLst>
          <pc:docMk/>
          <pc:sldMk cId="3556507299" sldId="261"/>
        </pc:sldMkLst>
        <pc:spChg chg="mod">
          <ac:chgData name="Robert Finch" userId="360118edfabb5ba6" providerId="LiveId" clId="{940D50E2-FEDC-434C-83CF-A13052851249}" dt="2025-12-01T12:30:54.846" v="9" actId="20577"/>
          <ac:spMkLst>
            <pc:docMk/>
            <pc:sldMk cId="3556507299" sldId="261"/>
            <ac:spMk id="2" creationId="{3EA856E3-2BBA-5D07-B63B-437151994B7F}"/>
          </ac:spMkLst>
        </pc:spChg>
      </pc:sldChg>
      <pc:sldChg chg="modSp mod">
        <pc:chgData name="Robert Finch" userId="360118edfabb5ba6" providerId="LiveId" clId="{940D50E2-FEDC-434C-83CF-A13052851249}" dt="2025-12-01T12:31:35.416" v="23" actId="20577"/>
        <pc:sldMkLst>
          <pc:docMk/>
          <pc:sldMk cId="1888516878" sldId="262"/>
        </pc:sldMkLst>
        <pc:spChg chg="mod">
          <ac:chgData name="Robert Finch" userId="360118edfabb5ba6" providerId="LiveId" clId="{940D50E2-FEDC-434C-83CF-A13052851249}" dt="2025-12-01T12:31:35.416" v="23" actId="20577"/>
          <ac:spMkLst>
            <pc:docMk/>
            <pc:sldMk cId="1888516878" sldId="262"/>
            <ac:spMk id="2" creationId="{CD976A82-092D-CF16-A768-4B843A414F2D}"/>
          </ac:spMkLst>
        </pc:spChg>
      </pc:sldChg>
      <pc:sldChg chg="modSp mod">
        <pc:chgData name="Robert Finch" userId="360118edfabb5ba6" providerId="LiveId" clId="{940D50E2-FEDC-434C-83CF-A13052851249}" dt="2025-12-01T12:30:48.215" v="4" actId="20577"/>
        <pc:sldMkLst>
          <pc:docMk/>
          <pc:sldMk cId="1543770821" sldId="264"/>
        </pc:sldMkLst>
        <pc:spChg chg="mod">
          <ac:chgData name="Robert Finch" userId="360118edfabb5ba6" providerId="LiveId" clId="{940D50E2-FEDC-434C-83CF-A13052851249}" dt="2025-12-01T12:30:48.215" v="4" actId="20577"/>
          <ac:spMkLst>
            <pc:docMk/>
            <pc:sldMk cId="1543770821" sldId="264"/>
            <ac:spMk id="2" creationId="{D6982963-00C0-AAD8-68F5-4679E999E63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E6490-D614-A8CB-7DB7-3271B64780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13FC3B-9505-A47F-B397-467EE70F59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0624A-391D-7111-86D4-44C8A7ED6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21942-3650-429E-A73C-F40215CD5967}" type="datetimeFigureOut">
              <a:rPr lang="en-CA" smtClean="0"/>
              <a:t>2025-11-30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BA4B66-14B1-5AA4-7D07-58ED0ED35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4DB1C-E437-51AA-4C3F-F0530F36C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08A5-EC6F-4FAC-9C1A-7DBC3A03B9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65648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3EC4C-38E2-BBCA-8A17-405E9EC15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923F0-9457-5B1C-FD7D-B1DD1C415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4FEC5C-6B9D-40AB-294E-EB28507DC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21942-3650-429E-A73C-F40215CD5967}" type="datetimeFigureOut">
              <a:rPr lang="en-CA" smtClean="0"/>
              <a:t>2025-11-30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4A8570-30B7-A639-0A85-0F9FC3EAD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2B6B5-84CB-9EB4-4F1E-BAB853BEF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08A5-EC6F-4FAC-9C1A-7DBC3A03B9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63153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EE2DE-F0AC-7B15-E174-EDE58D194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211AD8-A793-F81F-29F8-32FDE0169D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271482-B338-5B33-A511-FFA6B5363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21942-3650-429E-A73C-F40215CD5967}" type="datetimeFigureOut">
              <a:rPr lang="en-CA" smtClean="0"/>
              <a:t>2025-11-30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AF2379-3C6C-3A78-111A-F546B5AEB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5C49B-C931-F503-61BB-2BC13F325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08A5-EC6F-4FAC-9C1A-7DBC3A03B9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79563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B6B90-C3FB-6F3A-3B2A-7AD980A36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3820-9A34-FDE7-53CC-BC9050B388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C58245-133F-21EA-653C-341DADB641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1DA37F-15A0-BA87-C014-B9FDF89B7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21942-3650-429E-A73C-F40215CD5967}" type="datetimeFigureOut">
              <a:rPr lang="en-CA" smtClean="0"/>
              <a:t>2025-11-30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B6C402-1E65-11D8-97C7-2E405BB86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740B9F-B5F5-7053-7E13-AB31BA4A5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08A5-EC6F-4FAC-9C1A-7DBC3A03B9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3793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C3F6C-5669-CB08-7C1E-412B8DAA5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334BF-5925-6C2A-B106-6C4B55D13D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6EA510-E286-BE24-976A-FDDB35D268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F959AE-4F60-F4A5-8DEA-F78C98687D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A2DAE4-5E3F-066D-0B41-BA78389A24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CA2574-9054-FC1F-F56B-D46407307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21942-3650-429E-A73C-F40215CD5967}" type="datetimeFigureOut">
              <a:rPr lang="en-CA" smtClean="0"/>
              <a:t>2025-11-30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C6F26C-42B0-66B7-8BA0-75E7DE30E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495BF5-3B0A-8F62-B506-8B5D94870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08A5-EC6F-4FAC-9C1A-7DBC3A03B9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44072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DAC97-B1EC-E3DE-E43E-CE7C979AC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E282C9-AA59-231E-8903-30E27FE65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21942-3650-429E-A73C-F40215CD5967}" type="datetimeFigureOut">
              <a:rPr lang="en-CA" smtClean="0"/>
              <a:t>2025-11-30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9260F2-19D6-7F70-33F6-684124785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6E0C-9902-EC0C-83F2-976685758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08A5-EC6F-4FAC-9C1A-7DBC3A03B9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98403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CD97EE-3A0F-A174-3909-C4F8CE514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21942-3650-429E-A73C-F40215CD5967}" type="datetimeFigureOut">
              <a:rPr lang="en-CA" smtClean="0"/>
              <a:t>2025-11-30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24890E-0CBD-F23F-3336-CF2DF2BBB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C112B8-863C-D58B-A7E2-EC3E852F3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08A5-EC6F-4FAC-9C1A-7DBC3A03B9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1182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77FF0-8C32-3538-727A-B7C8EFD7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64D33-E760-8022-B60D-19329E660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D068B4-B41F-E848-F5F3-637299114C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B78F3F-8F51-745E-FDA5-A6D51BEA2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21942-3650-429E-A73C-F40215CD5967}" type="datetimeFigureOut">
              <a:rPr lang="en-CA" smtClean="0"/>
              <a:t>2025-11-30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C4A95E-7936-5440-0D19-171B73277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04EF21-15FB-78CD-FEE9-FEBF51617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08A5-EC6F-4FAC-9C1A-7DBC3A03B9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98525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F3631-269D-34E8-BD84-0BC6E388D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0116F2-C072-D0B7-462A-A60AE37514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FB3203-5E72-703E-5F3D-99B299D125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7F3F82-45EC-C5C6-3758-2310AAACB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21942-3650-429E-A73C-F40215CD5967}" type="datetimeFigureOut">
              <a:rPr lang="en-CA" smtClean="0"/>
              <a:t>2025-11-30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DEE7D9-BB96-9C78-960C-1D850829F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3A3CD1-72F2-8FF8-7FE0-D8AFBE724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08A5-EC6F-4FAC-9C1A-7DBC3A03B9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39758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E8BE9-E6C6-3AAA-F89A-BC2F79419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4D36A8-29C0-6F5A-553D-28D7B22F60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77F120-9C8E-0CB7-A817-E57264211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21942-3650-429E-A73C-F40215CD5967}" type="datetimeFigureOut">
              <a:rPr lang="en-CA" smtClean="0"/>
              <a:t>2025-11-30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1A581-A8B7-A707-21B3-F39FF9342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C6A4F5-5D92-F65B-7A59-5BD915DEC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08A5-EC6F-4FAC-9C1A-7DBC3A03B9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81196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82EA1E-1FDB-D0F0-2397-2FC080E9C2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1BC960-EFFA-5180-B9AA-37AD2CE3E1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BCF87B-AC45-B324-6356-0E9751801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21942-3650-429E-A73C-F40215CD5967}" type="datetimeFigureOut">
              <a:rPr lang="en-CA" smtClean="0"/>
              <a:t>2025-11-30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C26DF4-AE9F-50BF-EF79-5DF9D2BE0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32D18-65CE-FDDC-B447-D7D0A462A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08A5-EC6F-4FAC-9C1A-7DBC3A03B9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95136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12D023-412C-F186-25B5-BEE2C42AC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0CC8F-1C86-B2FF-8924-772CC40BC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3815E8-475D-38E8-BF78-D5176C800F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21942-3650-429E-A73C-F40215CD5967}" type="datetimeFigureOut">
              <a:rPr lang="en-CA" smtClean="0"/>
              <a:t>2025-11-30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8D2FD-7492-FDE1-B877-1422600105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D6ADB-CAFA-804B-7236-FC51FAB7E6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FD08A5-EC6F-4FAC-9C1A-7DBC3A03B9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87356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82963-00C0-AAD8-68F5-4679E999E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39" y="55908"/>
            <a:ext cx="10515600" cy="1325563"/>
          </a:xfrm>
        </p:spPr>
        <p:txBody>
          <a:bodyPr/>
          <a:lstStyle/>
          <a:p>
            <a:r>
              <a:rPr lang="en-US" dirty="0"/>
              <a:t>Qupls4: Instruction Cache</a:t>
            </a:r>
            <a:endParaRPr lang="en-C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2E5F10-A7C0-A263-A047-66E489FE7DDA}"/>
              </a:ext>
            </a:extLst>
          </p:cNvPr>
          <p:cNvSpPr/>
          <p:nvPr/>
        </p:nvSpPr>
        <p:spPr>
          <a:xfrm>
            <a:off x="759792" y="1470991"/>
            <a:ext cx="2389808" cy="3224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System Bus 256b</a:t>
            </a:r>
            <a:endParaRPr lang="en-CA" sz="12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78CE3-6B8B-20C0-257D-A66790DB7941}"/>
              </a:ext>
            </a:extLst>
          </p:cNvPr>
          <p:cNvSpPr/>
          <p:nvPr/>
        </p:nvSpPr>
        <p:spPr>
          <a:xfrm>
            <a:off x="759792" y="2033656"/>
            <a:ext cx="2389808" cy="3224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Cache Controller</a:t>
            </a:r>
            <a:endParaRPr lang="en-CA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CD6E3B-8090-4A3D-815D-9D88465D9481}"/>
              </a:ext>
            </a:extLst>
          </p:cNvPr>
          <p:cNvSpPr/>
          <p:nvPr/>
        </p:nvSpPr>
        <p:spPr>
          <a:xfrm>
            <a:off x="728870" y="2601844"/>
            <a:ext cx="1073426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Cache RAM</a:t>
            </a:r>
          </a:p>
          <a:p>
            <a:pPr algn="ctr"/>
            <a:r>
              <a:rPr lang="en-US" sz="1200" dirty="0"/>
              <a:t>256 x 512b</a:t>
            </a:r>
          </a:p>
          <a:p>
            <a:pPr algn="ctr"/>
            <a:r>
              <a:rPr lang="en-US" sz="1200" dirty="0"/>
              <a:t>Even Lines</a:t>
            </a:r>
            <a:endParaRPr lang="en-CA" sz="12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201E30-0885-302D-86D7-8824617A0833}"/>
              </a:ext>
            </a:extLst>
          </p:cNvPr>
          <p:cNvSpPr/>
          <p:nvPr/>
        </p:nvSpPr>
        <p:spPr>
          <a:xfrm>
            <a:off x="2098261" y="2601844"/>
            <a:ext cx="1073426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Cache RAM</a:t>
            </a:r>
          </a:p>
          <a:p>
            <a:pPr algn="ctr"/>
            <a:r>
              <a:rPr lang="en-US" sz="1200" dirty="0"/>
              <a:t>256 x 512b</a:t>
            </a:r>
          </a:p>
          <a:p>
            <a:pPr algn="ctr"/>
            <a:r>
              <a:rPr lang="en-US" sz="1200" dirty="0"/>
              <a:t>Odd Lines</a:t>
            </a:r>
            <a:endParaRPr lang="en-CA" sz="12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C35208-28A4-7E56-5CDF-9AE07A6248EA}"/>
              </a:ext>
            </a:extLst>
          </p:cNvPr>
          <p:cNvSpPr/>
          <p:nvPr/>
        </p:nvSpPr>
        <p:spPr>
          <a:xfrm>
            <a:off x="759792" y="3781289"/>
            <a:ext cx="2389808" cy="3224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Even / Odd swapper</a:t>
            </a:r>
            <a:endParaRPr lang="en-CA" sz="12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0ABE107-A0E4-E1FE-1BE7-69EA42EF53A8}"/>
              </a:ext>
            </a:extLst>
          </p:cNvPr>
          <p:cNvSpPr/>
          <p:nvPr/>
        </p:nvSpPr>
        <p:spPr>
          <a:xfrm>
            <a:off x="759791" y="4324627"/>
            <a:ext cx="2596321" cy="3224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Instruction Aligner</a:t>
            </a:r>
            <a:endParaRPr lang="en-CA" sz="1200" dirty="0"/>
          </a:p>
        </p:txBody>
      </p:sp>
      <p:sp>
        <p:nvSpPr>
          <p:cNvPr id="11" name="Flowchart: Manual Operation 10">
            <a:extLst>
              <a:ext uri="{FF2B5EF4-FFF2-40B4-BE49-F238E27FC236}">
                <a16:creationId xmlns:a16="http://schemas.microsoft.com/office/drawing/2014/main" id="{E1824252-B42A-D8CE-3390-C8411AF96A52}"/>
              </a:ext>
            </a:extLst>
          </p:cNvPr>
          <p:cNvSpPr/>
          <p:nvPr/>
        </p:nvSpPr>
        <p:spPr>
          <a:xfrm>
            <a:off x="728870" y="4962943"/>
            <a:ext cx="3887303" cy="439530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4 x 2 to 1 Mux</a:t>
            </a:r>
            <a:endParaRPr lang="en-CA" sz="1200" dirty="0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8B46854F-020F-201E-1733-159EAA84BB5C}"/>
              </a:ext>
            </a:extLst>
          </p:cNvPr>
          <p:cNvSpPr/>
          <p:nvPr/>
        </p:nvSpPr>
        <p:spPr>
          <a:xfrm>
            <a:off x="1547192" y="5402471"/>
            <a:ext cx="295965" cy="51683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8298BAF8-8BC5-2924-9560-5E665A016843}"/>
              </a:ext>
            </a:extLst>
          </p:cNvPr>
          <p:cNvSpPr/>
          <p:nvPr/>
        </p:nvSpPr>
        <p:spPr>
          <a:xfrm>
            <a:off x="2166731" y="5402473"/>
            <a:ext cx="295965" cy="51683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BDECF224-4572-C767-9F3D-D958B7774C04}"/>
              </a:ext>
            </a:extLst>
          </p:cNvPr>
          <p:cNvSpPr/>
          <p:nvPr/>
        </p:nvSpPr>
        <p:spPr>
          <a:xfrm>
            <a:off x="2749828" y="5402470"/>
            <a:ext cx="295965" cy="51683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247805EE-C26E-BCCE-E30F-F74D3372F287}"/>
              </a:ext>
            </a:extLst>
          </p:cNvPr>
          <p:cNvSpPr/>
          <p:nvPr/>
        </p:nvSpPr>
        <p:spPr>
          <a:xfrm>
            <a:off x="3356113" y="5402472"/>
            <a:ext cx="295965" cy="51683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F3969F3E-F2A9-3635-92CD-6F7026D2AE23}"/>
              </a:ext>
            </a:extLst>
          </p:cNvPr>
          <p:cNvSpPr/>
          <p:nvPr/>
        </p:nvSpPr>
        <p:spPr>
          <a:xfrm>
            <a:off x="3703983" y="4446108"/>
            <a:ext cx="295965" cy="51683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DEFA6660-B22B-C0B7-8BCE-9F939CF36D11}"/>
              </a:ext>
            </a:extLst>
          </p:cNvPr>
          <p:cNvSpPr/>
          <p:nvPr/>
        </p:nvSpPr>
        <p:spPr>
          <a:xfrm>
            <a:off x="2736575" y="4647098"/>
            <a:ext cx="161236" cy="32247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FC0EA224-BADA-3F76-0E60-B9A94DF8A0BE}"/>
              </a:ext>
            </a:extLst>
          </p:cNvPr>
          <p:cNvSpPr/>
          <p:nvPr/>
        </p:nvSpPr>
        <p:spPr>
          <a:xfrm>
            <a:off x="2133976" y="4650919"/>
            <a:ext cx="152403" cy="32247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3FAE38FE-63A8-85E4-4FD8-ABDC93AC1233}"/>
              </a:ext>
            </a:extLst>
          </p:cNvPr>
          <p:cNvSpPr/>
          <p:nvPr/>
        </p:nvSpPr>
        <p:spPr>
          <a:xfrm>
            <a:off x="1460193" y="4650919"/>
            <a:ext cx="167860" cy="32247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633F2976-AF38-EE71-9BE4-FA03CFCE8A19}"/>
              </a:ext>
            </a:extLst>
          </p:cNvPr>
          <p:cNvSpPr/>
          <p:nvPr/>
        </p:nvSpPr>
        <p:spPr>
          <a:xfrm>
            <a:off x="876856" y="4643785"/>
            <a:ext cx="167860" cy="32247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126BD0-7566-613E-9CD2-19B9817A7171}"/>
              </a:ext>
            </a:extLst>
          </p:cNvPr>
          <p:cNvSpPr txBox="1"/>
          <p:nvPr/>
        </p:nvSpPr>
        <p:spPr>
          <a:xfrm>
            <a:off x="2793515" y="4635456"/>
            <a:ext cx="4603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err="1"/>
              <a:t>Instr</a:t>
            </a:r>
            <a:r>
              <a:rPr lang="en-US" sz="800" dirty="0"/>
              <a:t> 1</a:t>
            </a:r>
            <a:endParaRPr lang="en-CA" sz="8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5F7CD4A-19BD-474E-DD0F-81D0DC10E09A}"/>
              </a:ext>
            </a:extLst>
          </p:cNvPr>
          <p:cNvSpPr txBox="1"/>
          <p:nvPr/>
        </p:nvSpPr>
        <p:spPr>
          <a:xfrm>
            <a:off x="2229083" y="4643785"/>
            <a:ext cx="4603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err="1"/>
              <a:t>Instr</a:t>
            </a:r>
            <a:r>
              <a:rPr lang="en-US" sz="800" dirty="0"/>
              <a:t> 2</a:t>
            </a:r>
            <a:endParaRPr lang="en-CA" sz="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46176F4-7CFD-25C2-CBE8-49544435B4BB}"/>
              </a:ext>
            </a:extLst>
          </p:cNvPr>
          <p:cNvSpPr txBox="1"/>
          <p:nvPr/>
        </p:nvSpPr>
        <p:spPr>
          <a:xfrm>
            <a:off x="1538976" y="4645996"/>
            <a:ext cx="4603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err="1"/>
              <a:t>Instr</a:t>
            </a:r>
            <a:r>
              <a:rPr lang="en-US" sz="800" dirty="0"/>
              <a:t> 3</a:t>
            </a:r>
            <a:endParaRPr lang="en-CA" sz="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6E0414-3C4F-FDD1-D413-85A308CC1EDF}"/>
              </a:ext>
            </a:extLst>
          </p:cNvPr>
          <p:cNvSpPr txBox="1"/>
          <p:nvPr/>
        </p:nvSpPr>
        <p:spPr>
          <a:xfrm>
            <a:off x="992568" y="4677975"/>
            <a:ext cx="4603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err="1"/>
              <a:t>Instr</a:t>
            </a:r>
            <a:r>
              <a:rPr lang="en-US" sz="800" dirty="0"/>
              <a:t> 4</a:t>
            </a:r>
            <a:endParaRPr lang="en-CA" sz="8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479AF1F-E508-847A-8E53-E8D004D613D6}"/>
              </a:ext>
            </a:extLst>
          </p:cNvPr>
          <p:cNvSpPr txBox="1"/>
          <p:nvPr/>
        </p:nvSpPr>
        <p:spPr>
          <a:xfrm>
            <a:off x="3273904" y="5919305"/>
            <a:ext cx="4603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err="1"/>
              <a:t>Instr</a:t>
            </a:r>
            <a:r>
              <a:rPr lang="en-US" sz="800" dirty="0"/>
              <a:t> 1</a:t>
            </a:r>
            <a:endParaRPr lang="en-CA" sz="8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EAF9D45-C8A4-617C-1516-C5DCE9D56455}"/>
              </a:ext>
            </a:extLst>
          </p:cNvPr>
          <p:cNvSpPr txBox="1"/>
          <p:nvPr/>
        </p:nvSpPr>
        <p:spPr>
          <a:xfrm>
            <a:off x="2672521" y="5916550"/>
            <a:ext cx="4603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err="1"/>
              <a:t>Instr</a:t>
            </a:r>
            <a:r>
              <a:rPr lang="en-US" sz="800" dirty="0"/>
              <a:t> 2</a:t>
            </a:r>
            <a:endParaRPr lang="en-CA" sz="8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DA1CBDA-805F-C833-4058-C2FF031D62F0}"/>
              </a:ext>
            </a:extLst>
          </p:cNvPr>
          <p:cNvSpPr txBox="1"/>
          <p:nvPr/>
        </p:nvSpPr>
        <p:spPr>
          <a:xfrm>
            <a:off x="2098261" y="5931464"/>
            <a:ext cx="4603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err="1"/>
              <a:t>Instr</a:t>
            </a:r>
            <a:r>
              <a:rPr lang="en-US" sz="800" dirty="0"/>
              <a:t> 3</a:t>
            </a:r>
            <a:endParaRPr lang="en-CA" sz="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F35006B-0714-C388-4BCC-35D0BF224C35}"/>
              </a:ext>
            </a:extLst>
          </p:cNvPr>
          <p:cNvSpPr txBox="1"/>
          <p:nvPr/>
        </p:nvSpPr>
        <p:spPr>
          <a:xfrm>
            <a:off x="1449150" y="5916550"/>
            <a:ext cx="4603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err="1"/>
              <a:t>Instr</a:t>
            </a:r>
            <a:r>
              <a:rPr lang="en-US" sz="800" dirty="0"/>
              <a:t> 4</a:t>
            </a:r>
            <a:endParaRPr lang="en-CA" sz="8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B245611-DA46-BF40-A2C9-6057E8AB4755}"/>
              </a:ext>
            </a:extLst>
          </p:cNvPr>
          <p:cNvSpPr txBox="1"/>
          <p:nvPr/>
        </p:nvSpPr>
        <p:spPr>
          <a:xfrm>
            <a:off x="3384529" y="4254961"/>
            <a:ext cx="7793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Branch NOPs</a:t>
            </a:r>
            <a:endParaRPr lang="en-CA" sz="800" dirty="0"/>
          </a:p>
        </p:txBody>
      </p:sp>
      <p:sp>
        <p:nvSpPr>
          <p:cNvPr id="30" name="Arrow: Down 29">
            <a:extLst>
              <a:ext uri="{FF2B5EF4-FFF2-40B4-BE49-F238E27FC236}">
                <a16:creationId xmlns:a16="http://schemas.microsoft.com/office/drawing/2014/main" id="{ED9F302A-DC2A-4C15-2BDB-EDC66F5A9B47}"/>
              </a:ext>
            </a:extLst>
          </p:cNvPr>
          <p:cNvSpPr/>
          <p:nvPr/>
        </p:nvSpPr>
        <p:spPr>
          <a:xfrm>
            <a:off x="1806713" y="4108781"/>
            <a:ext cx="295965" cy="22137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1" name="Arrow: Down 30">
            <a:extLst>
              <a:ext uri="{FF2B5EF4-FFF2-40B4-BE49-F238E27FC236}">
                <a16:creationId xmlns:a16="http://schemas.microsoft.com/office/drawing/2014/main" id="{77AC4825-8AB1-7854-A2DC-F1530588ADD8}"/>
              </a:ext>
            </a:extLst>
          </p:cNvPr>
          <p:cNvSpPr/>
          <p:nvPr/>
        </p:nvSpPr>
        <p:spPr>
          <a:xfrm>
            <a:off x="2473254" y="3528401"/>
            <a:ext cx="295965" cy="25509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2" name="Arrow: Down 31">
            <a:extLst>
              <a:ext uri="{FF2B5EF4-FFF2-40B4-BE49-F238E27FC236}">
                <a16:creationId xmlns:a16="http://schemas.microsoft.com/office/drawing/2014/main" id="{87234FDE-51A4-57B3-C94E-D4E7F60EFBBA}"/>
              </a:ext>
            </a:extLst>
          </p:cNvPr>
          <p:cNvSpPr/>
          <p:nvPr/>
        </p:nvSpPr>
        <p:spPr>
          <a:xfrm>
            <a:off x="1104106" y="3521225"/>
            <a:ext cx="295965" cy="25509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3" name="Arrow: Down 32">
            <a:extLst>
              <a:ext uri="{FF2B5EF4-FFF2-40B4-BE49-F238E27FC236}">
                <a16:creationId xmlns:a16="http://schemas.microsoft.com/office/drawing/2014/main" id="{7009F660-1C2E-0D79-E125-EED8998EDDA9}"/>
              </a:ext>
            </a:extLst>
          </p:cNvPr>
          <p:cNvSpPr/>
          <p:nvPr/>
        </p:nvSpPr>
        <p:spPr>
          <a:xfrm>
            <a:off x="2461484" y="2356139"/>
            <a:ext cx="295965" cy="25509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4" name="Arrow: Down 33">
            <a:extLst>
              <a:ext uri="{FF2B5EF4-FFF2-40B4-BE49-F238E27FC236}">
                <a16:creationId xmlns:a16="http://schemas.microsoft.com/office/drawing/2014/main" id="{B3EAD1D4-141E-C8D8-792E-5CA6F278BBE0}"/>
              </a:ext>
            </a:extLst>
          </p:cNvPr>
          <p:cNvSpPr/>
          <p:nvPr/>
        </p:nvSpPr>
        <p:spPr>
          <a:xfrm>
            <a:off x="1104105" y="2355575"/>
            <a:ext cx="295965" cy="25509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5" name="Arrow: Down 34">
            <a:extLst>
              <a:ext uri="{FF2B5EF4-FFF2-40B4-BE49-F238E27FC236}">
                <a16:creationId xmlns:a16="http://schemas.microsoft.com/office/drawing/2014/main" id="{1F8C6AF0-E5CC-563E-4354-8E2E4A1D46B1}"/>
              </a:ext>
            </a:extLst>
          </p:cNvPr>
          <p:cNvSpPr/>
          <p:nvPr/>
        </p:nvSpPr>
        <p:spPr>
          <a:xfrm>
            <a:off x="1806712" y="1784068"/>
            <a:ext cx="295965" cy="25509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FC9CE91-57CE-A15A-73FE-C2F026BA3F37}"/>
              </a:ext>
            </a:extLst>
          </p:cNvPr>
          <p:cNvSpPr txBox="1"/>
          <p:nvPr/>
        </p:nvSpPr>
        <p:spPr>
          <a:xfrm>
            <a:off x="4735442" y="1381471"/>
            <a:ext cx="70545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Two 256b bus cycles are run by the cache controller to full-fill a 512b cache miss request.</a:t>
            </a:r>
          </a:p>
          <a:p>
            <a:endParaRPr lang="en-US" sz="1400" dirty="0"/>
          </a:p>
          <a:p>
            <a:r>
              <a:rPr lang="en-US" sz="1400" dirty="0"/>
              <a:t>Depending on the instruction pointer value an even, odd or odd, even pair of cache lines is selected.</a:t>
            </a:r>
          </a:p>
          <a:p>
            <a:endParaRPr lang="en-US" sz="1400" dirty="0"/>
          </a:p>
          <a:p>
            <a:r>
              <a:rPr lang="en-US" sz="1400" dirty="0"/>
              <a:t>On a cache miss the entire cache line is NOPed out.</a:t>
            </a:r>
          </a:p>
          <a:p>
            <a:endParaRPr lang="en-US" sz="1400" dirty="0"/>
          </a:p>
          <a:p>
            <a:r>
              <a:rPr lang="en-US" sz="1400" dirty="0"/>
              <a:t>A pair of cache lines is selected to allow instructions to span cache-line boundaries. Since instructions are 48-bit they do not fit evenly into a cache-line.</a:t>
            </a:r>
          </a:p>
          <a:p>
            <a:endParaRPr lang="en-US" sz="1400" dirty="0"/>
          </a:p>
          <a:p>
            <a:r>
              <a:rPr lang="en-US" sz="1400" dirty="0"/>
              <a:t>The instruction aligner right aligns instructions based on the IP value so that only four instruction decoders are required. Four instructions are selected plus a raw portion of the cache-line to allow for decoding immediates.</a:t>
            </a:r>
          </a:p>
          <a:p>
            <a:endParaRPr lang="en-US" sz="1400" dirty="0"/>
          </a:p>
          <a:p>
            <a:r>
              <a:rPr lang="en-US" sz="1400" dirty="0"/>
              <a:t>For branch miss, a set of NOPs is fed into the pipeline causing a pipeline bubble.</a:t>
            </a:r>
          </a:p>
          <a:p>
            <a:endParaRPr lang="en-CA" sz="14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7776ACB-9297-B69F-1246-69A5A4374F35}"/>
              </a:ext>
            </a:extLst>
          </p:cNvPr>
          <p:cNvSpPr txBox="1"/>
          <p:nvPr/>
        </p:nvSpPr>
        <p:spPr>
          <a:xfrm>
            <a:off x="3419065" y="3634508"/>
            <a:ext cx="98456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Cache miss NOPs</a:t>
            </a:r>
            <a:endParaRPr lang="en-CA" sz="800" dirty="0"/>
          </a:p>
        </p:txBody>
      </p:sp>
      <p:sp>
        <p:nvSpPr>
          <p:cNvPr id="39" name="Arrow: Bent 38">
            <a:extLst>
              <a:ext uri="{FF2B5EF4-FFF2-40B4-BE49-F238E27FC236}">
                <a16:creationId xmlns:a16="http://schemas.microsoft.com/office/drawing/2014/main" id="{396AF869-8613-7770-B041-2A04F01B86D5}"/>
              </a:ext>
            </a:extLst>
          </p:cNvPr>
          <p:cNvSpPr/>
          <p:nvPr/>
        </p:nvSpPr>
        <p:spPr>
          <a:xfrm rot="16200000">
            <a:off x="3141892" y="3837110"/>
            <a:ext cx="499121" cy="439530"/>
          </a:xfrm>
          <a:prstGeom prst="bentArrow">
            <a:avLst/>
          </a:prstGeom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3770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856E3-2BBA-5D07-B63B-437151994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77" y="42396"/>
            <a:ext cx="10515600" cy="1325563"/>
          </a:xfrm>
        </p:spPr>
        <p:txBody>
          <a:bodyPr/>
          <a:lstStyle/>
          <a:p>
            <a:r>
              <a:rPr lang="en-US" dirty="0"/>
              <a:t>Qupls4: Instruction Fetch Stage (*_</a:t>
            </a:r>
            <a:r>
              <a:rPr lang="en-US" dirty="0" err="1"/>
              <a:t>fet</a:t>
            </a:r>
            <a:r>
              <a:rPr lang="en-US" dirty="0"/>
              <a:t>)</a:t>
            </a:r>
            <a:endParaRPr lang="en-C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E50904-077D-5FC2-7AB1-C49535A041E3}"/>
              </a:ext>
            </a:extLst>
          </p:cNvPr>
          <p:cNvSpPr/>
          <p:nvPr/>
        </p:nvSpPr>
        <p:spPr>
          <a:xfrm>
            <a:off x="1536537" y="2550458"/>
            <a:ext cx="3803374" cy="3180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NOP mux</a:t>
            </a: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BAABD2-ECF9-D337-C112-E72F9E946EF0}"/>
              </a:ext>
            </a:extLst>
          </p:cNvPr>
          <p:cNvSpPr txBox="1"/>
          <p:nvPr/>
        </p:nvSpPr>
        <p:spPr>
          <a:xfrm>
            <a:off x="1850173" y="1754153"/>
            <a:ext cx="3110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Raw instruction cache output</a:t>
            </a:r>
            <a:endParaRPr lang="en-CA" dirty="0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65363119-AB2F-1D87-FF03-6872379676B1}"/>
              </a:ext>
            </a:extLst>
          </p:cNvPr>
          <p:cNvSpPr/>
          <p:nvPr/>
        </p:nvSpPr>
        <p:spPr>
          <a:xfrm>
            <a:off x="2333718" y="2232406"/>
            <a:ext cx="2143055" cy="31805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1024b</a:t>
            </a:r>
            <a:endParaRPr lang="en-CA" dirty="0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BD40131C-599A-B7F8-B65E-6D317ECE80A6}"/>
              </a:ext>
            </a:extLst>
          </p:cNvPr>
          <p:cNvSpPr/>
          <p:nvPr/>
        </p:nvSpPr>
        <p:spPr>
          <a:xfrm>
            <a:off x="2366696" y="2868510"/>
            <a:ext cx="2143055" cy="31805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1024b</a:t>
            </a:r>
            <a:endParaRPr lang="en-CA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05BEF7F3-C2E7-B393-61D1-56B5D079A9E8}"/>
              </a:ext>
            </a:extLst>
          </p:cNvPr>
          <p:cNvSpPr/>
          <p:nvPr/>
        </p:nvSpPr>
        <p:spPr>
          <a:xfrm>
            <a:off x="666311" y="2638804"/>
            <a:ext cx="870226" cy="1413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EEADDD-5211-5925-216B-A66FC96FCA2C}"/>
              </a:ext>
            </a:extLst>
          </p:cNvPr>
          <p:cNvSpPr txBox="1"/>
          <p:nvPr/>
        </p:nvSpPr>
        <p:spPr>
          <a:xfrm>
            <a:off x="330233" y="2456132"/>
            <a:ext cx="9701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Cache miss</a:t>
            </a:r>
            <a:endParaRPr lang="en-CA" sz="12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B734D53-D496-B931-1171-07BDEB374809}"/>
              </a:ext>
            </a:extLst>
          </p:cNvPr>
          <p:cNvCxnSpPr>
            <a:cxnSpLocks/>
          </p:cNvCxnSpPr>
          <p:nvPr/>
        </p:nvCxnSpPr>
        <p:spPr>
          <a:xfrm>
            <a:off x="666311" y="3181458"/>
            <a:ext cx="4951896" cy="510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A9BB289-6F5F-F9B1-18BE-10DC25BF7F3D}"/>
              </a:ext>
            </a:extLst>
          </p:cNvPr>
          <p:cNvSpPr txBox="1"/>
          <p:nvPr/>
        </p:nvSpPr>
        <p:spPr>
          <a:xfrm>
            <a:off x="4736201" y="2971238"/>
            <a:ext cx="12970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Pipeline Register</a:t>
            </a:r>
            <a:endParaRPr lang="en-CA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9180C8-07F1-767C-4F1A-AF0A912BE46F}"/>
              </a:ext>
            </a:extLst>
          </p:cNvPr>
          <p:cNvSpPr txBox="1"/>
          <p:nvPr/>
        </p:nvSpPr>
        <p:spPr>
          <a:xfrm>
            <a:off x="6210136" y="1721609"/>
            <a:ext cx="55605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primary function of the fetch stage is to register the instruction cache output which is unregistered.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there is a cache miss, NOPs are inserted into the pipeline.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Two 512-bit cache lines are fetched to allow instructions to span a cache line.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56507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Arrow: Right 29">
            <a:extLst>
              <a:ext uri="{FF2B5EF4-FFF2-40B4-BE49-F238E27FC236}">
                <a16:creationId xmlns:a16="http://schemas.microsoft.com/office/drawing/2014/main" id="{EC8FD731-006D-9392-BA7E-6C81F749273D}"/>
              </a:ext>
            </a:extLst>
          </p:cNvPr>
          <p:cNvSpPr/>
          <p:nvPr/>
        </p:nvSpPr>
        <p:spPr>
          <a:xfrm flipH="1">
            <a:off x="1139687" y="3645941"/>
            <a:ext cx="3265958" cy="956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9C157B-1C51-0E6E-C43E-CBBA43BA6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Qupls4: Instruction Extract Stage (*_mux)</a:t>
            </a:r>
            <a:endParaRPr lang="en-C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9E9027-BDD8-40F6-C371-8BC28F2C3BAD}"/>
              </a:ext>
            </a:extLst>
          </p:cNvPr>
          <p:cNvSpPr/>
          <p:nvPr/>
        </p:nvSpPr>
        <p:spPr>
          <a:xfrm>
            <a:off x="1870502" y="2465834"/>
            <a:ext cx="3236652" cy="3003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Instruction Aligner</a:t>
            </a:r>
            <a:endParaRPr lang="en-CA" sz="1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72087E-2142-B630-8F6A-5BC9C7EBB006}"/>
              </a:ext>
            </a:extLst>
          </p:cNvPr>
          <p:cNvSpPr txBox="1"/>
          <p:nvPr/>
        </p:nvSpPr>
        <p:spPr>
          <a:xfrm>
            <a:off x="298377" y="2467957"/>
            <a:ext cx="6383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PC</a:t>
            </a:r>
            <a:r>
              <a:rPr lang="en-US" sz="1100"/>
              <a:t>[5:1]</a:t>
            </a:r>
            <a:endParaRPr lang="en-CA" sz="1100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449EF98E-5C8D-4F68-896A-FA1451A87E8F}"/>
              </a:ext>
            </a:extLst>
          </p:cNvPr>
          <p:cNvSpPr/>
          <p:nvPr/>
        </p:nvSpPr>
        <p:spPr>
          <a:xfrm>
            <a:off x="1139687" y="2539459"/>
            <a:ext cx="712042" cy="1384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D2ED940B-FECC-5AFE-06CF-9E5B830F4097}"/>
              </a:ext>
            </a:extLst>
          </p:cNvPr>
          <p:cNvSpPr/>
          <p:nvPr/>
        </p:nvSpPr>
        <p:spPr>
          <a:xfrm>
            <a:off x="2154128" y="2096883"/>
            <a:ext cx="1943652" cy="36664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Cache line in 1024</a:t>
            </a:r>
            <a:endParaRPr lang="en-CA" sz="11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76668B-8EB3-48D2-42FF-7FC2CCF7F3E5}"/>
              </a:ext>
            </a:extLst>
          </p:cNvPr>
          <p:cNvSpPr/>
          <p:nvPr/>
        </p:nvSpPr>
        <p:spPr>
          <a:xfrm>
            <a:off x="4200293" y="3089302"/>
            <a:ext cx="583096" cy="3003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Extract</a:t>
            </a:r>
          </a:p>
          <a:p>
            <a:pPr algn="ctr"/>
            <a:r>
              <a:rPr lang="en-US" sz="1000" dirty="0"/>
              <a:t>Ins #0</a:t>
            </a:r>
            <a:endParaRPr lang="en-CA" sz="1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446022-A4BE-40D7-EABF-0A19BD6EA9F1}"/>
              </a:ext>
            </a:extLst>
          </p:cNvPr>
          <p:cNvSpPr/>
          <p:nvPr/>
        </p:nvSpPr>
        <p:spPr>
          <a:xfrm>
            <a:off x="3539893" y="3089299"/>
            <a:ext cx="583096" cy="3003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Extract</a:t>
            </a:r>
          </a:p>
          <a:p>
            <a:pPr algn="ctr"/>
            <a:r>
              <a:rPr lang="en-US" sz="1000" dirty="0"/>
              <a:t>Ins #1</a:t>
            </a:r>
            <a:endParaRPr lang="en-CA" sz="1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0499CB-1C4C-9C30-8C3D-35EC44909A91}"/>
              </a:ext>
            </a:extLst>
          </p:cNvPr>
          <p:cNvSpPr/>
          <p:nvPr/>
        </p:nvSpPr>
        <p:spPr>
          <a:xfrm>
            <a:off x="2879493" y="3089298"/>
            <a:ext cx="583096" cy="3003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Extract</a:t>
            </a:r>
          </a:p>
          <a:p>
            <a:pPr algn="ctr"/>
            <a:r>
              <a:rPr lang="en-US" sz="1000" dirty="0"/>
              <a:t>Ins #2</a:t>
            </a:r>
            <a:endParaRPr lang="en-CA" sz="1000" dirty="0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6F5C0FF4-A309-FD98-0F3D-7343E3539E19}"/>
              </a:ext>
            </a:extLst>
          </p:cNvPr>
          <p:cNvSpPr/>
          <p:nvPr/>
        </p:nvSpPr>
        <p:spPr>
          <a:xfrm>
            <a:off x="4181520" y="2771597"/>
            <a:ext cx="620642" cy="30038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48</a:t>
            </a:r>
            <a:endParaRPr lang="en-CA" sz="900" dirty="0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72840A09-4AC9-B5D4-618A-A9F35B8DDFDA}"/>
              </a:ext>
            </a:extLst>
          </p:cNvPr>
          <p:cNvSpPr/>
          <p:nvPr/>
        </p:nvSpPr>
        <p:spPr>
          <a:xfrm>
            <a:off x="3521120" y="2780834"/>
            <a:ext cx="620642" cy="30038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48</a:t>
            </a:r>
            <a:endParaRPr lang="en-CA" sz="900" dirty="0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F4F39427-84A3-4D39-9505-6877F7B36440}"/>
              </a:ext>
            </a:extLst>
          </p:cNvPr>
          <p:cNvSpPr/>
          <p:nvPr/>
        </p:nvSpPr>
        <p:spPr>
          <a:xfrm>
            <a:off x="2860720" y="2778599"/>
            <a:ext cx="620642" cy="30038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48</a:t>
            </a:r>
            <a:endParaRPr lang="en-CA" sz="9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444BF74-CFF6-951A-87EC-16B2A330A5A0}"/>
              </a:ext>
            </a:extLst>
          </p:cNvPr>
          <p:cNvSpPr/>
          <p:nvPr/>
        </p:nvSpPr>
        <p:spPr>
          <a:xfrm>
            <a:off x="4193668" y="3475819"/>
            <a:ext cx="620642" cy="4807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Branch Decode #0</a:t>
            </a:r>
            <a:endParaRPr lang="en-CA" sz="10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9928937-A9AD-DE98-8A49-0F15062A99DD}"/>
              </a:ext>
            </a:extLst>
          </p:cNvPr>
          <p:cNvSpPr/>
          <p:nvPr/>
        </p:nvSpPr>
        <p:spPr>
          <a:xfrm>
            <a:off x="3539893" y="3475818"/>
            <a:ext cx="620642" cy="4807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Branch Decode #1</a:t>
            </a:r>
            <a:endParaRPr lang="en-CA" sz="10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E55A60A-01AE-6211-2F8A-CA5112759DAE}"/>
              </a:ext>
            </a:extLst>
          </p:cNvPr>
          <p:cNvSpPr/>
          <p:nvPr/>
        </p:nvSpPr>
        <p:spPr>
          <a:xfrm>
            <a:off x="2877285" y="3475818"/>
            <a:ext cx="620642" cy="4807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Branch Decode #2</a:t>
            </a:r>
            <a:endParaRPr lang="en-CA" sz="1000" dirty="0"/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B215621A-79D3-2B7B-FC60-D55C0FCEA00D}"/>
              </a:ext>
            </a:extLst>
          </p:cNvPr>
          <p:cNvSpPr/>
          <p:nvPr/>
        </p:nvSpPr>
        <p:spPr>
          <a:xfrm>
            <a:off x="4181520" y="3956561"/>
            <a:ext cx="632790" cy="91371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48 + 240</a:t>
            </a:r>
          </a:p>
          <a:p>
            <a:pPr algn="ctr"/>
            <a:r>
              <a:rPr lang="en-US" sz="600" dirty="0"/>
              <a:t>raw</a:t>
            </a:r>
            <a:endParaRPr lang="en-CA" sz="600" dirty="0"/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DBFAFD0E-DD28-429F-60D4-DE976D8D29A4}"/>
              </a:ext>
            </a:extLst>
          </p:cNvPr>
          <p:cNvSpPr/>
          <p:nvPr/>
        </p:nvSpPr>
        <p:spPr>
          <a:xfrm>
            <a:off x="3539892" y="3960654"/>
            <a:ext cx="620642" cy="90320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48 + 240 raw</a:t>
            </a:r>
            <a:endParaRPr lang="en-CA" sz="600" dirty="0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2B30CE28-37BB-4E0F-2446-CA1F48B6C715}"/>
              </a:ext>
            </a:extLst>
          </p:cNvPr>
          <p:cNvSpPr/>
          <p:nvPr/>
        </p:nvSpPr>
        <p:spPr>
          <a:xfrm>
            <a:off x="2877285" y="3960654"/>
            <a:ext cx="620642" cy="91371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48 + 240 raw</a:t>
            </a:r>
            <a:endParaRPr lang="en-CA" sz="6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B10116E-5EA6-D599-32FD-6193DFFAC637}"/>
              </a:ext>
            </a:extLst>
          </p:cNvPr>
          <p:cNvSpPr txBox="1"/>
          <p:nvPr/>
        </p:nvSpPr>
        <p:spPr>
          <a:xfrm>
            <a:off x="33946" y="3581083"/>
            <a:ext cx="12200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To next PC logic</a:t>
            </a:r>
            <a:endParaRPr lang="en-CA" sz="12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FE648D1-A322-D6B7-E90B-0B7323D0D095}"/>
              </a:ext>
            </a:extLst>
          </p:cNvPr>
          <p:cNvSpPr txBox="1"/>
          <p:nvPr/>
        </p:nvSpPr>
        <p:spPr>
          <a:xfrm>
            <a:off x="2438819" y="5319072"/>
            <a:ext cx="3446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Four Instructions plus cache line to decode stage</a:t>
            </a:r>
            <a:endParaRPr lang="en-CA" sz="12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5067C78-238E-0C37-463C-051DD16AD52D}"/>
              </a:ext>
            </a:extLst>
          </p:cNvPr>
          <p:cNvSpPr txBox="1"/>
          <p:nvPr/>
        </p:nvSpPr>
        <p:spPr>
          <a:xfrm>
            <a:off x="5884891" y="1404385"/>
            <a:ext cx="521531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cache line is fed in and right aligned according to the PC value.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Four instructions are extracted from the right.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Branch instructions are decoded to feed the next PC logic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Both instructions and raw cache line data are passed to the decode stage.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Raw cache line data is to detect constant zones.</a:t>
            </a:r>
            <a:endParaRPr lang="en-CA" sz="1400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D3E1EAB-8C54-2C4D-CBE5-F4D132E74ADA}"/>
              </a:ext>
            </a:extLst>
          </p:cNvPr>
          <p:cNvCxnSpPr>
            <a:cxnSpLocks/>
          </p:cNvCxnSpPr>
          <p:nvPr/>
        </p:nvCxnSpPr>
        <p:spPr>
          <a:xfrm>
            <a:off x="788407" y="4885925"/>
            <a:ext cx="5833263" cy="718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78CEC9CD-987F-19C4-9645-8582CAB8B8E1}"/>
              </a:ext>
            </a:extLst>
          </p:cNvPr>
          <p:cNvSpPr txBox="1"/>
          <p:nvPr/>
        </p:nvSpPr>
        <p:spPr>
          <a:xfrm>
            <a:off x="5381041" y="4608926"/>
            <a:ext cx="12970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Pipeline Register</a:t>
            </a:r>
            <a:endParaRPr lang="en-CA" sz="12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3CE8FF0-7A85-E9A2-3D8D-2E0A8C026A36}"/>
              </a:ext>
            </a:extLst>
          </p:cNvPr>
          <p:cNvSpPr txBox="1"/>
          <p:nvPr/>
        </p:nvSpPr>
        <p:spPr>
          <a:xfrm>
            <a:off x="1412265" y="1755227"/>
            <a:ext cx="34649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1024b cache  line pair from instruction fetch stage</a:t>
            </a:r>
            <a:endParaRPr lang="en-CA" sz="1200" dirty="0"/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6BEEB1B9-7B1F-13BE-10C6-585A270710C2}"/>
              </a:ext>
            </a:extLst>
          </p:cNvPr>
          <p:cNvSpPr/>
          <p:nvPr/>
        </p:nvSpPr>
        <p:spPr>
          <a:xfrm>
            <a:off x="2200320" y="2778598"/>
            <a:ext cx="620642" cy="30038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48</a:t>
            </a:r>
            <a:endParaRPr lang="en-CA" sz="90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5A87727-E716-AAA1-E489-9C1DA738B6D5}"/>
              </a:ext>
            </a:extLst>
          </p:cNvPr>
          <p:cNvSpPr/>
          <p:nvPr/>
        </p:nvSpPr>
        <p:spPr>
          <a:xfrm>
            <a:off x="2237866" y="3090229"/>
            <a:ext cx="583096" cy="3003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Extract</a:t>
            </a:r>
          </a:p>
          <a:p>
            <a:pPr algn="ctr"/>
            <a:r>
              <a:rPr lang="en-US" sz="1000" dirty="0"/>
              <a:t>Ins #3</a:t>
            </a:r>
            <a:endParaRPr lang="en-CA" sz="100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345E55C-95CE-16C5-C38E-EFE57BA529CA}"/>
              </a:ext>
            </a:extLst>
          </p:cNvPr>
          <p:cNvSpPr/>
          <p:nvPr/>
        </p:nvSpPr>
        <p:spPr>
          <a:xfrm>
            <a:off x="2212011" y="3449754"/>
            <a:ext cx="620642" cy="4807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Branch Decode #3</a:t>
            </a:r>
            <a:endParaRPr lang="en-CA" sz="1000" dirty="0"/>
          </a:p>
        </p:txBody>
      </p:sp>
      <p:sp>
        <p:nvSpPr>
          <p:cNvPr id="47" name="Arrow: Down 46">
            <a:extLst>
              <a:ext uri="{FF2B5EF4-FFF2-40B4-BE49-F238E27FC236}">
                <a16:creationId xmlns:a16="http://schemas.microsoft.com/office/drawing/2014/main" id="{FDB2C585-DCB8-330F-C09D-48F6756F9307}"/>
              </a:ext>
            </a:extLst>
          </p:cNvPr>
          <p:cNvSpPr/>
          <p:nvPr/>
        </p:nvSpPr>
        <p:spPr>
          <a:xfrm>
            <a:off x="2193692" y="3950138"/>
            <a:ext cx="620642" cy="91371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48 + 240 raw</a:t>
            </a:r>
            <a:endParaRPr lang="en-CA" sz="600" dirty="0"/>
          </a:p>
        </p:txBody>
      </p:sp>
    </p:spTree>
    <p:extLst>
      <p:ext uri="{BB962C8B-B14F-4D97-AF65-F5344CB8AC3E}">
        <p14:creationId xmlns:p14="http://schemas.microsoft.com/office/powerpoint/2010/main" val="2650679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B9395-D48D-D2C9-3B68-4D26BC937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35" y="18255"/>
            <a:ext cx="10515600" cy="1325563"/>
          </a:xfrm>
        </p:spPr>
        <p:txBody>
          <a:bodyPr/>
          <a:lstStyle/>
          <a:p>
            <a:r>
              <a:rPr lang="en-US" dirty="0"/>
              <a:t>Qupls4: Decode Stage (*_dec)</a:t>
            </a:r>
            <a:endParaRPr lang="en-C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521FF0-16AA-8A4C-5185-A6BE8CA2AF64}"/>
              </a:ext>
            </a:extLst>
          </p:cNvPr>
          <p:cNvSpPr/>
          <p:nvPr/>
        </p:nvSpPr>
        <p:spPr>
          <a:xfrm>
            <a:off x="5430145" y="3346995"/>
            <a:ext cx="602974" cy="2429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µop 0</a:t>
            </a:r>
            <a:endParaRPr lang="en-CA" sz="1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AB3B1D-1078-99ED-30C9-DFBCF4E3CC21}"/>
              </a:ext>
            </a:extLst>
          </p:cNvPr>
          <p:cNvSpPr/>
          <p:nvPr/>
        </p:nvSpPr>
        <p:spPr>
          <a:xfrm>
            <a:off x="4810627" y="3346995"/>
            <a:ext cx="602974" cy="2429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µop 1</a:t>
            </a:r>
            <a:endParaRPr lang="en-CA" sz="1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2AFF2E-C847-9432-5A43-1B06D005C39B}"/>
              </a:ext>
            </a:extLst>
          </p:cNvPr>
          <p:cNvSpPr/>
          <p:nvPr/>
        </p:nvSpPr>
        <p:spPr>
          <a:xfrm>
            <a:off x="1072389" y="3352801"/>
            <a:ext cx="602974" cy="2429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µop 31</a:t>
            </a:r>
            <a:endParaRPr lang="en-CA" sz="1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46EF95-477A-2994-C3AB-36A8ABE4781F}"/>
              </a:ext>
            </a:extLst>
          </p:cNvPr>
          <p:cNvSpPr/>
          <p:nvPr/>
        </p:nvSpPr>
        <p:spPr>
          <a:xfrm>
            <a:off x="1688614" y="3352801"/>
            <a:ext cx="602974" cy="2429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µop 30</a:t>
            </a:r>
            <a:endParaRPr lang="en-CA" sz="100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2FC212D-082A-DD72-F557-EFDFDD7E81AE}"/>
              </a:ext>
            </a:extLst>
          </p:cNvPr>
          <p:cNvCxnSpPr>
            <a:stCxn id="7" idx="3"/>
            <a:endCxn id="5" idx="1"/>
          </p:cNvCxnSpPr>
          <p:nvPr/>
        </p:nvCxnSpPr>
        <p:spPr>
          <a:xfrm flipV="1">
            <a:off x="2291588" y="3468473"/>
            <a:ext cx="2519039" cy="5806"/>
          </a:xfrm>
          <a:prstGeom prst="line">
            <a:avLst/>
          </a:prstGeom>
          <a:ln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8E2CCC9A-50A2-4505-C9BD-E02C96FA3D21}"/>
              </a:ext>
            </a:extLst>
          </p:cNvPr>
          <p:cNvSpPr/>
          <p:nvPr/>
        </p:nvSpPr>
        <p:spPr>
          <a:xfrm>
            <a:off x="922477" y="3021262"/>
            <a:ext cx="5356905" cy="803965"/>
          </a:xfrm>
          <a:prstGeom prst="rect">
            <a:avLst/>
          </a:prstGeom>
          <a:solidFill>
            <a:schemeClr val="accent1">
              <a:alpha val="37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µop Buffer</a:t>
            </a:r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8B25F58-38F6-83C5-4F48-A2B549834C2D}"/>
              </a:ext>
            </a:extLst>
          </p:cNvPr>
          <p:cNvSpPr/>
          <p:nvPr/>
        </p:nvSpPr>
        <p:spPr>
          <a:xfrm>
            <a:off x="2976934" y="2174847"/>
            <a:ext cx="1055758" cy="384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ISA Instruction To µop map</a:t>
            </a:r>
            <a:endParaRPr lang="en-CA" sz="10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37A4C80-2BCC-3C11-C923-3C4DAB8C4306}"/>
              </a:ext>
            </a:extLst>
          </p:cNvPr>
          <p:cNvSpPr/>
          <p:nvPr/>
        </p:nvSpPr>
        <p:spPr>
          <a:xfrm>
            <a:off x="4101351" y="2180850"/>
            <a:ext cx="1055758" cy="384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ISA Instruction To µop map</a:t>
            </a:r>
            <a:endParaRPr lang="en-CA" sz="10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021077F-E5D9-F73E-DB1C-EEC6A67D0F78}"/>
              </a:ext>
            </a:extLst>
          </p:cNvPr>
          <p:cNvSpPr/>
          <p:nvPr/>
        </p:nvSpPr>
        <p:spPr>
          <a:xfrm>
            <a:off x="5235490" y="2174846"/>
            <a:ext cx="1055758" cy="384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ISA Instruction To µop map</a:t>
            </a:r>
            <a:endParaRPr lang="en-CA" sz="1000" dirty="0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57DAD130-1EBA-D481-F1A5-B3A938F02835}"/>
              </a:ext>
            </a:extLst>
          </p:cNvPr>
          <p:cNvSpPr/>
          <p:nvPr/>
        </p:nvSpPr>
        <p:spPr>
          <a:xfrm>
            <a:off x="3064522" y="2568041"/>
            <a:ext cx="880165" cy="45609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8 max</a:t>
            </a:r>
            <a:endParaRPr lang="en-CA" sz="1000" dirty="0"/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50CA5ED3-322C-7559-35C4-043568DD8612}"/>
              </a:ext>
            </a:extLst>
          </p:cNvPr>
          <p:cNvSpPr/>
          <p:nvPr/>
        </p:nvSpPr>
        <p:spPr>
          <a:xfrm>
            <a:off x="4206153" y="2572336"/>
            <a:ext cx="880165" cy="45609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8 max</a:t>
            </a:r>
            <a:endParaRPr lang="en-CA" sz="1000" dirty="0"/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A8A5A8C7-2086-0573-E87A-438924545018}"/>
              </a:ext>
            </a:extLst>
          </p:cNvPr>
          <p:cNvSpPr/>
          <p:nvPr/>
        </p:nvSpPr>
        <p:spPr>
          <a:xfrm>
            <a:off x="5331262" y="2560612"/>
            <a:ext cx="880165" cy="45609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8 max</a:t>
            </a:r>
            <a:endParaRPr lang="en-CA" sz="10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C036E97-6A6E-91A6-00FA-5A0CA58B6258}"/>
              </a:ext>
            </a:extLst>
          </p:cNvPr>
          <p:cNvSpPr/>
          <p:nvPr/>
        </p:nvSpPr>
        <p:spPr>
          <a:xfrm>
            <a:off x="5016016" y="4209775"/>
            <a:ext cx="828260" cy="384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µop</a:t>
            </a:r>
          </a:p>
          <a:p>
            <a:pPr algn="ctr"/>
            <a:r>
              <a:rPr lang="en-US" sz="1000" dirty="0"/>
              <a:t>Decoder</a:t>
            </a:r>
            <a:endParaRPr lang="en-CA" sz="10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59D117E-4CA7-3EB2-4D18-F030347E7E1D}"/>
              </a:ext>
            </a:extLst>
          </p:cNvPr>
          <p:cNvSpPr/>
          <p:nvPr/>
        </p:nvSpPr>
        <p:spPr>
          <a:xfrm>
            <a:off x="4112660" y="4209774"/>
            <a:ext cx="828260" cy="384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µop Decoder</a:t>
            </a:r>
            <a:endParaRPr lang="en-CA" sz="10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AB56C27-13CD-C453-B21B-1441EA8F9B66}"/>
              </a:ext>
            </a:extLst>
          </p:cNvPr>
          <p:cNvSpPr/>
          <p:nvPr/>
        </p:nvSpPr>
        <p:spPr>
          <a:xfrm>
            <a:off x="3212620" y="4209773"/>
            <a:ext cx="828260" cy="384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µop Decoder</a:t>
            </a:r>
            <a:endParaRPr lang="en-CA" sz="1000" dirty="0"/>
          </a:p>
        </p:txBody>
      </p:sp>
      <p:sp>
        <p:nvSpPr>
          <p:cNvPr id="30" name="Arrow: Down 29">
            <a:extLst>
              <a:ext uri="{FF2B5EF4-FFF2-40B4-BE49-F238E27FC236}">
                <a16:creationId xmlns:a16="http://schemas.microsoft.com/office/drawing/2014/main" id="{28FD4ACE-E61A-FB57-8942-C9CC134B29B5}"/>
              </a:ext>
            </a:extLst>
          </p:cNvPr>
          <p:cNvSpPr/>
          <p:nvPr/>
        </p:nvSpPr>
        <p:spPr>
          <a:xfrm>
            <a:off x="5094424" y="3830980"/>
            <a:ext cx="671444" cy="37879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31" name="Arrow: Down 30">
            <a:extLst>
              <a:ext uri="{FF2B5EF4-FFF2-40B4-BE49-F238E27FC236}">
                <a16:creationId xmlns:a16="http://schemas.microsoft.com/office/drawing/2014/main" id="{8EB2289B-AE34-9E99-3CC6-12D783C305CB}"/>
              </a:ext>
            </a:extLst>
          </p:cNvPr>
          <p:cNvSpPr/>
          <p:nvPr/>
        </p:nvSpPr>
        <p:spPr>
          <a:xfrm>
            <a:off x="4191068" y="3830980"/>
            <a:ext cx="671444" cy="37879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32" name="Arrow: Down 31">
            <a:extLst>
              <a:ext uri="{FF2B5EF4-FFF2-40B4-BE49-F238E27FC236}">
                <a16:creationId xmlns:a16="http://schemas.microsoft.com/office/drawing/2014/main" id="{E53DA602-1E6E-0D37-E743-3B75023AF73F}"/>
              </a:ext>
            </a:extLst>
          </p:cNvPr>
          <p:cNvSpPr/>
          <p:nvPr/>
        </p:nvSpPr>
        <p:spPr>
          <a:xfrm>
            <a:off x="3287712" y="3830980"/>
            <a:ext cx="671444" cy="37879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35" name="Arrow: Down 34">
            <a:extLst>
              <a:ext uri="{FF2B5EF4-FFF2-40B4-BE49-F238E27FC236}">
                <a16:creationId xmlns:a16="http://schemas.microsoft.com/office/drawing/2014/main" id="{8E88E834-F2D0-8CBB-4152-1AD564EECC86}"/>
              </a:ext>
            </a:extLst>
          </p:cNvPr>
          <p:cNvSpPr/>
          <p:nvPr/>
        </p:nvSpPr>
        <p:spPr>
          <a:xfrm>
            <a:off x="3151772" y="1661110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36" name="Arrow: Down 35">
            <a:extLst>
              <a:ext uri="{FF2B5EF4-FFF2-40B4-BE49-F238E27FC236}">
                <a16:creationId xmlns:a16="http://schemas.microsoft.com/office/drawing/2014/main" id="{500454C3-33B4-2D69-4E9E-1E9A00CFD8D0}"/>
              </a:ext>
            </a:extLst>
          </p:cNvPr>
          <p:cNvSpPr/>
          <p:nvPr/>
        </p:nvSpPr>
        <p:spPr>
          <a:xfrm>
            <a:off x="4278536" y="1661110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37" name="Arrow: Down 36">
            <a:extLst>
              <a:ext uri="{FF2B5EF4-FFF2-40B4-BE49-F238E27FC236}">
                <a16:creationId xmlns:a16="http://schemas.microsoft.com/office/drawing/2014/main" id="{C0945E42-19F8-4A70-3D8A-3A2C77D87313}"/>
              </a:ext>
            </a:extLst>
          </p:cNvPr>
          <p:cNvSpPr/>
          <p:nvPr/>
        </p:nvSpPr>
        <p:spPr>
          <a:xfrm>
            <a:off x="5413601" y="1654204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011F6C4-3F05-4093-DF1A-05D8225E0985}"/>
              </a:ext>
            </a:extLst>
          </p:cNvPr>
          <p:cNvSpPr txBox="1"/>
          <p:nvPr/>
        </p:nvSpPr>
        <p:spPr>
          <a:xfrm>
            <a:off x="1462221" y="1245586"/>
            <a:ext cx="3734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Four instructions from Extract Stage</a:t>
            </a:r>
            <a:endParaRPr lang="en-CA" dirty="0"/>
          </a:p>
        </p:txBody>
      </p:sp>
      <p:sp>
        <p:nvSpPr>
          <p:cNvPr id="40" name="Arrow: Down 39">
            <a:extLst>
              <a:ext uri="{FF2B5EF4-FFF2-40B4-BE49-F238E27FC236}">
                <a16:creationId xmlns:a16="http://schemas.microsoft.com/office/drawing/2014/main" id="{5D206A29-C880-3014-024D-37528635716B}"/>
              </a:ext>
            </a:extLst>
          </p:cNvPr>
          <p:cNvSpPr/>
          <p:nvPr/>
        </p:nvSpPr>
        <p:spPr>
          <a:xfrm>
            <a:off x="3308692" y="4588562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41" name="Arrow: Down 40">
            <a:extLst>
              <a:ext uri="{FF2B5EF4-FFF2-40B4-BE49-F238E27FC236}">
                <a16:creationId xmlns:a16="http://schemas.microsoft.com/office/drawing/2014/main" id="{88EB1D7B-9441-432D-DDC9-5420CB809BB7}"/>
              </a:ext>
            </a:extLst>
          </p:cNvPr>
          <p:cNvSpPr/>
          <p:nvPr/>
        </p:nvSpPr>
        <p:spPr>
          <a:xfrm>
            <a:off x="4193915" y="4593145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42" name="Arrow: Down 41">
            <a:extLst>
              <a:ext uri="{FF2B5EF4-FFF2-40B4-BE49-F238E27FC236}">
                <a16:creationId xmlns:a16="http://schemas.microsoft.com/office/drawing/2014/main" id="{EE3858D5-56C8-D169-924B-EBFBE71AA31C}"/>
              </a:ext>
            </a:extLst>
          </p:cNvPr>
          <p:cNvSpPr/>
          <p:nvPr/>
        </p:nvSpPr>
        <p:spPr>
          <a:xfrm>
            <a:off x="5088946" y="4588562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E2C7DB7-1FAD-B106-9935-8AE626DD9E8A}"/>
              </a:ext>
            </a:extLst>
          </p:cNvPr>
          <p:cNvSpPr txBox="1"/>
          <p:nvPr/>
        </p:nvSpPr>
        <p:spPr>
          <a:xfrm>
            <a:off x="2186762" y="5093418"/>
            <a:ext cx="39274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Four decode busses to Rename Stage</a:t>
            </a:r>
            <a:endParaRPr lang="en-CA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D129218-44F0-AFD7-A77E-D2949684502A}"/>
              </a:ext>
            </a:extLst>
          </p:cNvPr>
          <p:cNvSpPr txBox="1"/>
          <p:nvPr/>
        </p:nvSpPr>
        <p:spPr>
          <a:xfrm>
            <a:off x="6248591" y="1614918"/>
            <a:ext cx="576199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Every clock cycle four micro-ops are decoded and sent to the rename stage.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micro-op buffer is shifted right by four micro-ops. When the buffer has four or fewer micro-ops left in it, a request is made to the extract stage for more instructions.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Incoming instructions are mapped very quickly onto one to eight micro-ops.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Micro-ops are stored in the buffer; between four and thirty-two micro-ops will fill the buffer.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Micro-ops are packed as they are stored in the buffer so there are no “holes”.</a:t>
            </a:r>
            <a:endParaRPr lang="en-CA" dirty="0"/>
          </a:p>
        </p:txBody>
      </p:sp>
      <p:sp>
        <p:nvSpPr>
          <p:cNvPr id="45" name="Arrow: Bent-Up 44">
            <a:extLst>
              <a:ext uri="{FF2B5EF4-FFF2-40B4-BE49-F238E27FC236}">
                <a16:creationId xmlns:a16="http://schemas.microsoft.com/office/drawing/2014/main" id="{2CE723E4-9607-4DCE-9A39-21A48CCB278A}"/>
              </a:ext>
            </a:extLst>
          </p:cNvPr>
          <p:cNvSpPr/>
          <p:nvPr/>
        </p:nvSpPr>
        <p:spPr>
          <a:xfrm flipH="1">
            <a:off x="482429" y="1640513"/>
            <a:ext cx="440045" cy="1860807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7E9BD94-01FF-2408-B713-1605D4AE6EE5}"/>
              </a:ext>
            </a:extLst>
          </p:cNvPr>
          <p:cNvSpPr txBox="1"/>
          <p:nvPr/>
        </p:nvSpPr>
        <p:spPr>
          <a:xfrm>
            <a:off x="251890" y="1264197"/>
            <a:ext cx="8711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Instruction Request</a:t>
            </a:r>
            <a:endParaRPr lang="en-CA" sz="1000" dirty="0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F458A2C-37D6-CBDA-6D34-AC5227237AA2}"/>
              </a:ext>
            </a:extLst>
          </p:cNvPr>
          <p:cNvCxnSpPr>
            <a:cxnSpLocks/>
          </p:cNvCxnSpPr>
          <p:nvPr/>
        </p:nvCxnSpPr>
        <p:spPr>
          <a:xfrm>
            <a:off x="699248" y="5085331"/>
            <a:ext cx="5244353" cy="2127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F7A2CB9A-6489-5872-503C-6BE8C8D7D1B7}"/>
              </a:ext>
            </a:extLst>
          </p:cNvPr>
          <p:cNvSpPr txBox="1"/>
          <p:nvPr/>
        </p:nvSpPr>
        <p:spPr>
          <a:xfrm>
            <a:off x="447787" y="4829602"/>
            <a:ext cx="1297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Pipeline Register</a:t>
            </a:r>
            <a:endParaRPr lang="en-CA" sz="1200" dirty="0"/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1C99CBB6-2A2D-F548-B0CB-76D152B61BEF}"/>
              </a:ext>
            </a:extLst>
          </p:cNvPr>
          <p:cNvSpPr/>
          <p:nvPr/>
        </p:nvSpPr>
        <p:spPr>
          <a:xfrm>
            <a:off x="2377645" y="3836501"/>
            <a:ext cx="671444" cy="37879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E55B2F-F886-D360-2A28-E02105DB82B2}"/>
              </a:ext>
            </a:extLst>
          </p:cNvPr>
          <p:cNvSpPr/>
          <p:nvPr/>
        </p:nvSpPr>
        <p:spPr>
          <a:xfrm>
            <a:off x="2309836" y="4218959"/>
            <a:ext cx="828260" cy="384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µop Decoder</a:t>
            </a:r>
            <a:endParaRPr lang="en-CA" sz="1000" dirty="0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78A1C8BD-019C-4B6E-8163-4823757689DC}"/>
              </a:ext>
            </a:extLst>
          </p:cNvPr>
          <p:cNvSpPr/>
          <p:nvPr/>
        </p:nvSpPr>
        <p:spPr>
          <a:xfrm>
            <a:off x="2393898" y="4607498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74FD05-F8BC-B23B-4D15-A392433EF47C}"/>
              </a:ext>
            </a:extLst>
          </p:cNvPr>
          <p:cNvSpPr/>
          <p:nvPr/>
        </p:nvSpPr>
        <p:spPr>
          <a:xfrm>
            <a:off x="1854101" y="2177301"/>
            <a:ext cx="1055758" cy="384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ISA Instruction To µop map</a:t>
            </a:r>
            <a:endParaRPr lang="en-CA" sz="1000" dirty="0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D4B7D24E-7521-1BB3-73FE-FF986C506178}"/>
              </a:ext>
            </a:extLst>
          </p:cNvPr>
          <p:cNvSpPr/>
          <p:nvPr/>
        </p:nvSpPr>
        <p:spPr>
          <a:xfrm>
            <a:off x="1916718" y="2560843"/>
            <a:ext cx="880165" cy="45609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8 max</a:t>
            </a:r>
            <a:endParaRPr lang="en-CA" sz="1000" dirty="0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B716BC00-0FF1-C3E5-C4EF-900E736199DB}"/>
              </a:ext>
            </a:extLst>
          </p:cNvPr>
          <p:cNvSpPr/>
          <p:nvPr/>
        </p:nvSpPr>
        <p:spPr>
          <a:xfrm>
            <a:off x="2009901" y="1654204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</p:spTree>
    <p:extLst>
      <p:ext uri="{BB962C8B-B14F-4D97-AF65-F5344CB8AC3E}">
        <p14:creationId xmlns:p14="http://schemas.microsoft.com/office/powerpoint/2010/main" val="2594290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E7671-DA3D-5C66-D0DC-22B672A22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Qupls4: Decode Stage (more)</a:t>
            </a:r>
            <a:endParaRPr lang="en-C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4AD4A4-17BF-2703-AB80-4C6C1AAA3027}"/>
              </a:ext>
            </a:extLst>
          </p:cNvPr>
          <p:cNvSpPr/>
          <p:nvPr/>
        </p:nvSpPr>
        <p:spPr>
          <a:xfrm>
            <a:off x="5370512" y="2442817"/>
            <a:ext cx="602974" cy="2429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µop 0</a:t>
            </a:r>
            <a:endParaRPr lang="en-CA" sz="1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F24EA5-DFAE-FB83-6A50-D69CF1C2B5C9}"/>
              </a:ext>
            </a:extLst>
          </p:cNvPr>
          <p:cNvSpPr/>
          <p:nvPr/>
        </p:nvSpPr>
        <p:spPr>
          <a:xfrm>
            <a:off x="4754287" y="2442817"/>
            <a:ext cx="602974" cy="2429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µop 1</a:t>
            </a:r>
            <a:endParaRPr lang="en-CA" sz="1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7E7B95-30A7-75E7-609B-7E49FA75F5AE}"/>
              </a:ext>
            </a:extLst>
          </p:cNvPr>
          <p:cNvSpPr/>
          <p:nvPr/>
        </p:nvSpPr>
        <p:spPr>
          <a:xfrm>
            <a:off x="1394860" y="2442817"/>
            <a:ext cx="602974" cy="2429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µop 31</a:t>
            </a:r>
            <a:endParaRPr lang="en-CA" sz="1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7BB0F3-B210-B42C-7680-42C0E660F87F}"/>
              </a:ext>
            </a:extLst>
          </p:cNvPr>
          <p:cNvSpPr/>
          <p:nvPr/>
        </p:nvSpPr>
        <p:spPr>
          <a:xfrm>
            <a:off x="2011085" y="2442817"/>
            <a:ext cx="602974" cy="2429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µop 30</a:t>
            </a:r>
            <a:endParaRPr lang="en-CA" sz="100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9E68FD5-C5F9-6F14-44AD-C6A022421526}"/>
              </a:ext>
            </a:extLst>
          </p:cNvPr>
          <p:cNvCxnSpPr>
            <a:stCxn id="7" idx="3"/>
            <a:endCxn id="5" idx="1"/>
          </p:cNvCxnSpPr>
          <p:nvPr/>
        </p:nvCxnSpPr>
        <p:spPr>
          <a:xfrm>
            <a:off x="2614059" y="2564295"/>
            <a:ext cx="2140228" cy="0"/>
          </a:xfrm>
          <a:prstGeom prst="line">
            <a:avLst/>
          </a:prstGeom>
          <a:ln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14B384DD-9D81-9F38-26B7-8F5F8B7F8585}"/>
              </a:ext>
            </a:extLst>
          </p:cNvPr>
          <p:cNvSpPr/>
          <p:nvPr/>
        </p:nvSpPr>
        <p:spPr>
          <a:xfrm>
            <a:off x="1229206" y="2116326"/>
            <a:ext cx="4909933" cy="803965"/>
          </a:xfrm>
          <a:prstGeom prst="rect">
            <a:avLst/>
          </a:prstGeom>
          <a:solidFill>
            <a:schemeClr val="accent1">
              <a:alpha val="37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µop Buffer</a:t>
            </a:r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AC6772-5CAE-D455-76B9-125EBA8890A0}"/>
              </a:ext>
            </a:extLst>
          </p:cNvPr>
          <p:cNvSpPr/>
          <p:nvPr/>
        </p:nvSpPr>
        <p:spPr>
          <a:xfrm>
            <a:off x="5338487" y="3299791"/>
            <a:ext cx="828260" cy="384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Constant</a:t>
            </a:r>
          </a:p>
          <a:p>
            <a:pPr algn="ctr"/>
            <a:r>
              <a:rPr lang="en-US" sz="1000" dirty="0"/>
              <a:t>Decoder</a:t>
            </a:r>
            <a:endParaRPr lang="en-CA" sz="1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66567A-F74A-5D9D-884D-C2834A78E3C1}"/>
              </a:ext>
            </a:extLst>
          </p:cNvPr>
          <p:cNvSpPr/>
          <p:nvPr/>
        </p:nvSpPr>
        <p:spPr>
          <a:xfrm>
            <a:off x="4435131" y="3299790"/>
            <a:ext cx="828260" cy="384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Constant Decoder</a:t>
            </a:r>
            <a:endParaRPr lang="en-CA" sz="1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C8B6FA-7594-683E-4007-B926AA8E9AF7}"/>
              </a:ext>
            </a:extLst>
          </p:cNvPr>
          <p:cNvSpPr/>
          <p:nvPr/>
        </p:nvSpPr>
        <p:spPr>
          <a:xfrm>
            <a:off x="3535091" y="3299789"/>
            <a:ext cx="828260" cy="384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Constant Decoder</a:t>
            </a:r>
            <a:endParaRPr lang="en-CA" sz="1000" dirty="0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2B24E940-0B48-B6F9-43EE-ACD39C492235}"/>
              </a:ext>
            </a:extLst>
          </p:cNvPr>
          <p:cNvSpPr/>
          <p:nvPr/>
        </p:nvSpPr>
        <p:spPr>
          <a:xfrm>
            <a:off x="5416895" y="2920996"/>
            <a:ext cx="671444" cy="37879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3A842CB9-063C-921F-FDA3-3CF2596102FF}"/>
              </a:ext>
            </a:extLst>
          </p:cNvPr>
          <p:cNvSpPr/>
          <p:nvPr/>
        </p:nvSpPr>
        <p:spPr>
          <a:xfrm>
            <a:off x="4513539" y="2920996"/>
            <a:ext cx="671444" cy="37879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772DF459-39E8-C005-6FD2-D052727A0B36}"/>
              </a:ext>
            </a:extLst>
          </p:cNvPr>
          <p:cNvSpPr/>
          <p:nvPr/>
        </p:nvSpPr>
        <p:spPr>
          <a:xfrm>
            <a:off x="3610183" y="2920996"/>
            <a:ext cx="671444" cy="37879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6764D332-B889-AF93-14C7-5BC631FE0D2D}"/>
              </a:ext>
            </a:extLst>
          </p:cNvPr>
          <p:cNvSpPr/>
          <p:nvPr/>
        </p:nvSpPr>
        <p:spPr>
          <a:xfrm>
            <a:off x="3631163" y="3678578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3</a:t>
            </a:r>
            <a:endParaRPr lang="en-CA" sz="1000" dirty="0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BCB05E56-0A5C-3EB0-890A-604E7BC1B2F4}"/>
              </a:ext>
            </a:extLst>
          </p:cNvPr>
          <p:cNvSpPr/>
          <p:nvPr/>
        </p:nvSpPr>
        <p:spPr>
          <a:xfrm>
            <a:off x="4516386" y="3683161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3</a:t>
            </a:r>
            <a:endParaRPr lang="en-CA" sz="1000" dirty="0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7DC7C2C0-1EEB-76FA-DAB3-351C6C3A3840}"/>
              </a:ext>
            </a:extLst>
          </p:cNvPr>
          <p:cNvSpPr/>
          <p:nvPr/>
        </p:nvSpPr>
        <p:spPr>
          <a:xfrm>
            <a:off x="5411417" y="3678578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3</a:t>
            </a:r>
            <a:endParaRPr lang="en-CA" sz="1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BD60F5D-0A1C-F533-8A90-2EA3F585F33B}"/>
              </a:ext>
            </a:extLst>
          </p:cNvPr>
          <p:cNvSpPr txBox="1"/>
          <p:nvPr/>
        </p:nvSpPr>
        <p:spPr>
          <a:xfrm>
            <a:off x="2509233" y="4183434"/>
            <a:ext cx="3630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Twelve constants to Rename Stage</a:t>
            </a:r>
            <a:endParaRPr lang="en-CA" dirty="0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7D89D6E8-8402-28E1-B2C1-45D30B4E48D0}"/>
              </a:ext>
            </a:extLst>
          </p:cNvPr>
          <p:cNvSpPr/>
          <p:nvPr/>
        </p:nvSpPr>
        <p:spPr>
          <a:xfrm>
            <a:off x="1289879" y="3331881"/>
            <a:ext cx="1324180" cy="30480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355F8F2-3C54-61B6-A69B-0BD7ED6565C5}"/>
              </a:ext>
            </a:extLst>
          </p:cNvPr>
          <p:cNvSpPr txBox="1"/>
          <p:nvPr/>
        </p:nvSpPr>
        <p:spPr>
          <a:xfrm>
            <a:off x="46708" y="3060483"/>
            <a:ext cx="27944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Cache line from decode (512 bits)</a:t>
            </a:r>
            <a:endParaRPr lang="en-CA" sz="1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BA53338-E8D4-C04A-D5CE-71EE6678BA98}"/>
              </a:ext>
            </a:extLst>
          </p:cNvPr>
          <p:cNvSpPr txBox="1"/>
          <p:nvPr/>
        </p:nvSpPr>
        <p:spPr>
          <a:xfrm>
            <a:off x="6519485" y="1796903"/>
            <a:ext cx="53677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Indexes to cache line constants are decoded from the micro-ops and the cache line.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 may be three cache line constants per micro-op.</a:t>
            </a:r>
            <a:endParaRPr lang="en-CA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546485E-E911-C3C8-8592-D1C3A1AE9D55}"/>
              </a:ext>
            </a:extLst>
          </p:cNvPr>
          <p:cNvCxnSpPr>
            <a:cxnSpLocks/>
          </p:cNvCxnSpPr>
          <p:nvPr/>
        </p:nvCxnSpPr>
        <p:spPr>
          <a:xfrm>
            <a:off x="982470" y="4172797"/>
            <a:ext cx="5244353" cy="2127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879055E-A3B6-33BB-6AA1-1E14C0F80EF3}"/>
              </a:ext>
            </a:extLst>
          </p:cNvPr>
          <p:cNvSpPr txBox="1"/>
          <p:nvPr/>
        </p:nvSpPr>
        <p:spPr>
          <a:xfrm>
            <a:off x="731009" y="3917068"/>
            <a:ext cx="1297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Pipeline Register</a:t>
            </a:r>
            <a:endParaRPr lang="en-CA" sz="12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BED6292-BB18-2FAE-6D6C-93BDEAE38338}"/>
              </a:ext>
            </a:extLst>
          </p:cNvPr>
          <p:cNvSpPr/>
          <p:nvPr/>
        </p:nvSpPr>
        <p:spPr>
          <a:xfrm>
            <a:off x="9834545" y="3902318"/>
            <a:ext cx="828260" cy="384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µop Rd</a:t>
            </a:r>
          </a:p>
          <a:p>
            <a:pPr algn="ctr"/>
            <a:r>
              <a:rPr lang="en-US" sz="1000" dirty="0"/>
              <a:t>Decoder</a:t>
            </a:r>
            <a:endParaRPr lang="en-CA" sz="10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ADBB742-49D9-B694-015D-E5AD3D66E5EF}"/>
              </a:ext>
            </a:extLst>
          </p:cNvPr>
          <p:cNvSpPr/>
          <p:nvPr/>
        </p:nvSpPr>
        <p:spPr>
          <a:xfrm>
            <a:off x="8931189" y="3902317"/>
            <a:ext cx="828260" cy="384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µop Rd Decoder</a:t>
            </a:r>
            <a:endParaRPr lang="en-CA" sz="10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4EE2ED6-9B55-325E-7669-24BFEBA54FB0}"/>
              </a:ext>
            </a:extLst>
          </p:cNvPr>
          <p:cNvSpPr/>
          <p:nvPr/>
        </p:nvSpPr>
        <p:spPr>
          <a:xfrm>
            <a:off x="8031149" y="3902316"/>
            <a:ext cx="828260" cy="384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µop Rd Decoder</a:t>
            </a:r>
            <a:endParaRPr lang="en-CA" sz="1000" dirty="0"/>
          </a:p>
        </p:txBody>
      </p:sp>
      <p:sp>
        <p:nvSpPr>
          <p:cNvPr id="33" name="Arrow: Down 32">
            <a:extLst>
              <a:ext uri="{FF2B5EF4-FFF2-40B4-BE49-F238E27FC236}">
                <a16:creationId xmlns:a16="http://schemas.microsoft.com/office/drawing/2014/main" id="{691A6D0B-6F39-DDB9-0073-6641DDC9D3E1}"/>
              </a:ext>
            </a:extLst>
          </p:cNvPr>
          <p:cNvSpPr/>
          <p:nvPr/>
        </p:nvSpPr>
        <p:spPr>
          <a:xfrm>
            <a:off x="8127221" y="4281105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34" name="Arrow: Down 33">
            <a:extLst>
              <a:ext uri="{FF2B5EF4-FFF2-40B4-BE49-F238E27FC236}">
                <a16:creationId xmlns:a16="http://schemas.microsoft.com/office/drawing/2014/main" id="{4A1DCE78-6AF5-928D-9C75-DFD072429CA4}"/>
              </a:ext>
            </a:extLst>
          </p:cNvPr>
          <p:cNvSpPr/>
          <p:nvPr/>
        </p:nvSpPr>
        <p:spPr>
          <a:xfrm>
            <a:off x="9012444" y="4285688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35" name="Arrow: Down 34">
            <a:extLst>
              <a:ext uri="{FF2B5EF4-FFF2-40B4-BE49-F238E27FC236}">
                <a16:creationId xmlns:a16="http://schemas.microsoft.com/office/drawing/2014/main" id="{E5E3A3FE-6736-FC9C-DA77-F9B694541F34}"/>
              </a:ext>
            </a:extLst>
          </p:cNvPr>
          <p:cNvSpPr/>
          <p:nvPr/>
        </p:nvSpPr>
        <p:spPr>
          <a:xfrm>
            <a:off x="9907475" y="4281105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4F5672D-C543-A461-3B78-FBF971DAEE0C}"/>
              </a:ext>
            </a:extLst>
          </p:cNvPr>
          <p:cNvSpPr txBox="1"/>
          <p:nvPr/>
        </p:nvSpPr>
        <p:spPr>
          <a:xfrm>
            <a:off x="6991458" y="5742724"/>
            <a:ext cx="4263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Four destination names to Rename Stage</a:t>
            </a:r>
            <a:endParaRPr lang="en-CA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12B7482-2A08-6F41-E94E-C497C87E31DA}"/>
              </a:ext>
            </a:extLst>
          </p:cNvPr>
          <p:cNvSpPr/>
          <p:nvPr/>
        </p:nvSpPr>
        <p:spPr>
          <a:xfrm>
            <a:off x="6966666" y="4785962"/>
            <a:ext cx="3806021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Name Supplier</a:t>
            </a:r>
            <a:endParaRPr lang="en-CA" sz="1400" dirty="0"/>
          </a:p>
        </p:txBody>
      </p:sp>
      <p:sp>
        <p:nvSpPr>
          <p:cNvPr id="39" name="Arrow: Down 38">
            <a:extLst>
              <a:ext uri="{FF2B5EF4-FFF2-40B4-BE49-F238E27FC236}">
                <a16:creationId xmlns:a16="http://schemas.microsoft.com/office/drawing/2014/main" id="{FE7656EC-8295-5EF1-371B-D581D82F9972}"/>
              </a:ext>
            </a:extLst>
          </p:cNvPr>
          <p:cNvSpPr/>
          <p:nvPr/>
        </p:nvSpPr>
        <p:spPr>
          <a:xfrm>
            <a:off x="8177010" y="5172653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40" name="Arrow: Down 39">
            <a:extLst>
              <a:ext uri="{FF2B5EF4-FFF2-40B4-BE49-F238E27FC236}">
                <a16:creationId xmlns:a16="http://schemas.microsoft.com/office/drawing/2014/main" id="{E29C00F9-653E-273D-EFAC-AC16EDD7B1F0}"/>
              </a:ext>
            </a:extLst>
          </p:cNvPr>
          <p:cNvSpPr/>
          <p:nvPr/>
        </p:nvSpPr>
        <p:spPr>
          <a:xfrm>
            <a:off x="9023609" y="5157102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41" name="Arrow: Down 40">
            <a:extLst>
              <a:ext uri="{FF2B5EF4-FFF2-40B4-BE49-F238E27FC236}">
                <a16:creationId xmlns:a16="http://schemas.microsoft.com/office/drawing/2014/main" id="{C4049C58-6EF9-C4EE-3743-CEA155E40310}"/>
              </a:ext>
            </a:extLst>
          </p:cNvPr>
          <p:cNvSpPr/>
          <p:nvPr/>
        </p:nvSpPr>
        <p:spPr>
          <a:xfrm>
            <a:off x="9959726" y="5164748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1E26CE4-3F48-FC77-2A5C-1DEC527936D1}"/>
              </a:ext>
            </a:extLst>
          </p:cNvPr>
          <p:cNvCxnSpPr>
            <a:cxnSpLocks/>
          </p:cNvCxnSpPr>
          <p:nvPr/>
        </p:nvCxnSpPr>
        <p:spPr>
          <a:xfrm>
            <a:off x="5671999" y="5669604"/>
            <a:ext cx="5244353" cy="2127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AE1F377B-99D7-DE06-8836-5BF77A01FA42}"/>
              </a:ext>
            </a:extLst>
          </p:cNvPr>
          <p:cNvSpPr txBox="1"/>
          <p:nvPr/>
        </p:nvSpPr>
        <p:spPr>
          <a:xfrm>
            <a:off x="5669580" y="5445866"/>
            <a:ext cx="1297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Pipeline Register</a:t>
            </a:r>
            <a:endParaRPr lang="en-CA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62323E0-9BAE-F6C4-714E-F9E79BCCEBD7}"/>
              </a:ext>
            </a:extLst>
          </p:cNvPr>
          <p:cNvSpPr txBox="1"/>
          <p:nvPr/>
        </p:nvSpPr>
        <p:spPr>
          <a:xfrm>
            <a:off x="462791" y="5155294"/>
            <a:ext cx="4800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destination register from each micro-op decoder is fed to the name supplier which supplies a rename for the register.</a:t>
            </a:r>
            <a:endParaRPr lang="en-CA" dirty="0"/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1C63C0F5-DD13-944B-7406-0229744035D4}"/>
              </a:ext>
            </a:extLst>
          </p:cNvPr>
          <p:cNvSpPr/>
          <p:nvPr/>
        </p:nvSpPr>
        <p:spPr>
          <a:xfrm>
            <a:off x="2706827" y="2918775"/>
            <a:ext cx="671444" cy="37879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54DFADE-6461-BE11-6516-7F0481608F40}"/>
              </a:ext>
            </a:extLst>
          </p:cNvPr>
          <p:cNvSpPr/>
          <p:nvPr/>
        </p:nvSpPr>
        <p:spPr>
          <a:xfrm>
            <a:off x="2642221" y="3305701"/>
            <a:ext cx="828260" cy="384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Constant Decoder</a:t>
            </a:r>
            <a:endParaRPr lang="en-CA" sz="1000" dirty="0"/>
          </a:p>
        </p:txBody>
      </p:sp>
      <p:sp>
        <p:nvSpPr>
          <p:cNvPr id="46" name="Arrow: Down 45">
            <a:extLst>
              <a:ext uri="{FF2B5EF4-FFF2-40B4-BE49-F238E27FC236}">
                <a16:creationId xmlns:a16="http://schemas.microsoft.com/office/drawing/2014/main" id="{3BA76494-59BD-BBA6-0C26-88DE139CCB57}"/>
              </a:ext>
            </a:extLst>
          </p:cNvPr>
          <p:cNvSpPr/>
          <p:nvPr/>
        </p:nvSpPr>
        <p:spPr>
          <a:xfrm>
            <a:off x="2706827" y="3690014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3</a:t>
            </a:r>
            <a:endParaRPr lang="en-CA" sz="100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9738219-BF0F-73E1-B3BF-0ABF674AEF79}"/>
              </a:ext>
            </a:extLst>
          </p:cNvPr>
          <p:cNvSpPr/>
          <p:nvPr/>
        </p:nvSpPr>
        <p:spPr>
          <a:xfrm>
            <a:off x="7133038" y="3901361"/>
            <a:ext cx="828260" cy="384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µop Rd Decoder</a:t>
            </a:r>
            <a:endParaRPr lang="en-CA" sz="1000" dirty="0"/>
          </a:p>
        </p:txBody>
      </p:sp>
      <p:sp>
        <p:nvSpPr>
          <p:cNvPr id="48" name="Arrow: Down 47">
            <a:extLst>
              <a:ext uri="{FF2B5EF4-FFF2-40B4-BE49-F238E27FC236}">
                <a16:creationId xmlns:a16="http://schemas.microsoft.com/office/drawing/2014/main" id="{9AF7ABA2-89A2-AED6-67CE-918A8BD4D988}"/>
              </a:ext>
            </a:extLst>
          </p:cNvPr>
          <p:cNvSpPr/>
          <p:nvPr/>
        </p:nvSpPr>
        <p:spPr>
          <a:xfrm>
            <a:off x="7205968" y="4285688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49" name="Arrow: Down 48">
            <a:extLst>
              <a:ext uri="{FF2B5EF4-FFF2-40B4-BE49-F238E27FC236}">
                <a16:creationId xmlns:a16="http://schemas.microsoft.com/office/drawing/2014/main" id="{E6834225-5EDD-04D9-745E-B28DD8D19548}"/>
              </a:ext>
            </a:extLst>
          </p:cNvPr>
          <p:cNvSpPr/>
          <p:nvPr/>
        </p:nvSpPr>
        <p:spPr>
          <a:xfrm>
            <a:off x="7220384" y="5166839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</p:spTree>
    <p:extLst>
      <p:ext uri="{BB962C8B-B14F-4D97-AF65-F5344CB8AC3E}">
        <p14:creationId xmlns:p14="http://schemas.microsoft.com/office/powerpoint/2010/main" val="2694914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3C03-86BC-47B3-352E-CEAFA8E49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39" y="69161"/>
            <a:ext cx="10515600" cy="858492"/>
          </a:xfrm>
        </p:spPr>
        <p:txBody>
          <a:bodyPr/>
          <a:lstStyle/>
          <a:p>
            <a:r>
              <a:rPr lang="en-US" dirty="0"/>
              <a:t>Qupls4: Rename Stage (*_ren)</a:t>
            </a:r>
            <a:endParaRPr lang="en-C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4B65C0-C075-F47A-4C2D-095EB317A5EB}"/>
              </a:ext>
            </a:extLst>
          </p:cNvPr>
          <p:cNvSpPr/>
          <p:nvPr/>
        </p:nvSpPr>
        <p:spPr>
          <a:xfrm>
            <a:off x="1236869" y="2223464"/>
            <a:ext cx="3335131" cy="7450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RAT – Register Alias Table</a:t>
            </a:r>
            <a:endParaRPr lang="en-CA" dirty="0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21F37D6B-60A6-4809-18D2-0553D99F0657}"/>
              </a:ext>
            </a:extLst>
          </p:cNvPr>
          <p:cNvSpPr/>
          <p:nvPr/>
        </p:nvSpPr>
        <p:spPr>
          <a:xfrm>
            <a:off x="1374618" y="1718608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3E05A981-F263-3DEA-4B79-93D96CD6F334}"/>
              </a:ext>
            </a:extLst>
          </p:cNvPr>
          <p:cNvSpPr/>
          <p:nvPr/>
        </p:nvSpPr>
        <p:spPr>
          <a:xfrm>
            <a:off x="3012703" y="1718608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6B408B6E-9266-6253-28A7-D617276ACB7E}"/>
              </a:ext>
            </a:extLst>
          </p:cNvPr>
          <p:cNvSpPr/>
          <p:nvPr/>
        </p:nvSpPr>
        <p:spPr>
          <a:xfrm>
            <a:off x="3803628" y="1718608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884DDB-E400-F85E-C54B-73F8148E9286}"/>
              </a:ext>
            </a:extLst>
          </p:cNvPr>
          <p:cNvSpPr txBox="1"/>
          <p:nvPr/>
        </p:nvSpPr>
        <p:spPr>
          <a:xfrm>
            <a:off x="449758" y="1345362"/>
            <a:ext cx="52310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Four pairs of destination registers and corresponding renames from decode stage.</a:t>
            </a:r>
            <a:endParaRPr lang="en-CA" sz="11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F59A06-E107-C4DA-E239-7FFF06028AB4}"/>
              </a:ext>
            </a:extLst>
          </p:cNvPr>
          <p:cNvSpPr/>
          <p:nvPr/>
        </p:nvSpPr>
        <p:spPr>
          <a:xfrm>
            <a:off x="1236869" y="3230217"/>
            <a:ext cx="3335131" cy="8912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Asynchronous Architectural Register to Physical Register Mapping Process</a:t>
            </a:r>
          </a:p>
          <a:p>
            <a:pPr algn="ctr"/>
            <a:r>
              <a:rPr lang="en-US" sz="1400" dirty="0"/>
              <a:t>12 micro-op Window</a:t>
            </a:r>
            <a:endParaRPr lang="en-CA" sz="1400" dirty="0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3FFFE904-FC5E-7191-48EF-8681D2D72CFC}"/>
              </a:ext>
            </a:extLst>
          </p:cNvPr>
          <p:cNvSpPr/>
          <p:nvPr/>
        </p:nvSpPr>
        <p:spPr>
          <a:xfrm>
            <a:off x="2210903" y="2968487"/>
            <a:ext cx="1387061" cy="26173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4</a:t>
            </a:r>
            <a:endParaRPr lang="en-CA" sz="12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F84A15-A557-90EA-5304-0D62AFC89888}"/>
              </a:ext>
            </a:extLst>
          </p:cNvPr>
          <p:cNvSpPr/>
          <p:nvPr/>
        </p:nvSpPr>
        <p:spPr>
          <a:xfrm>
            <a:off x="1236869" y="4624049"/>
            <a:ext cx="8941712" cy="4910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ROB – Reordering Buffer</a:t>
            </a:r>
            <a:endParaRPr lang="en-CA" dirty="0"/>
          </a:p>
        </p:txBody>
      </p:sp>
      <p:sp>
        <p:nvSpPr>
          <p:cNvPr id="14" name="Arrow: Up-Down 13">
            <a:extLst>
              <a:ext uri="{FF2B5EF4-FFF2-40B4-BE49-F238E27FC236}">
                <a16:creationId xmlns:a16="http://schemas.microsoft.com/office/drawing/2014/main" id="{B0919AED-0038-7998-4F1A-E2D1E32EF48B}"/>
              </a:ext>
            </a:extLst>
          </p:cNvPr>
          <p:cNvSpPr/>
          <p:nvPr/>
        </p:nvSpPr>
        <p:spPr>
          <a:xfrm>
            <a:off x="2693415" y="4133026"/>
            <a:ext cx="371846" cy="491023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8D0B9637-390A-B8AE-5174-22A11D566EB8}"/>
              </a:ext>
            </a:extLst>
          </p:cNvPr>
          <p:cNvSpPr/>
          <p:nvPr/>
        </p:nvSpPr>
        <p:spPr>
          <a:xfrm>
            <a:off x="6665217" y="3867747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0AEF3255-2792-1393-10C7-EACB7FE6FA25}"/>
              </a:ext>
            </a:extLst>
          </p:cNvPr>
          <p:cNvSpPr/>
          <p:nvPr/>
        </p:nvSpPr>
        <p:spPr>
          <a:xfrm>
            <a:off x="7582921" y="3867747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185D9C73-D53B-6B12-9071-3F3AAC435CBE}"/>
              </a:ext>
            </a:extLst>
          </p:cNvPr>
          <p:cNvSpPr/>
          <p:nvPr/>
        </p:nvSpPr>
        <p:spPr>
          <a:xfrm>
            <a:off x="8468144" y="3872330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BA68F8-B915-B07A-3079-B8213D03056F}"/>
              </a:ext>
            </a:extLst>
          </p:cNvPr>
          <p:cNvSpPr txBox="1"/>
          <p:nvPr/>
        </p:nvSpPr>
        <p:spPr>
          <a:xfrm>
            <a:off x="6113494" y="3521972"/>
            <a:ext cx="40650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Four micro-ops with constants from Decode Stage</a:t>
            </a:r>
            <a:endParaRPr lang="en-CA" sz="14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A094BEB-D5B3-E416-38DC-9104BC8E8895}"/>
              </a:ext>
            </a:extLst>
          </p:cNvPr>
          <p:cNvCxnSpPr>
            <a:cxnSpLocks/>
          </p:cNvCxnSpPr>
          <p:nvPr/>
        </p:nvCxnSpPr>
        <p:spPr>
          <a:xfrm>
            <a:off x="4934228" y="4361966"/>
            <a:ext cx="5244353" cy="2127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42CF461-9B0D-FE66-E0EC-66372F248F2F}"/>
              </a:ext>
            </a:extLst>
          </p:cNvPr>
          <p:cNvSpPr txBox="1"/>
          <p:nvPr/>
        </p:nvSpPr>
        <p:spPr>
          <a:xfrm>
            <a:off x="4682767" y="4106237"/>
            <a:ext cx="1297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Pipeline Register</a:t>
            </a:r>
            <a:endParaRPr lang="en-CA" sz="1200" dirty="0"/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63B6F1BE-8984-CBE6-5587-9F69C8F532A4}"/>
              </a:ext>
            </a:extLst>
          </p:cNvPr>
          <p:cNvSpPr/>
          <p:nvPr/>
        </p:nvSpPr>
        <p:spPr>
          <a:xfrm>
            <a:off x="7673202" y="4383236"/>
            <a:ext cx="1387061" cy="26173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4</a:t>
            </a:r>
            <a:endParaRPr lang="en-CA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1F40078-1B1A-C5F3-E335-3852214F2A33}"/>
              </a:ext>
            </a:extLst>
          </p:cNvPr>
          <p:cNvSpPr txBox="1"/>
          <p:nvPr/>
        </p:nvSpPr>
        <p:spPr>
          <a:xfrm>
            <a:off x="5715000" y="1160696"/>
            <a:ext cx="602724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register alias table is updated with info from the decode stage.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An asynchronous process matches unmapped architectural registers to physical register and maps them.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Micro-op and constants are enqueued in the re-order buffer</a:t>
            </a:r>
            <a:endParaRPr lang="en-CA" sz="1600" dirty="0"/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A7487C35-0C63-3388-3805-0DB75FA788A0}"/>
              </a:ext>
            </a:extLst>
          </p:cNvPr>
          <p:cNvSpPr/>
          <p:nvPr/>
        </p:nvSpPr>
        <p:spPr>
          <a:xfrm>
            <a:off x="2196939" y="1707088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CC8DE211-FE85-5EE1-1044-649C28555208}"/>
              </a:ext>
            </a:extLst>
          </p:cNvPr>
          <p:cNvSpPr/>
          <p:nvPr/>
        </p:nvSpPr>
        <p:spPr>
          <a:xfrm>
            <a:off x="9256395" y="3880598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</p:spTree>
    <p:extLst>
      <p:ext uri="{BB962C8B-B14F-4D97-AF65-F5344CB8AC3E}">
        <p14:creationId xmlns:p14="http://schemas.microsoft.com/office/powerpoint/2010/main" val="522921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 109">
            <a:extLst>
              <a:ext uri="{FF2B5EF4-FFF2-40B4-BE49-F238E27FC236}">
                <a16:creationId xmlns:a16="http://schemas.microsoft.com/office/drawing/2014/main" id="{AA136E37-5431-E8FB-B541-92D80BAE5C5D}"/>
              </a:ext>
            </a:extLst>
          </p:cNvPr>
          <p:cNvSpPr/>
          <p:nvPr/>
        </p:nvSpPr>
        <p:spPr>
          <a:xfrm>
            <a:off x="749630" y="4310008"/>
            <a:ext cx="515549" cy="2148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/>
              <a:t>Bitfield </a:t>
            </a:r>
            <a:endParaRPr lang="en-CA" sz="7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8E9CFA1-3825-4851-2C50-2193AC6FE028}"/>
              </a:ext>
            </a:extLst>
          </p:cNvPr>
          <p:cNvSpPr/>
          <p:nvPr/>
        </p:nvSpPr>
        <p:spPr>
          <a:xfrm>
            <a:off x="4413264" y="3751399"/>
            <a:ext cx="598831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/>
              <a:t>FSQRT</a:t>
            </a:r>
            <a:endParaRPr lang="en-CA" sz="7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6E320B-18AF-E5BE-A9B7-C628FE8AAB67}"/>
              </a:ext>
            </a:extLst>
          </p:cNvPr>
          <p:cNvSpPr/>
          <p:nvPr/>
        </p:nvSpPr>
        <p:spPr>
          <a:xfrm>
            <a:off x="4413264" y="3502640"/>
            <a:ext cx="598831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/>
              <a:t>FDIV</a:t>
            </a:r>
            <a:endParaRPr lang="en-CA" sz="700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3FEF0634-1D91-3B54-C02B-6679ACB17214}"/>
              </a:ext>
            </a:extLst>
          </p:cNvPr>
          <p:cNvSpPr/>
          <p:nvPr/>
        </p:nvSpPr>
        <p:spPr>
          <a:xfrm>
            <a:off x="8540352" y="3236916"/>
            <a:ext cx="720000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/>
              <a:t>FPU</a:t>
            </a:r>
            <a:endParaRPr lang="en-CA" sz="7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30D39D-FAB4-71A0-50A9-AAFD49CFD4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443" y="269806"/>
            <a:ext cx="9144000" cy="529741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Qupls4: Execute Stage</a:t>
            </a:r>
            <a:endParaRPr lang="en-C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0B9CAB-33A3-DF06-299D-C7D0E79C34DD}"/>
              </a:ext>
            </a:extLst>
          </p:cNvPr>
          <p:cNvSpPr/>
          <p:nvPr/>
        </p:nvSpPr>
        <p:spPr>
          <a:xfrm>
            <a:off x="740186" y="3238922"/>
            <a:ext cx="500506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/>
              <a:t>SAU #0</a:t>
            </a:r>
            <a:endParaRPr lang="en-CA" sz="7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65363E-0D61-E897-910A-F370A5032ED8}"/>
              </a:ext>
            </a:extLst>
          </p:cNvPr>
          <p:cNvSpPr/>
          <p:nvPr/>
        </p:nvSpPr>
        <p:spPr>
          <a:xfrm>
            <a:off x="1331350" y="3236782"/>
            <a:ext cx="514437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/>
              <a:t>SAU #1</a:t>
            </a:r>
            <a:endParaRPr lang="en-CA" sz="7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D6549B-CBC1-E564-88F0-22B7DD569F76}"/>
              </a:ext>
            </a:extLst>
          </p:cNvPr>
          <p:cNvSpPr/>
          <p:nvPr/>
        </p:nvSpPr>
        <p:spPr>
          <a:xfrm>
            <a:off x="1957865" y="3238469"/>
            <a:ext cx="524006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/>
              <a:t>IMUL</a:t>
            </a:r>
            <a:endParaRPr lang="en-CA" sz="7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8F65F8-FB16-5708-1549-E0B42AB137A9}"/>
              </a:ext>
            </a:extLst>
          </p:cNvPr>
          <p:cNvSpPr/>
          <p:nvPr/>
        </p:nvSpPr>
        <p:spPr>
          <a:xfrm>
            <a:off x="2550439" y="3240508"/>
            <a:ext cx="534491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/>
              <a:t>IDIV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B19B70-FD33-3B9B-AEC7-C546F3CD38AC}"/>
              </a:ext>
            </a:extLst>
          </p:cNvPr>
          <p:cNvSpPr/>
          <p:nvPr/>
        </p:nvSpPr>
        <p:spPr>
          <a:xfrm>
            <a:off x="3159581" y="3252985"/>
            <a:ext cx="565321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/>
              <a:t>FDP #0</a:t>
            </a:r>
            <a:endParaRPr lang="en-CA" sz="7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B13E1A-8BA1-FD2E-298B-39A9773492D9}"/>
              </a:ext>
            </a:extLst>
          </p:cNvPr>
          <p:cNvSpPr/>
          <p:nvPr/>
        </p:nvSpPr>
        <p:spPr>
          <a:xfrm>
            <a:off x="4423282" y="3252985"/>
            <a:ext cx="588813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/>
              <a:t>TRIG</a:t>
            </a:r>
            <a:endParaRPr lang="en-CA" sz="7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CE30D4-A510-082C-C771-FC867429D4A3}"/>
              </a:ext>
            </a:extLst>
          </p:cNvPr>
          <p:cNvSpPr/>
          <p:nvPr/>
        </p:nvSpPr>
        <p:spPr>
          <a:xfrm>
            <a:off x="740185" y="3517218"/>
            <a:ext cx="500506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/>
              <a:t>CSRs</a:t>
            </a:r>
            <a:endParaRPr lang="en-CA" sz="7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C13761-4A16-527F-25C4-63929CC12475}"/>
              </a:ext>
            </a:extLst>
          </p:cNvPr>
          <p:cNvSpPr/>
          <p:nvPr/>
        </p:nvSpPr>
        <p:spPr>
          <a:xfrm>
            <a:off x="740185" y="3795514"/>
            <a:ext cx="515549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/>
              <a:t>Counts</a:t>
            </a:r>
            <a:endParaRPr lang="en-CA" sz="7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401EC6-5825-9E44-80EC-6B43B4C0A313}"/>
              </a:ext>
            </a:extLst>
          </p:cNvPr>
          <p:cNvSpPr/>
          <p:nvPr/>
        </p:nvSpPr>
        <p:spPr>
          <a:xfrm>
            <a:off x="750936" y="4057127"/>
            <a:ext cx="515549" cy="2148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/>
              <a:t>Shift </a:t>
            </a:r>
            <a:endParaRPr lang="en-CA" sz="7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946394-63E9-5D59-33ED-942F6365F6CE}"/>
              </a:ext>
            </a:extLst>
          </p:cNvPr>
          <p:cNvSpPr/>
          <p:nvPr/>
        </p:nvSpPr>
        <p:spPr>
          <a:xfrm>
            <a:off x="2539407" y="3509042"/>
            <a:ext cx="553799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/>
              <a:t>ISQRT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4F8560-A650-9E36-82DA-6D5649A6C0D1}"/>
              </a:ext>
            </a:extLst>
          </p:cNvPr>
          <p:cNvSpPr/>
          <p:nvPr/>
        </p:nvSpPr>
        <p:spPr>
          <a:xfrm>
            <a:off x="3803813" y="3260319"/>
            <a:ext cx="565321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/>
              <a:t>FDP #1</a:t>
            </a:r>
            <a:endParaRPr lang="en-CA" sz="7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A60914A-135B-535E-A4E6-CB047D1389AE}"/>
              </a:ext>
            </a:extLst>
          </p:cNvPr>
          <p:cNvSpPr/>
          <p:nvPr/>
        </p:nvSpPr>
        <p:spPr>
          <a:xfrm>
            <a:off x="5086778" y="3258021"/>
            <a:ext cx="627090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/>
              <a:t>FCU</a:t>
            </a:r>
            <a:endParaRPr lang="en-CA" sz="7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F436A42-A1EB-0562-B784-8E229D49CA6A}"/>
              </a:ext>
            </a:extLst>
          </p:cNvPr>
          <p:cNvSpPr/>
          <p:nvPr/>
        </p:nvSpPr>
        <p:spPr>
          <a:xfrm>
            <a:off x="5775135" y="3258021"/>
            <a:ext cx="627090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/>
              <a:t>AGEN #0</a:t>
            </a:r>
            <a:endParaRPr lang="en-CA" sz="7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774D86D-B698-D078-FAC0-735B59942F5E}"/>
              </a:ext>
            </a:extLst>
          </p:cNvPr>
          <p:cNvSpPr/>
          <p:nvPr/>
        </p:nvSpPr>
        <p:spPr>
          <a:xfrm>
            <a:off x="6455303" y="3252985"/>
            <a:ext cx="622436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/>
              <a:t>AGEN #1</a:t>
            </a:r>
            <a:endParaRPr lang="en-CA" sz="7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B8498E8-92C8-F13C-33EB-F8E9FB749EAD}"/>
              </a:ext>
            </a:extLst>
          </p:cNvPr>
          <p:cNvSpPr/>
          <p:nvPr/>
        </p:nvSpPr>
        <p:spPr>
          <a:xfrm>
            <a:off x="7137299" y="3238469"/>
            <a:ext cx="642428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/>
              <a:t>DRAM #0</a:t>
            </a:r>
            <a:endParaRPr lang="en-CA" sz="7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4E7F9D1-8DF1-12C2-7700-CE06C68FF045}"/>
              </a:ext>
            </a:extLst>
          </p:cNvPr>
          <p:cNvSpPr/>
          <p:nvPr/>
        </p:nvSpPr>
        <p:spPr>
          <a:xfrm>
            <a:off x="7838630" y="3236364"/>
            <a:ext cx="638176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/>
              <a:t>DRAM #1</a:t>
            </a:r>
            <a:endParaRPr lang="en-CA" sz="7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3814D67-A90E-DB11-36FA-64E81BB2218A}"/>
              </a:ext>
            </a:extLst>
          </p:cNvPr>
          <p:cNvSpPr/>
          <p:nvPr/>
        </p:nvSpPr>
        <p:spPr>
          <a:xfrm>
            <a:off x="573589" y="2964466"/>
            <a:ext cx="11410794" cy="2849063"/>
          </a:xfrm>
          <a:prstGeom prst="rect">
            <a:avLst/>
          </a:prstGeom>
          <a:solidFill>
            <a:schemeClr val="accent1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2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1B75455-1537-CCE7-A134-6BACBDF6AB81}"/>
              </a:ext>
            </a:extLst>
          </p:cNvPr>
          <p:cNvSpPr/>
          <p:nvPr/>
        </p:nvSpPr>
        <p:spPr>
          <a:xfrm>
            <a:off x="581211" y="2159567"/>
            <a:ext cx="11372250" cy="3026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16:64 rotating mux/</a:t>
            </a:r>
            <a:r>
              <a:rPr lang="en-US" sz="1100" dirty="0" err="1"/>
              <a:t>demux</a:t>
            </a:r>
            <a:endParaRPr lang="en-CA" sz="1100" dirty="0"/>
          </a:p>
        </p:txBody>
      </p:sp>
      <p:sp>
        <p:nvSpPr>
          <p:cNvPr id="34" name="Arrow: Up-Down 33">
            <a:extLst>
              <a:ext uri="{FF2B5EF4-FFF2-40B4-BE49-F238E27FC236}">
                <a16:creationId xmlns:a16="http://schemas.microsoft.com/office/drawing/2014/main" id="{F4E2F53D-544F-63C5-E91A-887CB965E6BD}"/>
              </a:ext>
            </a:extLst>
          </p:cNvPr>
          <p:cNvSpPr/>
          <p:nvPr/>
        </p:nvSpPr>
        <p:spPr>
          <a:xfrm>
            <a:off x="839645" y="2474713"/>
            <a:ext cx="340139" cy="76862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4</a:t>
            </a:r>
            <a:endParaRPr lang="en-CA" sz="1000" dirty="0">
              <a:solidFill>
                <a:schemeClr val="bg1"/>
              </a:solidFill>
            </a:endParaRPr>
          </a:p>
        </p:txBody>
      </p:sp>
      <p:sp>
        <p:nvSpPr>
          <p:cNvPr id="35" name="Arrow: Up-Down 34">
            <a:extLst>
              <a:ext uri="{FF2B5EF4-FFF2-40B4-BE49-F238E27FC236}">
                <a16:creationId xmlns:a16="http://schemas.microsoft.com/office/drawing/2014/main" id="{25707A37-2146-452E-0E55-34D2DD7327B7}"/>
              </a:ext>
            </a:extLst>
          </p:cNvPr>
          <p:cNvSpPr/>
          <p:nvPr/>
        </p:nvSpPr>
        <p:spPr>
          <a:xfrm>
            <a:off x="1405450" y="2454509"/>
            <a:ext cx="340139" cy="76862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3</a:t>
            </a:r>
            <a:endParaRPr lang="en-CA" sz="1000" dirty="0"/>
          </a:p>
        </p:txBody>
      </p:sp>
      <p:sp>
        <p:nvSpPr>
          <p:cNvPr id="36" name="Arrow: Up-Down 35">
            <a:extLst>
              <a:ext uri="{FF2B5EF4-FFF2-40B4-BE49-F238E27FC236}">
                <a16:creationId xmlns:a16="http://schemas.microsoft.com/office/drawing/2014/main" id="{11E77748-3C95-E25C-76EF-D8273C5CE235}"/>
              </a:ext>
            </a:extLst>
          </p:cNvPr>
          <p:cNvSpPr/>
          <p:nvPr/>
        </p:nvSpPr>
        <p:spPr>
          <a:xfrm>
            <a:off x="2034371" y="2448574"/>
            <a:ext cx="340139" cy="76862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3</a:t>
            </a:r>
            <a:endParaRPr lang="en-CA" sz="1000" dirty="0"/>
          </a:p>
        </p:txBody>
      </p:sp>
      <p:sp>
        <p:nvSpPr>
          <p:cNvPr id="37" name="Arrow: Up-Down 36">
            <a:extLst>
              <a:ext uri="{FF2B5EF4-FFF2-40B4-BE49-F238E27FC236}">
                <a16:creationId xmlns:a16="http://schemas.microsoft.com/office/drawing/2014/main" id="{BFEBD308-3329-3694-F8D8-055311DD8850}"/>
              </a:ext>
            </a:extLst>
          </p:cNvPr>
          <p:cNvSpPr/>
          <p:nvPr/>
        </p:nvSpPr>
        <p:spPr>
          <a:xfrm>
            <a:off x="2645124" y="2455407"/>
            <a:ext cx="340139" cy="76862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2</a:t>
            </a:r>
            <a:endParaRPr lang="en-CA" sz="1000" dirty="0"/>
          </a:p>
        </p:txBody>
      </p:sp>
      <p:sp>
        <p:nvSpPr>
          <p:cNvPr id="38" name="Arrow: Up-Down 37">
            <a:extLst>
              <a:ext uri="{FF2B5EF4-FFF2-40B4-BE49-F238E27FC236}">
                <a16:creationId xmlns:a16="http://schemas.microsoft.com/office/drawing/2014/main" id="{5B781C08-EC3C-DA74-AC8B-933D83D07036}"/>
              </a:ext>
            </a:extLst>
          </p:cNvPr>
          <p:cNvSpPr/>
          <p:nvPr/>
        </p:nvSpPr>
        <p:spPr>
          <a:xfrm>
            <a:off x="4530552" y="2458745"/>
            <a:ext cx="340139" cy="76862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3</a:t>
            </a:r>
            <a:endParaRPr lang="en-CA" sz="1000" dirty="0">
              <a:solidFill>
                <a:schemeClr val="bg1"/>
              </a:solidFill>
            </a:endParaRPr>
          </a:p>
        </p:txBody>
      </p:sp>
      <p:sp>
        <p:nvSpPr>
          <p:cNvPr id="39" name="Arrow: Up-Down 38">
            <a:extLst>
              <a:ext uri="{FF2B5EF4-FFF2-40B4-BE49-F238E27FC236}">
                <a16:creationId xmlns:a16="http://schemas.microsoft.com/office/drawing/2014/main" id="{8AF02345-C9B1-B6BF-B7E9-41DDA4A6902F}"/>
              </a:ext>
            </a:extLst>
          </p:cNvPr>
          <p:cNvSpPr/>
          <p:nvPr/>
        </p:nvSpPr>
        <p:spPr>
          <a:xfrm>
            <a:off x="5198936" y="2468703"/>
            <a:ext cx="340139" cy="76862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3</a:t>
            </a:r>
            <a:endParaRPr lang="en-CA" sz="1000" dirty="0">
              <a:solidFill>
                <a:schemeClr val="bg1"/>
              </a:solidFill>
            </a:endParaRPr>
          </a:p>
        </p:txBody>
      </p:sp>
      <p:sp>
        <p:nvSpPr>
          <p:cNvPr id="40" name="Arrow: Up-Down 39">
            <a:extLst>
              <a:ext uri="{FF2B5EF4-FFF2-40B4-BE49-F238E27FC236}">
                <a16:creationId xmlns:a16="http://schemas.microsoft.com/office/drawing/2014/main" id="{484CA597-998E-8D52-2E20-17E9EDFD37DF}"/>
              </a:ext>
            </a:extLst>
          </p:cNvPr>
          <p:cNvSpPr/>
          <p:nvPr/>
        </p:nvSpPr>
        <p:spPr>
          <a:xfrm>
            <a:off x="3266457" y="2466023"/>
            <a:ext cx="340139" cy="76862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4</a:t>
            </a:r>
            <a:endParaRPr lang="en-CA" sz="1000" dirty="0"/>
          </a:p>
        </p:txBody>
      </p:sp>
      <p:sp>
        <p:nvSpPr>
          <p:cNvPr id="41" name="Arrow: Up-Down 40">
            <a:extLst>
              <a:ext uri="{FF2B5EF4-FFF2-40B4-BE49-F238E27FC236}">
                <a16:creationId xmlns:a16="http://schemas.microsoft.com/office/drawing/2014/main" id="{62D03AFF-D0B3-BE37-A62E-0E325F813B5E}"/>
              </a:ext>
            </a:extLst>
          </p:cNvPr>
          <p:cNvSpPr/>
          <p:nvPr/>
        </p:nvSpPr>
        <p:spPr>
          <a:xfrm>
            <a:off x="3898504" y="2469843"/>
            <a:ext cx="340139" cy="76862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4</a:t>
            </a:r>
            <a:endParaRPr lang="en-CA" sz="1000" dirty="0">
              <a:solidFill>
                <a:schemeClr val="bg1"/>
              </a:solidFill>
            </a:endParaRPr>
          </a:p>
        </p:txBody>
      </p:sp>
      <p:sp>
        <p:nvSpPr>
          <p:cNvPr id="42" name="Arrow: Up-Down 41">
            <a:extLst>
              <a:ext uri="{FF2B5EF4-FFF2-40B4-BE49-F238E27FC236}">
                <a16:creationId xmlns:a16="http://schemas.microsoft.com/office/drawing/2014/main" id="{C9FFACE2-7D7C-FD95-7CF1-4CB0CBE5103F}"/>
              </a:ext>
            </a:extLst>
          </p:cNvPr>
          <p:cNvSpPr/>
          <p:nvPr/>
        </p:nvSpPr>
        <p:spPr>
          <a:xfrm>
            <a:off x="5883145" y="2468703"/>
            <a:ext cx="340139" cy="76862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2</a:t>
            </a:r>
            <a:endParaRPr lang="en-CA" sz="1000" dirty="0">
              <a:solidFill>
                <a:schemeClr val="bg1"/>
              </a:solidFill>
            </a:endParaRPr>
          </a:p>
        </p:txBody>
      </p:sp>
      <p:sp>
        <p:nvSpPr>
          <p:cNvPr id="43" name="Arrow: Up-Down 42">
            <a:extLst>
              <a:ext uri="{FF2B5EF4-FFF2-40B4-BE49-F238E27FC236}">
                <a16:creationId xmlns:a16="http://schemas.microsoft.com/office/drawing/2014/main" id="{19DD16B5-D0C6-56C6-6D1D-356BDF1FC148}"/>
              </a:ext>
            </a:extLst>
          </p:cNvPr>
          <p:cNvSpPr/>
          <p:nvPr/>
        </p:nvSpPr>
        <p:spPr>
          <a:xfrm>
            <a:off x="6547437" y="2466023"/>
            <a:ext cx="340139" cy="76862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2</a:t>
            </a:r>
            <a:endParaRPr lang="en-CA" sz="1000" dirty="0">
              <a:solidFill>
                <a:schemeClr val="bg1"/>
              </a:solidFill>
            </a:endParaRPr>
          </a:p>
        </p:txBody>
      </p:sp>
      <p:sp>
        <p:nvSpPr>
          <p:cNvPr id="44" name="Arrow: Up-Down 43">
            <a:extLst>
              <a:ext uri="{FF2B5EF4-FFF2-40B4-BE49-F238E27FC236}">
                <a16:creationId xmlns:a16="http://schemas.microsoft.com/office/drawing/2014/main" id="{167BD157-E240-85AE-52D0-4AFE67280838}"/>
              </a:ext>
            </a:extLst>
          </p:cNvPr>
          <p:cNvSpPr/>
          <p:nvPr/>
        </p:nvSpPr>
        <p:spPr>
          <a:xfrm>
            <a:off x="7272308" y="2473260"/>
            <a:ext cx="340139" cy="76862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1</a:t>
            </a:r>
            <a:endParaRPr lang="en-CA" sz="1000" dirty="0">
              <a:solidFill>
                <a:schemeClr val="bg1"/>
              </a:solidFill>
            </a:endParaRPr>
          </a:p>
        </p:txBody>
      </p:sp>
      <p:sp>
        <p:nvSpPr>
          <p:cNvPr id="45" name="Arrow: Up-Down 44">
            <a:extLst>
              <a:ext uri="{FF2B5EF4-FFF2-40B4-BE49-F238E27FC236}">
                <a16:creationId xmlns:a16="http://schemas.microsoft.com/office/drawing/2014/main" id="{172682AA-5277-427E-737F-654ABD6B1C6C}"/>
              </a:ext>
            </a:extLst>
          </p:cNvPr>
          <p:cNvSpPr/>
          <p:nvPr/>
        </p:nvSpPr>
        <p:spPr>
          <a:xfrm>
            <a:off x="7963978" y="2454509"/>
            <a:ext cx="340139" cy="76862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1</a:t>
            </a:r>
            <a:endParaRPr lang="en-CA" sz="1000" dirty="0">
              <a:solidFill>
                <a:schemeClr val="bg1"/>
              </a:solidFill>
            </a:endParaRPr>
          </a:p>
        </p:txBody>
      </p:sp>
      <p:sp>
        <p:nvSpPr>
          <p:cNvPr id="46" name="Arrow: Up-Down 45">
            <a:extLst>
              <a:ext uri="{FF2B5EF4-FFF2-40B4-BE49-F238E27FC236}">
                <a16:creationId xmlns:a16="http://schemas.microsoft.com/office/drawing/2014/main" id="{25D4805F-00C2-A8C7-4B1F-08EC0AC68B4E}"/>
              </a:ext>
            </a:extLst>
          </p:cNvPr>
          <p:cNvSpPr/>
          <p:nvPr/>
        </p:nvSpPr>
        <p:spPr>
          <a:xfrm>
            <a:off x="5219449" y="1779727"/>
            <a:ext cx="297671" cy="369332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16</a:t>
            </a:r>
            <a:endParaRPr lang="en-CA" sz="10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0481544-3335-7F85-90A9-B756AF2C6056}"/>
              </a:ext>
            </a:extLst>
          </p:cNvPr>
          <p:cNvSpPr txBox="1"/>
          <p:nvPr/>
        </p:nvSpPr>
        <p:spPr>
          <a:xfrm>
            <a:off x="5527427" y="1770056"/>
            <a:ext cx="2355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Read from register file</a:t>
            </a:r>
            <a:endParaRPr lang="en-CA" dirty="0"/>
          </a:p>
        </p:txBody>
      </p:sp>
      <p:sp>
        <p:nvSpPr>
          <p:cNvPr id="61" name="Arrow: Down 60">
            <a:extLst>
              <a:ext uri="{FF2B5EF4-FFF2-40B4-BE49-F238E27FC236}">
                <a16:creationId xmlns:a16="http://schemas.microsoft.com/office/drawing/2014/main" id="{E77A8B29-734E-EC7F-F576-39843C2E7F94}"/>
              </a:ext>
            </a:extLst>
          </p:cNvPr>
          <p:cNvSpPr/>
          <p:nvPr/>
        </p:nvSpPr>
        <p:spPr>
          <a:xfrm>
            <a:off x="801128" y="4532551"/>
            <a:ext cx="412386" cy="45824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lang="en-CA" dirty="0"/>
          </a:p>
        </p:txBody>
      </p:sp>
      <p:sp>
        <p:nvSpPr>
          <p:cNvPr id="62" name="Arrow: Down 61">
            <a:extLst>
              <a:ext uri="{FF2B5EF4-FFF2-40B4-BE49-F238E27FC236}">
                <a16:creationId xmlns:a16="http://schemas.microsoft.com/office/drawing/2014/main" id="{F11ED450-E4A5-82D3-797A-3FBDBD5B5A63}"/>
              </a:ext>
            </a:extLst>
          </p:cNvPr>
          <p:cNvSpPr/>
          <p:nvPr/>
        </p:nvSpPr>
        <p:spPr>
          <a:xfrm>
            <a:off x="1363130" y="3464470"/>
            <a:ext cx="412386" cy="15334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en-CA" dirty="0"/>
          </a:p>
        </p:txBody>
      </p:sp>
      <p:sp>
        <p:nvSpPr>
          <p:cNvPr id="63" name="Arrow: Down 62">
            <a:extLst>
              <a:ext uri="{FF2B5EF4-FFF2-40B4-BE49-F238E27FC236}">
                <a16:creationId xmlns:a16="http://schemas.microsoft.com/office/drawing/2014/main" id="{80B4887C-AC92-6545-FF32-3106C78F0D5C}"/>
              </a:ext>
            </a:extLst>
          </p:cNvPr>
          <p:cNvSpPr/>
          <p:nvPr/>
        </p:nvSpPr>
        <p:spPr>
          <a:xfrm>
            <a:off x="2004180" y="3468005"/>
            <a:ext cx="412386" cy="15334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en-CA" dirty="0"/>
          </a:p>
        </p:txBody>
      </p:sp>
      <p:sp>
        <p:nvSpPr>
          <p:cNvPr id="64" name="Arrow: Down 63">
            <a:extLst>
              <a:ext uri="{FF2B5EF4-FFF2-40B4-BE49-F238E27FC236}">
                <a16:creationId xmlns:a16="http://schemas.microsoft.com/office/drawing/2014/main" id="{8CC4E98C-122B-753D-15C6-7409B9E8BB46}"/>
              </a:ext>
            </a:extLst>
          </p:cNvPr>
          <p:cNvSpPr/>
          <p:nvPr/>
        </p:nvSpPr>
        <p:spPr>
          <a:xfrm>
            <a:off x="2584031" y="4001084"/>
            <a:ext cx="412386" cy="99797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lang="en-CA" dirty="0"/>
          </a:p>
        </p:txBody>
      </p:sp>
      <p:sp>
        <p:nvSpPr>
          <p:cNvPr id="65" name="Arrow: Down 64">
            <a:extLst>
              <a:ext uri="{FF2B5EF4-FFF2-40B4-BE49-F238E27FC236}">
                <a16:creationId xmlns:a16="http://schemas.microsoft.com/office/drawing/2014/main" id="{951ABB06-5D96-AAE7-9FD3-EA359A5E8223}"/>
              </a:ext>
            </a:extLst>
          </p:cNvPr>
          <p:cNvSpPr/>
          <p:nvPr/>
        </p:nvSpPr>
        <p:spPr>
          <a:xfrm>
            <a:off x="3218917" y="3454137"/>
            <a:ext cx="412386" cy="15334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en-CA" dirty="0"/>
          </a:p>
        </p:txBody>
      </p:sp>
      <p:sp>
        <p:nvSpPr>
          <p:cNvPr id="66" name="Arrow: Down 65">
            <a:extLst>
              <a:ext uri="{FF2B5EF4-FFF2-40B4-BE49-F238E27FC236}">
                <a16:creationId xmlns:a16="http://schemas.microsoft.com/office/drawing/2014/main" id="{AB5F88CB-D03F-AE66-BD51-FBB1A8CD5B49}"/>
              </a:ext>
            </a:extLst>
          </p:cNvPr>
          <p:cNvSpPr/>
          <p:nvPr/>
        </p:nvSpPr>
        <p:spPr>
          <a:xfrm>
            <a:off x="3860103" y="3466071"/>
            <a:ext cx="412386" cy="15334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en-CA" dirty="0"/>
          </a:p>
        </p:txBody>
      </p:sp>
      <p:sp>
        <p:nvSpPr>
          <p:cNvPr id="67" name="Arrow: Down 66">
            <a:extLst>
              <a:ext uri="{FF2B5EF4-FFF2-40B4-BE49-F238E27FC236}">
                <a16:creationId xmlns:a16="http://schemas.microsoft.com/office/drawing/2014/main" id="{DAF83E3C-C7F5-1498-7118-082DC5426720}"/>
              </a:ext>
            </a:extLst>
          </p:cNvPr>
          <p:cNvSpPr/>
          <p:nvPr/>
        </p:nvSpPr>
        <p:spPr>
          <a:xfrm>
            <a:off x="4522598" y="3969003"/>
            <a:ext cx="412386" cy="103469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lang="en-CA" dirty="0"/>
          </a:p>
        </p:txBody>
      </p:sp>
      <p:sp>
        <p:nvSpPr>
          <p:cNvPr id="68" name="Arrow: Down 67">
            <a:extLst>
              <a:ext uri="{FF2B5EF4-FFF2-40B4-BE49-F238E27FC236}">
                <a16:creationId xmlns:a16="http://schemas.microsoft.com/office/drawing/2014/main" id="{15F2B693-EEDB-034A-111E-FB5F74852603}"/>
              </a:ext>
            </a:extLst>
          </p:cNvPr>
          <p:cNvSpPr/>
          <p:nvPr/>
        </p:nvSpPr>
        <p:spPr>
          <a:xfrm>
            <a:off x="5179946" y="3486670"/>
            <a:ext cx="412386" cy="15334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en-CA" dirty="0"/>
          </a:p>
        </p:txBody>
      </p:sp>
      <p:sp>
        <p:nvSpPr>
          <p:cNvPr id="69" name="Arrow: Down 68">
            <a:extLst>
              <a:ext uri="{FF2B5EF4-FFF2-40B4-BE49-F238E27FC236}">
                <a16:creationId xmlns:a16="http://schemas.microsoft.com/office/drawing/2014/main" id="{4D58C537-31EA-8880-0C4B-CF20D2ED8B32}"/>
              </a:ext>
            </a:extLst>
          </p:cNvPr>
          <p:cNvSpPr/>
          <p:nvPr/>
        </p:nvSpPr>
        <p:spPr>
          <a:xfrm>
            <a:off x="7927028" y="3466071"/>
            <a:ext cx="412386" cy="15334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en-CA" dirty="0"/>
          </a:p>
        </p:txBody>
      </p:sp>
      <p:sp>
        <p:nvSpPr>
          <p:cNvPr id="70" name="Arrow: Down 69">
            <a:extLst>
              <a:ext uri="{FF2B5EF4-FFF2-40B4-BE49-F238E27FC236}">
                <a16:creationId xmlns:a16="http://schemas.microsoft.com/office/drawing/2014/main" id="{9BB8CC11-8D92-539C-E5E8-DAA6D4EFCA99}"/>
              </a:ext>
            </a:extLst>
          </p:cNvPr>
          <p:cNvSpPr/>
          <p:nvPr/>
        </p:nvSpPr>
        <p:spPr>
          <a:xfrm>
            <a:off x="7262643" y="3473518"/>
            <a:ext cx="412386" cy="15334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en-CA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C6F6109-CE91-55C0-CDE9-1FA0A55E1768}"/>
              </a:ext>
            </a:extLst>
          </p:cNvPr>
          <p:cNvSpPr/>
          <p:nvPr/>
        </p:nvSpPr>
        <p:spPr>
          <a:xfrm>
            <a:off x="550290" y="4986832"/>
            <a:ext cx="11513606" cy="3399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16 Flow through result queues (32 entry)</a:t>
            </a:r>
            <a:endParaRPr lang="en-CA" sz="110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089DFE8E-A4B4-4D09-D92F-B051C93C312D}"/>
              </a:ext>
            </a:extLst>
          </p:cNvPr>
          <p:cNvSpPr/>
          <p:nvPr/>
        </p:nvSpPr>
        <p:spPr>
          <a:xfrm>
            <a:off x="550290" y="5643997"/>
            <a:ext cx="11513606" cy="3399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20:4 rotating multiplex</a:t>
            </a:r>
            <a:endParaRPr lang="en-CA" sz="1100" dirty="0"/>
          </a:p>
        </p:txBody>
      </p:sp>
      <p:sp>
        <p:nvSpPr>
          <p:cNvPr id="73" name="Arrow: Down 72">
            <a:extLst>
              <a:ext uri="{FF2B5EF4-FFF2-40B4-BE49-F238E27FC236}">
                <a16:creationId xmlns:a16="http://schemas.microsoft.com/office/drawing/2014/main" id="{9591EC54-63D4-66BF-6A61-348EBA5DF458}"/>
              </a:ext>
            </a:extLst>
          </p:cNvPr>
          <p:cNvSpPr/>
          <p:nvPr/>
        </p:nvSpPr>
        <p:spPr>
          <a:xfrm>
            <a:off x="4465097" y="5314444"/>
            <a:ext cx="3418296" cy="31830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4" name="Arrow: Down 73">
            <a:extLst>
              <a:ext uri="{FF2B5EF4-FFF2-40B4-BE49-F238E27FC236}">
                <a16:creationId xmlns:a16="http://schemas.microsoft.com/office/drawing/2014/main" id="{4B9836E3-4F30-B303-77D3-E7C70ED48919}"/>
              </a:ext>
            </a:extLst>
          </p:cNvPr>
          <p:cNvSpPr/>
          <p:nvPr/>
        </p:nvSpPr>
        <p:spPr>
          <a:xfrm>
            <a:off x="4420334" y="5997454"/>
            <a:ext cx="3418296" cy="31830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4 results</a:t>
            </a:r>
            <a:endParaRPr lang="en-CA" sz="11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42A2CC6-130A-0169-AA3C-3244405DA334}"/>
              </a:ext>
            </a:extLst>
          </p:cNvPr>
          <p:cNvSpPr txBox="1"/>
          <p:nvPr/>
        </p:nvSpPr>
        <p:spPr>
          <a:xfrm>
            <a:off x="5061137" y="6286090"/>
            <a:ext cx="2106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Write to register file</a:t>
            </a:r>
            <a:endParaRPr lang="en-CA" dirty="0"/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CEC3892-632B-818B-78C4-59F223B66684}"/>
              </a:ext>
            </a:extLst>
          </p:cNvPr>
          <p:cNvCxnSpPr>
            <a:cxnSpLocks/>
          </p:cNvCxnSpPr>
          <p:nvPr/>
        </p:nvCxnSpPr>
        <p:spPr>
          <a:xfrm>
            <a:off x="550290" y="5571690"/>
            <a:ext cx="11513606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84FF6386-F641-CC75-0B08-39487717E665}"/>
              </a:ext>
            </a:extLst>
          </p:cNvPr>
          <p:cNvSpPr txBox="1"/>
          <p:nvPr/>
        </p:nvSpPr>
        <p:spPr>
          <a:xfrm>
            <a:off x="367874" y="5346882"/>
            <a:ext cx="1297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Pipeline Register</a:t>
            </a:r>
            <a:endParaRPr lang="en-CA" sz="12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2658078-6571-A2AC-B706-BC5A4D49B71C}"/>
              </a:ext>
            </a:extLst>
          </p:cNvPr>
          <p:cNvSpPr txBox="1"/>
          <p:nvPr/>
        </p:nvSpPr>
        <p:spPr>
          <a:xfrm>
            <a:off x="8114290" y="334104"/>
            <a:ext cx="3001143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SAU: Simple Arithmetic Unit (integer and float)</a:t>
            </a:r>
          </a:p>
          <a:p>
            <a:r>
              <a:rPr lang="en-US" sz="1000" dirty="0"/>
              <a:t>IMUL: Integer multiplier</a:t>
            </a:r>
          </a:p>
          <a:p>
            <a:r>
              <a:rPr lang="en-US" sz="1000" dirty="0"/>
              <a:t>IDIV: Integer Divider</a:t>
            </a:r>
          </a:p>
          <a:p>
            <a:r>
              <a:rPr lang="en-US" sz="1000" dirty="0"/>
              <a:t>FMA: Floating-point multiply and add</a:t>
            </a:r>
          </a:p>
          <a:p>
            <a:r>
              <a:rPr lang="en-US" sz="1000" dirty="0"/>
              <a:t>TRIG: Floating-point trig, divide and square root</a:t>
            </a:r>
          </a:p>
          <a:p>
            <a:r>
              <a:rPr lang="en-US" sz="1000" dirty="0"/>
              <a:t>FCU: Flow control unit (branch unit)</a:t>
            </a:r>
          </a:p>
          <a:p>
            <a:r>
              <a:rPr lang="en-US" sz="1000" dirty="0"/>
              <a:t>AGEN: Address generator</a:t>
            </a:r>
          </a:p>
          <a:p>
            <a:r>
              <a:rPr lang="en-US" sz="1000" dirty="0"/>
              <a:t>DRAM: Data cache control logic</a:t>
            </a:r>
          </a:p>
          <a:p>
            <a:endParaRPr lang="en-US" sz="1000" dirty="0"/>
          </a:p>
          <a:p>
            <a:r>
              <a:rPr lang="en-US" sz="1000" dirty="0"/>
              <a:t>Read ports are packed into a vector containing only</a:t>
            </a:r>
          </a:p>
          <a:p>
            <a:r>
              <a:rPr lang="en-US" sz="1000" dirty="0"/>
              <a:t>source operands that need reading.</a:t>
            </a:r>
            <a:endParaRPr lang="en-CA" sz="1000" dirty="0"/>
          </a:p>
        </p:txBody>
      </p:sp>
      <p:sp>
        <p:nvSpPr>
          <p:cNvPr id="80" name="Arrow: Up-Down 79">
            <a:extLst>
              <a:ext uri="{FF2B5EF4-FFF2-40B4-BE49-F238E27FC236}">
                <a16:creationId xmlns:a16="http://schemas.microsoft.com/office/drawing/2014/main" id="{23031C47-9C51-2E3C-8044-86E760B0C279}"/>
              </a:ext>
            </a:extLst>
          </p:cNvPr>
          <p:cNvSpPr/>
          <p:nvPr/>
        </p:nvSpPr>
        <p:spPr>
          <a:xfrm>
            <a:off x="8715764" y="2463631"/>
            <a:ext cx="340139" cy="76862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3</a:t>
            </a:r>
            <a:endParaRPr lang="en-CA" sz="1000" dirty="0">
              <a:solidFill>
                <a:schemeClr val="bg1"/>
              </a:solidFill>
            </a:endParaRPr>
          </a:p>
        </p:txBody>
      </p:sp>
      <p:sp>
        <p:nvSpPr>
          <p:cNvPr id="82" name="Arrow: Down 81">
            <a:extLst>
              <a:ext uri="{FF2B5EF4-FFF2-40B4-BE49-F238E27FC236}">
                <a16:creationId xmlns:a16="http://schemas.microsoft.com/office/drawing/2014/main" id="{358B07E1-F8AC-5A1E-64F8-01F9710B3DA6}"/>
              </a:ext>
            </a:extLst>
          </p:cNvPr>
          <p:cNvSpPr/>
          <p:nvPr/>
        </p:nvSpPr>
        <p:spPr>
          <a:xfrm>
            <a:off x="8694159" y="3450288"/>
            <a:ext cx="412386" cy="15334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en-CA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35101C1-E541-D542-199F-C5DB73595420}"/>
              </a:ext>
            </a:extLst>
          </p:cNvPr>
          <p:cNvSpPr txBox="1"/>
          <p:nvPr/>
        </p:nvSpPr>
        <p:spPr>
          <a:xfrm>
            <a:off x="1051017" y="4566917"/>
            <a:ext cx="335348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 dirty="0"/>
              <a:t>Lat: 1</a:t>
            </a:r>
            <a:endParaRPr lang="en-CA" sz="5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3E520EF-4343-E99C-087F-0232C7BC6D24}"/>
              </a:ext>
            </a:extLst>
          </p:cNvPr>
          <p:cNvSpPr txBox="1"/>
          <p:nvPr/>
        </p:nvSpPr>
        <p:spPr>
          <a:xfrm>
            <a:off x="1589784" y="4262151"/>
            <a:ext cx="335348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 dirty="0"/>
              <a:t>Lat: 1</a:t>
            </a:r>
            <a:endParaRPr lang="en-CA" sz="500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8FB1DF9-D495-C990-6566-49EAD69A86AB}"/>
              </a:ext>
            </a:extLst>
          </p:cNvPr>
          <p:cNvSpPr txBox="1"/>
          <p:nvPr/>
        </p:nvSpPr>
        <p:spPr>
          <a:xfrm>
            <a:off x="2241844" y="4249015"/>
            <a:ext cx="335348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 dirty="0"/>
              <a:t>Lat: 4</a:t>
            </a:r>
            <a:endParaRPr lang="en-CA" sz="5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9D1C316-B5D7-51AD-7A45-655722475189}"/>
              </a:ext>
            </a:extLst>
          </p:cNvPr>
          <p:cNvSpPr txBox="1"/>
          <p:nvPr/>
        </p:nvSpPr>
        <p:spPr>
          <a:xfrm>
            <a:off x="3471446" y="4249471"/>
            <a:ext cx="335348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 dirty="0"/>
              <a:t>Lat: 8</a:t>
            </a:r>
            <a:endParaRPr lang="en-CA" sz="5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57226EE-43AD-3F0F-0A0E-8ECA87874481}"/>
              </a:ext>
            </a:extLst>
          </p:cNvPr>
          <p:cNvSpPr txBox="1"/>
          <p:nvPr/>
        </p:nvSpPr>
        <p:spPr>
          <a:xfrm>
            <a:off x="4106332" y="4240248"/>
            <a:ext cx="335348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 dirty="0"/>
              <a:t>Lat: 8</a:t>
            </a:r>
            <a:endParaRPr lang="en-CA" sz="500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E8870B3-430D-D283-D86C-4C514A5BF941}"/>
              </a:ext>
            </a:extLst>
          </p:cNvPr>
          <p:cNvSpPr txBox="1"/>
          <p:nvPr/>
        </p:nvSpPr>
        <p:spPr>
          <a:xfrm>
            <a:off x="4761541" y="4248137"/>
            <a:ext cx="36580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 dirty="0"/>
              <a:t>Lat: ??</a:t>
            </a:r>
            <a:endParaRPr lang="en-CA" sz="5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D0E5963-C409-D8AD-920C-2D8AB5A17E9C}"/>
              </a:ext>
            </a:extLst>
          </p:cNvPr>
          <p:cNvSpPr txBox="1"/>
          <p:nvPr/>
        </p:nvSpPr>
        <p:spPr>
          <a:xfrm>
            <a:off x="5683502" y="3454192"/>
            <a:ext cx="335348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 dirty="0"/>
              <a:t>Lat: 1</a:t>
            </a:r>
            <a:endParaRPr lang="en-CA" sz="50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181DFDA-4CD0-5C12-2298-C7B2CE37957D}"/>
              </a:ext>
            </a:extLst>
          </p:cNvPr>
          <p:cNvSpPr txBox="1"/>
          <p:nvPr/>
        </p:nvSpPr>
        <p:spPr>
          <a:xfrm>
            <a:off x="8956101" y="4140573"/>
            <a:ext cx="335348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 dirty="0"/>
              <a:t>Lat: 3</a:t>
            </a:r>
            <a:endParaRPr lang="en-CA" sz="5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F88EC9D-8895-9EB8-CB82-C39049FDD38D}"/>
              </a:ext>
            </a:extLst>
          </p:cNvPr>
          <p:cNvSpPr txBox="1"/>
          <p:nvPr/>
        </p:nvSpPr>
        <p:spPr>
          <a:xfrm>
            <a:off x="2831086" y="4260694"/>
            <a:ext cx="36580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 dirty="0"/>
              <a:t>Lat: ??</a:t>
            </a:r>
            <a:endParaRPr lang="en-CA" sz="5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481DB56-C5C9-7AC4-0EE9-D297C341DF43}"/>
              </a:ext>
            </a:extLst>
          </p:cNvPr>
          <p:cNvSpPr/>
          <p:nvPr/>
        </p:nvSpPr>
        <p:spPr>
          <a:xfrm>
            <a:off x="9340340" y="3238921"/>
            <a:ext cx="615494" cy="5329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/>
              <a:t>Neural Network</a:t>
            </a:r>
          </a:p>
          <a:p>
            <a:pPr algn="ctr"/>
            <a:r>
              <a:rPr lang="en-US" sz="700" dirty="0"/>
              <a:t>16 parallel neurons</a:t>
            </a:r>
            <a:endParaRPr lang="en-CA" sz="700" dirty="0"/>
          </a:p>
        </p:txBody>
      </p:sp>
      <p:sp>
        <p:nvSpPr>
          <p:cNvPr id="25" name="Arrow: Up-Down 24">
            <a:extLst>
              <a:ext uri="{FF2B5EF4-FFF2-40B4-BE49-F238E27FC236}">
                <a16:creationId xmlns:a16="http://schemas.microsoft.com/office/drawing/2014/main" id="{DB92EDD2-6E78-2318-1091-5B24DD3F35EA}"/>
              </a:ext>
            </a:extLst>
          </p:cNvPr>
          <p:cNvSpPr/>
          <p:nvPr/>
        </p:nvSpPr>
        <p:spPr>
          <a:xfrm>
            <a:off x="9474440" y="2448574"/>
            <a:ext cx="340139" cy="76862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3</a:t>
            </a:r>
            <a:endParaRPr lang="en-CA" sz="1000" dirty="0">
              <a:solidFill>
                <a:schemeClr val="bg1"/>
              </a:solidFill>
            </a:endParaRPr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C9B770E9-9E36-BC7B-CD3A-649836BF1379}"/>
              </a:ext>
            </a:extLst>
          </p:cNvPr>
          <p:cNvSpPr/>
          <p:nvPr/>
        </p:nvSpPr>
        <p:spPr>
          <a:xfrm>
            <a:off x="9451831" y="3780849"/>
            <a:ext cx="412386" cy="120724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en-CA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CDDCB0D-07E3-F8C0-A2F8-13C02CA1A8B4}"/>
              </a:ext>
            </a:extLst>
          </p:cNvPr>
          <p:cNvSpPr/>
          <p:nvPr/>
        </p:nvSpPr>
        <p:spPr>
          <a:xfrm>
            <a:off x="4990744" y="845932"/>
            <a:ext cx="720000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/>
              <a:t>Port Packing</a:t>
            </a:r>
            <a:endParaRPr lang="en-CA" sz="700" dirty="0"/>
          </a:p>
        </p:txBody>
      </p:sp>
      <p:sp>
        <p:nvSpPr>
          <p:cNvPr id="30" name="Arrow: Up-Down 29">
            <a:extLst>
              <a:ext uri="{FF2B5EF4-FFF2-40B4-BE49-F238E27FC236}">
                <a16:creationId xmlns:a16="http://schemas.microsoft.com/office/drawing/2014/main" id="{44EB0E90-3C35-259C-59F8-3056456FD5B3}"/>
              </a:ext>
            </a:extLst>
          </p:cNvPr>
          <p:cNvSpPr/>
          <p:nvPr/>
        </p:nvSpPr>
        <p:spPr>
          <a:xfrm>
            <a:off x="5251488" y="1044471"/>
            <a:ext cx="212826" cy="33736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16</a:t>
            </a:r>
            <a:endParaRPr lang="en-CA" sz="1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5F0C49-D56C-37EF-6204-191B87F32ACB}"/>
              </a:ext>
            </a:extLst>
          </p:cNvPr>
          <p:cNvSpPr txBox="1"/>
          <p:nvPr/>
        </p:nvSpPr>
        <p:spPr>
          <a:xfrm>
            <a:off x="559296" y="813854"/>
            <a:ext cx="3643143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Rotating muxes change the read/write port priority every clock cycle to prevent ports from starving.</a:t>
            </a:r>
          </a:p>
          <a:p>
            <a:endParaRPr lang="en-US" sz="1100" dirty="0"/>
          </a:p>
          <a:p>
            <a:r>
              <a:rPr lang="en-US" sz="1100" dirty="0"/>
              <a:t>There is bypassing from register file inputs to reservation stations.</a:t>
            </a:r>
          </a:p>
          <a:p>
            <a:endParaRPr lang="en-US" sz="1100" dirty="0"/>
          </a:p>
          <a:p>
            <a:r>
              <a:rPr lang="en-US" sz="1100" dirty="0"/>
              <a:t>Reservation stations have three entry input queues.</a:t>
            </a:r>
            <a:endParaRPr lang="en-CA" sz="11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968DA46-1AA2-CE2E-542C-0AB89CE5CBE1}"/>
              </a:ext>
            </a:extLst>
          </p:cNvPr>
          <p:cNvSpPr/>
          <p:nvPr/>
        </p:nvSpPr>
        <p:spPr>
          <a:xfrm>
            <a:off x="10017514" y="3250033"/>
            <a:ext cx="491354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/>
              <a:t>Crypto</a:t>
            </a:r>
            <a:endParaRPr lang="en-CA" sz="700" dirty="0"/>
          </a:p>
        </p:txBody>
      </p:sp>
      <p:sp>
        <p:nvSpPr>
          <p:cNvPr id="78" name="Arrow: Up-Down 77">
            <a:extLst>
              <a:ext uri="{FF2B5EF4-FFF2-40B4-BE49-F238E27FC236}">
                <a16:creationId xmlns:a16="http://schemas.microsoft.com/office/drawing/2014/main" id="{5AA53529-B298-EF3D-BEB2-1D4443ECAF4C}"/>
              </a:ext>
            </a:extLst>
          </p:cNvPr>
          <p:cNvSpPr/>
          <p:nvPr/>
        </p:nvSpPr>
        <p:spPr>
          <a:xfrm>
            <a:off x="10063046" y="2455407"/>
            <a:ext cx="340139" cy="76862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1</a:t>
            </a:r>
            <a:endParaRPr lang="en-CA" sz="1000" dirty="0">
              <a:solidFill>
                <a:schemeClr val="bg1"/>
              </a:solidFill>
            </a:endParaRPr>
          </a:p>
        </p:txBody>
      </p:sp>
      <p:sp>
        <p:nvSpPr>
          <p:cNvPr id="94" name="Arrow: Down 93">
            <a:extLst>
              <a:ext uri="{FF2B5EF4-FFF2-40B4-BE49-F238E27FC236}">
                <a16:creationId xmlns:a16="http://schemas.microsoft.com/office/drawing/2014/main" id="{2B9C3FDD-E935-4F8F-A3B4-D03E1AE89E70}"/>
              </a:ext>
            </a:extLst>
          </p:cNvPr>
          <p:cNvSpPr/>
          <p:nvPr/>
        </p:nvSpPr>
        <p:spPr>
          <a:xfrm>
            <a:off x="10063046" y="3481913"/>
            <a:ext cx="412386" cy="149325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en-CA" dirty="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818A4B9F-614C-0A8D-0E5A-11F2715FEFA7}"/>
              </a:ext>
            </a:extLst>
          </p:cNvPr>
          <p:cNvSpPr/>
          <p:nvPr/>
        </p:nvSpPr>
        <p:spPr>
          <a:xfrm>
            <a:off x="4530552" y="1382885"/>
            <a:ext cx="1598322" cy="3717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/>
              <a:t>Register File Read</a:t>
            </a:r>
            <a:endParaRPr lang="en-CA" sz="700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A1A0868-613A-7356-225A-7748D7DD9C03}"/>
              </a:ext>
            </a:extLst>
          </p:cNvPr>
          <p:cNvSpPr txBox="1"/>
          <p:nvPr/>
        </p:nvSpPr>
        <p:spPr>
          <a:xfrm>
            <a:off x="5563456" y="3890196"/>
            <a:ext cx="15553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Reservation Stations</a:t>
            </a:r>
            <a:endParaRPr lang="en-CA" sz="1200" dirty="0"/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41F93285-5143-E06F-5514-FC1C3854AE4E}"/>
              </a:ext>
            </a:extLst>
          </p:cNvPr>
          <p:cNvCxnSpPr/>
          <p:nvPr/>
        </p:nvCxnSpPr>
        <p:spPr>
          <a:xfrm flipV="1">
            <a:off x="6547437" y="3517218"/>
            <a:ext cx="138625" cy="3421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B342B8BB-585D-7B3C-4B3B-56191BF22736}"/>
              </a:ext>
            </a:extLst>
          </p:cNvPr>
          <p:cNvCxnSpPr/>
          <p:nvPr/>
        </p:nvCxnSpPr>
        <p:spPr>
          <a:xfrm flipV="1">
            <a:off x="6833704" y="3538830"/>
            <a:ext cx="371061" cy="3205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8C788CD4-DE31-AEDD-1B6C-A0EE6B0EEA7A}"/>
              </a:ext>
            </a:extLst>
          </p:cNvPr>
          <p:cNvCxnSpPr/>
          <p:nvPr/>
        </p:nvCxnSpPr>
        <p:spPr>
          <a:xfrm flipV="1">
            <a:off x="6179930" y="3538830"/>
            <a:ext cx="0" cy="3205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A961A69D-8F94-0A24-1763-92B5BC676AF9}"/>
              </a:ext>
            </a:extLst>
          </p:cNvPr>
          <p:cNvCxnSpPr/>
          <p:nvPr/>
        </p:nvCxnSpPr>
        <p:spPr>
          <a:xfrm flipH="1" flipV="1">
            <a:off x="5592332" y="3502640"/>
            <a:ext cx="236000" cy="4008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ectangle 105">
            <a:extLst>
              <a:ext uri="{FF2B5EF4-FFF2-40B4-BE49-F238E27FC236}">
                <a16:creationId xmlns:a16="http://schemas.microsoft.com/office/drawing/2014/main" id="{70368FDF-06CC-5DB3-E45A-CFB9D5FE4C3F}"/>
              </a:ext>
            </a:extLst>
          </p:cNvPr>
          <p:cNvSpPr/>
          <p:nvPr/>
        </p:nvSpPr>
        <p:spPr>
          <a:xfrm>
            <a:off x="10554155" y="3250750"/>
            <a:ext cx="553884" cy="5329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/>
              <a:t>Graphics</a:t>
            </a:r>
            <a:endParaRPr lang="en-CA" sz="700" dirty="0"/>
          </a:p>
        </p:txBody>
      </p:sp>
      <p:sp>
        <p:nvSpPr>
          <p:cNvPr id="107" name="Arrow: Up-Down 106">
            <a:extLst>
              <a:ext uri="{FF2B5EF4-FFF2-40B4-BE49-F238E27FC236}">
                <a16:creationId xmlns:a16="http://schemas.microsoft.com/office/drawing/2014/main" id="{0B3BB0DD-364C-9C0A-D374-2C3A40385486}"/>
              </a:ext>
            </a:extLst>
          </p:cNvPr>
          <p:cNvSpPr/>
          <p:nvPr/>
        </p:nvSpPr>
        <p:spPr>
          <a:xfrm>
            <a:off x="10644763" y="2463631"/>
            <a:ext cx="340139" cy="76862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3</a:t>
            </a:r>
            <a:endParaRPr lang="en-CA" sz="1000" dirty="0">
              <a:solidFill>
                <a:schemeClr val="bg1"/>
              </a:solidFill>
            </a:endParaRPr>
          </a:p>
        </p:txBody>
      </p:sp>
      <p:sp>
        <p:nvSpPr>
          <p:cNvPr id="109" name="Arrow: Down 108">
            <a:extLst>
              <a:ext uri="{FF2B5EF4-FFF2-40B4-BE49-F238E27FC236}">
                <a16:creationId xmlns:a16="http://schemas.microsoft.com/office/drawing/2014/main" id="{6FBE0B35-0304-3DC6-3097-3C12B2CB2125}"/>
              </a:ext>
            </a:extLst>
          </p:cNvPr>
          <p:cNvSpPr/>
          <p:nvPr/>
        </p:nvSpPr>
        <p:spPr>
          <a:xfrm>
            <a:off x="10614525" y="3788829"/>
            <a:ext cx="412386" cy="119491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en-CA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B522A12-A492-6A1C-4438-ABFA464B5CC0}"/>
              </a:ext>
            </a:extLst>
          </p:cNvPr>
          <p:cNvSpPr/>
          <p:nvPr/>
        </p:nvSpPr>
        <p:spPr>
          <a:xfrm>
            <a:off x="11158799" y="3258021"/>
            <a:ext cx="706314" cy="5329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/>
              <a:t>Capabilities</a:t>
            </a:r>
            <a:endParaRPr lang="en-CA" sz="700" dirty="0"/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FB420181-00EB-476F-E8E1-511C1E684828}"/>
              </a:ext>
            </a:extLst>
          </p:cNvPr>
          <p:cNvSpPr/>
          <p:nvPr/>
        </p:nvSpPr>
        <p:spPr>
          <a:xfrm>
            <a:off x="11293701" y="3795514"/>
            <a:ext cx="412386" cy="119491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lang="en-CA" dirty="0"/>
          </a:p>
        </p:txBody>
      </p:sp>
      <p:sp>
        <p:nvSpPr>
          <p:cNvPr id="28" name="Arrow: Up-Down 27">
            <a:extLst>
              <a:ext uri="{FF2B5EF4-FFF2-40B4-BE49-F238E27FC236}">
                <a16:creationId xmlns:a16="http://schemas.microsoft.com/office/drawing/2014/main" id="{11D3DA34-9AD0-64AB-B290-A53E3F8CB104}"/>
              </a:ext>
            </a:extLst>
          </p:cNvPr>
          <p:cNvSpPr/>
          <p:nvPr/>
        </p:nvSpPr>
        <p:spPr>
          <a:xfrm>
            <a:off x="11140360" y="2470295"/>
            <a:ext cx="340139" cy="76862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3</a:t>
            </a:r>
            <a:endParaRPr lang="en-CA" sz="1000" dirty="0">
              <a:solidFill>
                <a:schemeClr val="bg1"/>
              </a:solidFill>
            </a:endParaRPr>
          </a:p>
        </p:txBody>
      </p:sp>
      <p:sp>
        <p:nvSpPr>
          <p:cNvPr id="48" name="Arrow: Up-Down 47">
            <a:extLst>
              <a:ext uri="{FF2B5EF4-FFF2-40B4-BE49-F238E27FC236}">
                <a16:creationId xmlns:a16="http://schemas.microsoft.com/office/drawing/2014/main" id="{93F6DCD7-0DCD-999B-1D94-DD1C827A5C8D}"/>
              </a:ext>
            </a:extLst>
          </p:cNvPr>
          <p:cNvSpPr/>
          <p:nvPr/>
        </p:nvSpPr>
        <p:spPr>
          <a:xfrm>
            <a:off x="11536017" y="2473260"/>
            <a:ext cx="340139" cy="76862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3</a:t>
            </a:r>
            <a:endParaRPr lang="en-CA" sz="1000" dirty="0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4B08F64-0CD3-8980-398C-ADBA3AB49225}"/>
              </a:ext>
            </a:extLst>
          </p:cNvPr>
          <p:cNvSpPr/>
          <p:nvPr/>
        </p:nvSpPr>
        <p:spPr>
          <a:xfrm>
            <a:off x="2494049" y="3777576"/>
            <a:ext cx="657348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/>
              <a:t>Hardware Queues</a:t>
            </a:r>
            <a:endParaRPr lang="en-CA" sz="700" dirty="0"/>
          </a:p>
        </p:txBody>
      </p:sp>
    </p:spTree>
    <p:extLst>
      <p:ext uri="{BB962C8B-B14F-4D97-AF65-F5344CB8AC3E}">
        <p14:creationId xmlns:p14="http://schemas.microsoft.com/office/powerpoint/2010/main" val="3493996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76A82-092D-CF16-A768-4B843A414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83" y="64807"/>
            <a:ext cx="10515600" cy="1325563"/>
          </a:xfrm>
        </p:spPr>
        <p:txBody>
          <a:bodyPr/>
          <a:lstStyle/>
          <a:p>
            <a:r>
              <a:rPr lang="en-US" dirty="0"/>
              <a:t>Qupls4: Reservation Stations</a:t>
            </a:r>
            <a:endParaRPr lang="en-C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954E2B-447A-3F7A-0FC3-E6CAE451E1D5}"/>
              </a:ext>
            </a:extLst>
          </p:cNvPr>
          <p:cNvSpPr/>
          <p:nvPr/>
        </p:nvSpPr>
        <p:spPr>
          <a:xfrm>
            <a:off x="701133" y="3085159"/>
            <a:ext cx="1307548" cy="2284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Operand Latch #1</a:t>
            </a:r>
            <a:endParaRPr lang="en-CA" sz="11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355EF9-E535-BB32-A603-315D68A4CF9D}"/>
              </a:ext>
            </a:extLst>
          </p:cNvPr>
          <p:cNvSpPr/>
          <p:nvPr/>
        </p:nvSpPr>
        <p:spPr>
          <a:xfrm>
            <a:off x="2079618" y="3085159"/>
            <a:ext cx="1307548" cy="2284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Operand Latch #2</a:t>
            </a:r>
            <a:endParaRPr lang="en-CA" sz="11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53A54E-9958-C86D-AFF0-6DF07F6D11E5}"/>
              </a:ext>
            </a:extLst>
          </p:cNvPr>
          <p:cNvSpPr/>
          <p:nvPr/>
        </p:nvSpPr>
        <p:spPr>
          <a:xfrm>
            <a:off x="3458102" y="3085159"/>
            <a:ext cx="1298454" cy="2284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Operand Latch #3</a:t>
            </a:r>
            <a:endParaRPr lang="en-CA" sz="11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B29C90-9E5D-09FF-C54D-5686CF22F15D}"/>
              </a:ext>
            </a:extLst>
          </p:cNvPr>
          <p:cNvSpPr/>
          <p:nvPr/>
        </p:nvSpPr>
        <p:spPr>
          <a:xfrm>
            <a:off x="4827492" y="3085159"/>
            <a:ext cx="1298454" cy="2284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Operand Latch #4</a:t>
            </a:r>
            <a:endParaRPr lang="en-CA" sz="11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C55BF0-D12E-9A47-9CAD-7AD610798C73}"/>
              </a:ext>
            </a:extLst>
          </p:cNvPr>
          <p:cNvSpPr/>
          <p:nvPr/>
        </p:nvSpPr>
        <p:spPr>
          <a:xfrm>
            <a:off x="643707" y="2813489"/>
            <a:ext cx="5546293" cy="654749"/>
          </a:xfrm>
          <a:prstGeom prst="rect">
            <a:avLst/>
          </a:prstGeom>
          <a:solidFill>
            <a:schemeClr val="accent1">
              <a:alpha val="4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dirty="0">
                <a:solidFill>
                  <a:schemeClr val="tx1"/>
                </a:solidFill>
              </a:rPr>
              <a:t>Queue Entry #1</a:t>
            </a:r>
            <a:endParaRPr lang="en-CA" sz="12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98CC17-9D06-901F-3C9C-8A12A1EBB6B7}"/>
              </a:ext>
            </a:extLst>
          </p:cNvPr>
          <p:cNvSpPr/>
          <p:nvPr/>
        </p:nvSpPr>
        <p:spPr>
          <a:xfrm>
            <a:off x="701133" y="4174046"/>
            <a:ext cx="1307548" cy="2284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Operand Latch #1</a:t>
            </a:r>
            <a:endParaRPr lang="en-CA" sz="11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1B46AF-FFB7-C943-5143-303058ED2177}"/>
              </a:ext>
            </a:extLst>
          </p:cNvPr>
          <p:cNvSpPr/>
          <p:nvPr/>
        </p:nvSpPr>
        <p:spPr>
          <a:xfrm>
            <a:off x="2079618" y="4174046"/>
            <a:ext cx="1307548" cy="2284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Operand Latch #2</a:t>
            </a:r>
            <a:endParaRPr lang="en-CA" sz="11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787AFF-4B81-57CD-C80A-3A45635AEDCE}"/>
              </a:ext>
            </a:extLst>
          </p:cNvPr>
          <p:cNvSpPr/>
          <p:nvPr/>
        </p:nvSpPr>
        <p:spPr>
          <a:xfrm>
            <a:off x="3458102" y="4174046"/>
            <a:ext cx="1298454" cy="2284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Operand Latch #3</a:t>
            </a:r>
            <a:endParaRPr lang="en-CA" sz="11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173CF43-E767-12EB-0CA2-01FC0DA056FA}"/>
              </a:ext>
            </a:extLst>
          </p:cNvPr>
          <p:cNvSpPr/>
          <p:nvPr/>
        </p:nvSpPr>
        <p:spPr>
          <a:xfrm>
            <a:off x="4827492" y="4174046"/>
            <a:ext cx="1298454" cy="2284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Operand Latch #4</a:t>
            </a:r>
            <a:endParaRPr lang="en-CA" sz="11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0EF87FE-1F84-5C9D-BDA3-2C56432EBBA3}"/>
              </a:ext>
            </a:extLst>
          </p:cNvPr>
          <p:cNvSpPr/>
          <p:nvPr/>
        </p:nvSpPr>
        <p:spPr>
          <a:xfrm>
            <a:off x="643707" y="3902376"/>
            <a:ext cx="5546293" cy="654749"/>
          </a:xfrm>
          <a:prstGeom prst="rect">
            <a:avLst/>
          </a:prstGeom>
          <a:solidFill>
            <a:schemeClr val="accent1">
              <a:alpha val="4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dirty="0">
                <a:solidFill>
                  <a:schemeClr val="tx1"/>
                </a:solidFill>
              </a:rPr>
              <a:t>Queue Entry #2</a:t>
            </a:r>
            <a:endParaRPr lang="en-CA" sz="1200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9BD3838-BBDB-84C4-AD94-659C06006C1C}"/>
              </a:ext>
            </a:extLst>
          </p:cNvPr>
          <p:cNvSpPr/>
          <p:nvPr/>
        </p:nvSpPr>
        <p:spPr>
          <a:xfrm>
            <a:off x="701133" y="5262933"/>
            <a:ext cx="1307548" cy="2284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Operand Latch #1</a:t>
            </a:r>
            <a:endParaRPr lang="en-CA" sz="11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5572CD2-600D-3953-1A11-0F4FD1D662D2}"/>
              </a:ext>
            </a:extLst>
          </p:cNvPr>
          <p:cNvSpPr/>
          <p:nvPr/>
        </p:nvSpPr>
        <p:spPr>
          <a:xfrm>
            <a:off x="2079618" y="5262933"/>
            <a:ext cx="1307548" cy="2284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Operand Latch #2</a:t>
            </a:r>
            <a:endParaRPr lang="en-CA" sz="11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A1C4564-E4BA-2915-6206-89E01FF3C157}"/>
              </a:ext>
            </a:extLst>
          </p:cNvPr>
          <p:cNvSpPr/>
          <p:nvPr/>
        </p:nvSpPr>
        <p:spPr>
          <a:xfrm>
            <a:off x="3458102" y="5262933"/>
            <a:ext cx="1298454" cy="2284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Operand Latch #3</a:t>
            </a:r>
            <a:endParaRPr lang="en-CA" sz="11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3A8AAAC-D734-A25E-54BD-D9F10ECD2BCB}"/>
              </a:ext>
            </a:extLst>
          </p:cNvPr>
          <p:cNvSpPr/>
          <p:nvPr/>
        </p:nvSpPr>
        <p:spPr>
          <a:xfrm>
            <a:off x="4827492" y="5262933"/>
            <a:ext cx="1298454" cy="2284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Operand Latch #4</a:t>
            </a:r>
            <a:endParaRPr lang="en-CA" sz="11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9914D81-351C-9715-996D-D351355B0C9A}"/>
              </a:ext>
            </a:extLst>
          </p:cNvPr>
          <p:cNvSpPr/>
          <p:nvPr/>
        </p:nvSpPr>
        <p:spPr>
          <a:xfrm>
            <a:off x="643707" y="4991263"/>
            <a:ext cx="5546293" cy="654749"/>
          </a:xfrm>
          <a:prstGeom prst="rect">
            <a:avLst/>
          </a:prstGeom>
          <a:solidFill>
            <a:schemeClr val="accent1">
              <a:alpha val="4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dirty="0">
                <a:solidFill>
                  <a:schemeClr val="tx1"/>
                </a:solidFill>
              </a:rPr>
              <a:t>Queue Entry #3</a:t>
            </a:r>
            <a:endParaRPr lang="en-CA" sz="1200" dirty="0">
              <a:solidFill>
                <a:schemeClr val="tx1"/>
              </a:solidFill>
            </a:endParaRPr>
          </a:p>
        </p:txBody>
      </p:sp>
      <p:sp>
        <p:nvSpPr>
          <p:cNvPr id="19" name="Trapezoid 18">
            <a:extLst>
              <a:ext uri="{FF2B5EF4-FFF2-40B4-BE49-F238E27FC236}">
                <a16:creationId xmlns:a16="http://schemas.microsoft.com/office/drawing/2014/main" id="{929D795E-7D96-2BDD-2B15-8851834D25D3}"/>
              </a:ext>
            </a:extLst>
          </p:cNvPr>
          <p:cNvSpPr/>
          <p:nvPr/>
        </p:nvSpPr>
        <p:spPr>
          <a:xfrm rot="5400000">
            <a:off x="5676753" y="3944487"/>
            <a:ext cx="2832524" cy="570529"/>
          </a:xfrm>
          <a:prstGeom prst="trapezoi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3:1 mux</a:t>
            </a:r>
            <a:endParaRPr lang="en-CA" dirty="0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1DF85E75-D397-4A14-DEC2-05368A25CF0E}"/>
              </a:ext>
            </a:extLst>
          </p:cNvPr>
          <p:cNvSpPr/>
          <p:nvPr/>
        </p:nvSpPr>
        <p:spPr>
          <a:xfrm>
            <a:off x="7378280" y="3987434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D9F6B381-9265-D55C-C89D-5AB15A169578}"/>
              </a:ext>
            </a:extLst>
          </p:cNvPr>
          <p:cNvSpPr/>
          <p:nvPr/>
        </p:nvSpPr>
        <p:spPr>
          <a:xfrm>
            <a:off x="6196882" y="2898547"/>
            <a:ext cx="61086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8205E3F5-C275-FE86-0CDB-B1FBC2C1E576}"/>
              </a:ext>
            </a:extLst>
          </p:cNvPr>
          <p:cNvSpPr/>
          <p:nvPr/>
        </p:nvSpPr>
        <p:spPr>
          <a:xfrm>
            <a:off x="6190000" y="3987434"/>
            <a:ext cx="61086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42184D23-A98B-E99E-AFB4-73CD36A59F16}"/>
              </a:ext>
            </a:extLst>
          </p:cNvPr>
          <p:cNvSpPr/>
          <p:nvPr/>
        </p:nvSpPr>
        <p:spPr>
          <a:xfrm>
            <a:off x="6190000" y="5076321"/>
            <a:ext cx="61086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728B52-0D23-9B07-B1EA-A00181E41FE1}"/>
              </a:ext>
            </a:extLst>
          </p:cNvPr>
          <p:cNvSpPr txBox="1"/>
          <p:nvPr/>
        </p:nvSpPr>
        <p:spPr>
          <a:xfrm>
            <a:off x="8442241" y="3902376"/>
            <a:ext cx="19732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Operands</a:t>
            </a:r>
          </a:p>
          <a:p>
            <a:r>
              <a:rPr lang="en-US" dirty="0"/>
              <a:t>To Functional Unit</a:t>
            </a:r>
            <a:endParaRPr lang="en-CA" dirty="0"/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8018E69C-705E-4D64-316A-36575E0073ED}"/>
              </a:ext>
            </a:extLst>
          </p:cNvPr>
          <p:cNvSpPr/>
          <p:nvPr/>
        </p:nvSpPr>
        <p:spPr>
          <a:xfrm>
            <a:off x="1390245" y="1824508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8A934254-93B2-C64F-DE84-6477009B256D}"/>
              </a:ext>
            </a:extLst>
          </p:cNvPr>
          <p:cNvSpPr/>
          <p:nvPr/>
        </p:nvSpPr>
        <p:spPr>
          <a:xfrm>
            <a:off x="3083645" y="1824508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E172B27-3618-75CC-E11C-0B939FA38D45}"/>
              </a:ext>
            </a:extLst>
          </p:cNvPr>
          <p:cNvSpPr txBox="1"/>
          <p:nvPr/>
        </p:nvSpPr>
        <p:spPr>
          <a:xfrm>
            <a:off x="804406" y="1447054"/>
            <a:ext cx="1791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Bypass Network</a:t>
            </a:r>
            <a:endParaRPr lang="en-CA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4589F54-267A-CC39-8888-2439935BCBA6}"/>
              </a:ext>
            </a:extLst>
          </p:cNvPr>
          <p:cNvSpPr txBox="1"/>
          <p:nvPr/>
        </p:nvSpPr>
        <p:spPr>
          <a:xfrm>
            <a:off x="2585537" y="1453859"/>
            <a:ext cx="1521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Register File</a:t>
            </a:r>
            <a:endParaRPr lang="en-CA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0BA8278-6C4B-8B6F-3397-A3E153371543}"/>
              </a:ext>
            </a:extLst>
          </p:cNvPr>
          <p:cNvSpPr txBox="1"/>
          <p:nvPr/>
        </p:nvSpPr>
        <p:spPr>
          <a:xfrm>
            <a:off x="7740669" y="1020694"/>
            <a:ext cx="3611477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A request is made to the register file to fetch values that have not been latched yet.</a:t>
            </a:r>
          </a:p>
          <a:p>
            <a:endParaRPr lang="en-US" sz="1100" dirty="0"/>
          </a:p>
          <a:p>
            <a:r>
              <a:rPr lang="en-US" sz="1100" dirty="0"/>
              <a:t>Operand latches are filled from either the register file or the results bypassing network as available.</a:t>
            </a:r>
          </a:p>
          <a:p>
            <a:endParaRPr lang="en-US" sz="1100" dirty="0"/>
          </a:p>
          <a:p>
            <a:r>
              <a:rPr lang="en-US" sz="1100" dirty="0"/>
              <a:t>Once all operands are valid for a queue entry, the instruction may be scheduled to go to the functional unit. The functional unit must also be ready to accept a new operation.</a:t>
            </a:r>
          </a:p>
          <a:p>
            <a:endParaRPr lang="en-US" sz="1100" dirty="0"/>
          </a:p>
          <a:p>
            <a:r>
              <a:rPr lang="en-US" sz="1100" dirty="0"/>
              <a:t>Once the queue entry has gone to the functional unit it is marked available for a new instruction.</a:t>
            </a:r>
            <a:endParaRPr lang="en-CA" sz="11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CEFB8A0-EDFE-668D-C31C-2660889B30B0}"/>
              </a:ext>
            </a:extLst>
          </p:cNvPr>
          <p:cNvSpPr/>
          <p:nvPr/>
        </p:nvSpPr>
        <p:spPr>
          <a:xfrm>
            <a:off x="8376002" y="5720002"/>
            <a:ext cx="1317812" cy="6359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Scheduler</a:t>
            </a:r>
            <a:endParaRPr lang="en-CA" dirty="0"/>
          </a:p>
        </p:txBody>
      </p:sp>
      <p:sp>
        <p:nvSpPr>
          <p:cNvPr id="31" name="Arrow: Down 30">
            <a:extLst>
              <a:ext uri="{FF2B5EF4-FFF2-40B4-BE49-F238E27FC236}">
                <a16:creationId xmlns:a16="http://schemas.microsoft.com/office/drawing/2014/main" id="{3341695D-A663-FD9E-1497-FA8609A3EB98}"/>
              </a:ext>
            </a:extLst>
          </p:cNvPr>
          <p:cNvSpPr/>
          <p:nvPr/>
        </p:nvSpPr>
        <p:spPr>
          <a:xfrm rot="10800000">
            <a:off x="4933101" y="1840759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B180A55-32E0-7DED-BF42-A7CB477B3716}"/>
              </a:ext>
            </a:extLst>
          </p:cNvPr>
          <p:cNvSpPr txBox="1"/>
          <p:nvPr/>
        </p:nvSpPr>
        <p:spPr>
          <a:xfrm>
            <a:off x="4180766" y="1452732"/>
            <a:ext cx="2473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Register Read Request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888516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1B7A507-0B6D-6C1F-0AE0-BAA6239F0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565" y="0"/>
            <a:ext cx="5720869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5E199E5-4BC0-E848-B91D-06C5DD2E487F}"/>
              </a:ext>
            </a:extLst>
          </p:cNvPr>
          <p:cNvSpPr txBox="1"/>
          <p:nvPr/>
        </p:nvSpPr>
        <p:spPr>
          <a:xfrm>
            <a:off x="283464" y="466344"/>
            <a:ext cx="2455319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Root Opcode Map</a:t>
            </a:r>
          </a:p>
          <a:p>
            <a:r>
              <a:rPr lang="en-US" sz="1200" dirty="0"/>
              <a:t>Orange = control</a:t>
            </a:r>
          </a:p>
          <a:p>
            <a:r>
              <a:rPr lang="en-US" sz="1200" dirty="0"/>
              <a:t>Yellow = capabilities</a:t>
            </a:r>
          </a:p>
          <a:p>
            <a:r>
              <a:rPr lang="en-US" sz="1200" dirty="0"/>
              <a:t>Grey = arithmetic</a:t>
            </a:r>
          </a:p>
          <a:p>
            <a:r>
              <a:rPr lang="en-US" sz="1200" dirty="0"/>
              <a:t>Green = branch</a:t>
            </a:r>
          </a:p>
          <a:p>
            <a:r>
              <a:rPr lang="en-US" sz="1200" dirty="0"/>
              <a:t>Pink = memory</a:t>
            </a:r>
          </a:p>
          <a:p>
            <a:endParaRPr lang="en-US" sz="1200" dirty="0"/>
          </a:p>
          <a:p>
            <a:r>
              <a:rPr lang="en-US" sz="1200" dirty="0"/>
              <a:t>There are about 25 open opcodes and the instruction set is pretty complete. There may be some more graphics or AI instructions </a:t>
            </a:r>
            <a:r>
              <a:rPr lang="en-US" sz="1200"/>
              <a:t>to be added </a:t>
            </a:r>
            <a:r>
              <a:rPr lang="en-US" sz="1200" dirty="0"/>
              <a:t>yet.</a:t>
            </a:r>
            <a:endParaRPr lang="en-CA" sz="1200" dirty="0"/>
          </a:p>
        </p:txBody>
      </p:sp>
    </p:spTree>
    <p:extLst>
      <p:ext uri="{BB962C8B-B14F-4D97-AF65-F5344CB8AC3E}">
        <p14:creationId xmlns:p14="http://schemas.microsoft.com/office/powerpoint/2010/main" val="23880229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F5E3B-E68A-AB15-0E22-5D809E5F1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21" y="46037"/>
            <a:ext cx="10515600" cy="1325563"/>
          </a:xfrm>
        </p:spPr>
        <p:txBody>
          <a:bodyPr/>
          <a:lstStyle/>
          <a:p>
            <a:r>
              <a:rPr lang="en-US" dirty="0"/>
              <a:t>Qupls4: External Interrupt Handling</a:t>
            </a:r>
            <a:endParaRPr lang="en-C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6FEDA4-419C-65B8-65D7-E475FE461BA2}"/>
              </a:ext>
            </a:extLst>
          </p:cNvPr>
          <p:cNvSpPr/>
          <p:nvPr/>
        </p:nvSpPr>
        <p:spPr>
          <a:xfrm>
            <a:off x="5830956" y="2826025"/>
            <a:ext cx="1616765" cy="10866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Deferred IRQ FIFO</a:t>
            </a:r>
            <a:endParaRPr lang="en-CA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5010419-CD67-956C-950D-D3BA5119C10F}"/>
              </a:ext>
            </a:extLst>
          </p:cNvPr>
          <p:cNvSpPr/>
          <p:nvPr/>
        </p:nvSpPr>
        <p:spPr>
          <a:xfrm>
            <a:off x="1298715" y="4572000"/>
            <a:ext cx="60960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Processor Pipeline</a:t>
            </a:r>
            <a:endParaRPr lang="en-CA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C6CD796-10BE-A1CF-6E02-CCDB11422AB4}"/>
              </a:ext>
            </a:extLst>
          </p:cNvPr>
          <p:cNvCxnSpPr>
            <a:cxnSpLocks/>
            <a:endCxn id="4" idx="2"/>
          </p:cNvCxnSpPr>
          <p:nvPr/>
        </p:nvCxnSpPr>
        <p:spPr>
          <a:xfrm flipV="1">
            <a:off x="6639339" y="3912704"/>
            <a:ext cx="0" cy="6592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655D3B0-FCC0-B109-CC01-C06AAB87CFED}"/>
              </a:ext>
            </a:extLst>
          </p:cNvPr>
          <p:cNvSpPr txBox="1"/>
          <p:nvPr/>
        </p:nvSpPr>
        <p:spPr>
          <a:xfrm>
            <a:off x="6722982" y="3925669"/>
            <a:ext cx="34306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IRQ disabled at time of commit</a:t>
            </a:r>
          </a:p>
          <a:p>
            <a:r>
              <a:rPr lang="en-US" dirty="0"/>
              <a:t>The IRQ is deferred by a FIFO</a:t>
            </a:r>
            <a:endParaRPr lang="en-CA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6480AD-8E3B-7AC1-13E9-76ACC1C822DC}"/>
              </a:ext>
            </a:extLst>
          </p:cNvPr>
          <p:cNvSpPr/>
          <p:nvPr/>
        </p:nvSpPr>
        <p:spPr>
          <a:xfrm>
            <a:off x="1364974" y="2826025"/>
            <a:ext cx="1557131" cy="10996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Branch Target Buffer Logic</a:t>
            </a:r>
            <a:endParaRPr lang="en-CA" dirty="0"/>
          </a:p>
        </p:txBody>
      </p:sp>
      <p:sp>
        <p:nvSpPr>
          <p:cNvPr id="11" name="Trapezoid 10">
            <a:extLst>
              <a:ext uri="{FF2B5EF4-FFF2-40B4-BE49-F238E27FC236}">
                <a16:creationId xmlns:a16="http://schemas.microsoft.com/office/drawing/2014/main" id="{85CECB16-A6CF-539B-A783-13CE90523229}"/>
              </a:ext>
            </a:extLst>
          </p:cNvPr>
          <p:cNvSpPr/>
          <p:nvPr/>
        </p:nvSpPr>
        <p:spPr>
          <a:xfrm rot="16200000">
            <a:off x="3868112" y="1928190"/>
            <a:ext cx="1459263" cy="714094"/>
          </a:xfrm>
          <a:prstGeom prst="trapezoi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Mux</a:t>
            </a:r>
            <a:endParaRPr lang="en-CA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078ED35-51CC-0EC1-20E1-498922476401}"/>
              </a:ext>
            </a:extLst>
          </p:cNvPr>
          <p:cNvCxnSpPr/>
          <p:nvPr/>
        </p:nvCxnSpPr>
        <p:spPr>
          <a:xfrm flipH="1">
            <a:off x="4954791" y="1881808"/>
            <a:ext cx="261882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30B7E47-1909-080F-CFE3-20CD55CF493F}"/>
              </a:ext>
            </a:extLst>
          </p:cNvPr>
          <p:cNvSpPr txBox="1"/>
          <p:nvPr/>
        </p:nvSpPr>
        <p:spPr>
          <a:xfrm>
            <a:off x="5923257" y="1480269"/>
            <a:ext cx="1520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Incoming IRQ</a:t>
            </a:r>
            <a:endParaRPr lang="en-CA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86809D4-873B-1191-EBC5-796D3D108735}"/>
              </a:ext>
            </a:extLst>
          </p:cNvPr>
          <p:cNvCxnSpPr>
            <a:stCxn id="4" idx="0"/>
          </p:cNvCxnSpPr>
          <p:nvPr/>
        </p:nvCxnSpPr>
        <p:spPr>
          <a:xfrm flipH="1" flipV="1">
            <a:off x="6639338" y="2484782"/>
            <a:ext cx="1" cy="3412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9E5FC91-E98C-901D-DE45-2F2DCFF5BCE5}"/>
              </a:ext>
            </a:extLst>
          </p:cNvPr>
          <p:cNvCxnSpPr/>
          <p:nvPr/>
        </p:nvCxnSpPr>
        <p:spPr>
          <a:xfrm flipH="1">
            <a:off x="4954791" y="2491408"/>
            <a:ext cx="16845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68A5805-2C7C-B3EB-C685-4CE7B769FBAF}"/>
              </a:ext>
            </a:extLst>
          </p:cNvPr>
          <p:cNvCxnSpPr>
            <a:stCxn id="11" idx="0"/>
          </p:cNvCxnSpPr>
          <p:nvPr/>
        </p:nvCxnSpPr>
        <p:spPr>
          <a:xfrm flipH="1">
            <a:off x="2143539" y="2285237"/>
            <a:ext cx="20971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CA8EA33-B8E4-8DFD-7C3E-CDAA83ECA14A}"/>
              </a:ext>
            </a:extLst>
          </p:cNvPr>
          <p:cNvCxnSpPr>
            <a:endCxn id="10" idx="0"/>
          </p:cNvCxnSpPr>
          <p:nvPr/>
        </p:nvCxnSpPr>
        <p:spPr>
          <a:xfrm>
            <a:off x="2143539" y="2285237"/>
            <a:ext cx="1" cy="5407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C31ACF8-4EEA-92DA-780E-7AF7FEF522D9}"/>
              </a:ext>
            </a:extLst>
          </p:cNvPr>
          <p:cNvCxnSpPr>
            <a:stCxn id="10" idx="2"/>
          </p:cNvCxnSpPr>
          <p:nvPr/>
        </p:nvCxnSpPr>
        <p:spPr>
          <a:xfrm flipH="1">
            <a:off x="2143539" y="3925669"/>
            <a:ext cx="1" cy="6463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DF7175E0-6388-7331-5FEC-1976B7317D6C}"/>
              </a:ext>
            </a:extLst>
          </p:cNvPr>
          <p:cNvSpPr/>
          <p:nvPr/>
        </p:nvSpPr>
        <p:spPr>
          <a:xfrm>
            <a:off x="4230757" y="3385169"/>
            <a:ext cx="109993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Control Logic</a:t>
            </a:r>
            <a:endParaRPr lang="en-CA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A414627-F228-0F92-73D3-048581AEA4CF}"/>
              </a:ext>
            </a:extLst>
          </p:cNvPr>
          <p:cNvCxnSpPr>
            <a:endCxn id="11" idx="1"/>
          </p:cNvCxnSpPr>
          <p:nvPr/>
        </p:nvCxnSpPr>
        <p:spPr>
          <a:xfrm flipV="1">
            <a:off x="4597743" y="2925607"/>
            <a:ext cx="1" cy="4595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8D0C03C-C471-7203-BAB6-9884A0B72E2F}"/>
              </a:ext>
            </a:extLst>
          </p:cNvPr>
          <p:cNvCxnSpPr/>
          <p:nvPr/>
        </p:nvCxnSpPr>
        <p:spPr>
          <a:xfrm>
            <a:off x="5330687" y="3631095"/>
            <a:ext cx="4663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A60AC4A-5929-3F4E-546B-BB12A20DAF12}"/>
              </a:ext>
            </a:extLst>
          </p:cNvPr>
          <p:cNvSpPr txBox="1"/>
          <p:nvPr/>
        </p:nvSpPr>
        <p:spPr>
          <a:xfrm>
            <a:off x="170627" y="4097124"/>
            <a:ext cx="1972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Front-end: Next IP</a:t>
            </a:r>
            <a:endParaRPr lang="en-CA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CE449C6-1825-2CCE-61F7-4078C46A269D}"/>
              </a:ext>
            </a:extLst>
          </p:cNvPr>
          <p:cNvSpPr txBox="1"/>
          <p:nvPr/>
        </p:nvSpPr>
        <p:spPr>
          <a:xfrm>
            <a:off x="7993573" y="1168882"/>
            <a:ext cx="367827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The CPU chooses the deferred IRQ FIFO as the source of interrupts if there is any interrupt in the FIFO, otherwise the external interrupt feeds the branch-target buffer.</a:t>
            </a:r>
          </a:p>
          <a:p>
            <a:endParaRPr lang="en-US" sz="1400" dirty="0"/>
          </a:p>
          <a:p>
            <a:r>
              <a:rPr lang="en-US" sz="1400" dirty="0"/>
              <a:t>The incoming interrupt acts like a branch and directly changes the IP causing immediate fetch of ISR instructions.</a:t>
            </a:r>
          </a:p>
          <a:p>
            <a:endParaRPr lang="en-US" sz="1400" dirty="0"/>
          </a:p>
          <a:p>
            <a:r>
              <a:rPr lang="en-US" sz="1400" dirty="0"/>
              <a:t>However, if the IRQ should have been disabled, then it is recorded in the deferred FIFO and not immediately processed.</a:t>
            </a:r>
            <a:endParaRPr lang="en-CA" sz="1400" dirty="0"/>
          </a:p>
        </p:txBody>
      </p:sp>
    </p:spTree>
    <p:extLst>
      <p:ext uri="{BB962C8B-B14F-4D97-AF65-F5344CB8AC3E}">
        <p14:creationId xmlns:p14="http://schemas.microsoft.com/office/powerpoint/2010/main" val="17402652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BFCB2-3543-8727-BD1A-FD4EEE2C1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dirty="0"/>
              <a:t>Qupls4: MSI Interrupt Logging</a:t>
            </a:r>
            <a:endParaRPr lang="en-C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7940D5-5C93-AFE1-5403-5B46CE1C03C8}"/>
              </a:ext>
            </a:extLst>
          </p:cNvPr>
          <p:cNvSpPr/>
          <p:nvPr/>
        </p:nvSpPr>
        <p:spPr>
          <a:xfrm>
            <a:off x="1066800" y="1729409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  <a:endParaRPr lang="en-CA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8342D0-573C-A3CC-E890-0D7432020CEF}"/>
              </a:ext>
            </a:extLst>
          </p:cNvPr>
          <p:cNvSpPr/>
          <p:nvPr/>
        </p:nvSpPr>
        <p:spPr>
          <a:xfrm>
            <a:off x="2166730" y="1729409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  <a:endParaRPr lang="en-CA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BD70B6-D0C5-4FE8-E0A6-92A849C9FB56}"/>
              </a:ext>
            </a:extLst>
          </p:cNvPr>
          <p:cNvSpPr/>
          <p:nvPr/>
        </p:nvSpPr>
        <p:spPr>
          <a:xfrm>
            <a:off x="3266660" y="1729409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  <a:endParaRPr lang="en-CA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1D6EAB-7320-E8D4-0811-DE9F12D0CAC9}"/>
              </a:ext>
            </a:extLst>
          </p:cNvPr>
          <p:cNvSpPr/>
          <p:nvPr/>
        </p:nvSpPr>
        <p:spPr>
          <a:xfrm>
            <a:off x="4366590" y="1729409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  <a:endParaRPr lang="en-CA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2B5C6E-CDAD-C531-AD68-9A86D49CF3CA}"/>
              </a:ext>
            </a:extLst>
          </p:cNvPr>
          <p:cNvSpPr/>
          <p:nvPr/>
        </p:nvSpPr>
        <p:spPr>
          <a:xfrm>
            <a:off x="549966" y="3048000"/>
            <a:ext cx="4976192" cy="1722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Response Bus</a:t>
            </a:r>
            <a:endParaRPr lang="en-CA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038D99-29B0-1D5A-F2B9-508AA86F5C7C}"/>
              </a:ext>
            </a:extLst>
          </p:cNvPr>
          <p:cNvSpPr/>
          <p:nvPr/>
        </p:nvSpPr>
        <p:spPr>
          <a:xfrm>
            <a:off x="1066800" y="3637721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MSI Logger</a:t>
            </a:r>
            <a:endParaRPr lang="en-CA" dirty="0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C1DD14BF-A36C-B36C-9B10-DEC0C8DF2FBD}"/>
              </a:ext>
            </a:extLst>
          </p:cNvPr>
          <p:cNvSpPr/>
          <p:nvPr/>
        </p:nvSpPr>
        <p:spPr>
          <a:xfrm rot="10800000">
            <a:off x="4750904" y="2643809"/>
            <a:ext cx="159026" cy="40419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AD3BD51F-FDE3-6857-E16C-C97FB3DD1AF7}"/>
              </a:ext>
            </a:extLst>
          </p:cNvPr>
          <p:cNvSpPr/>
          <p:nvPr/>
        </p:nvSpPr>
        <p:spPr>
          <a:xfrm rot="10800000">
            <a:off x="3644347" y="2643809"/>
            <a:ext cx="159026" cy="40419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2938986F-D033-B536-907E-99F98DD2FCE6}"/>
              </a:ext>
            </a:extLst>
          </p:cNvPr>
          <p:cNvSpPr/>
          <p:nvPr/>
        </p:nvSpPr>
        <p:spPr>
          <a:xfrm rot="10800000">
            <a:off x="2537790" y="2627244"/>
            <a:ext cx="159026" cy="40419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A0F17E5A-00F3-EF79-44F0-CAF781A4017E}"/>
              </a:ext>
            </a:extLst>
          </p:cNvPr>
          <p:cNvSpPr/>
          <p:nvPr/>
        </p:nvSpPr>
        <p:spPr>
          <a:xfrm rot="10800000">
            <a:off x="1414669" y="2635527"/>
            <a:ext cx="159026" cy="40419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CA257354-8A98-1A24-4E5D-6367AF5F8DE9}"/>
              </a:ext>
            </a:extLst>
          </p:cNvPr>
          <p:cNvSpPr/>
          <p:nvPr/>
        </p:nvSpPr>
        <p:spPr>
          <a:xfrm>
            <a:off x="1414669" y="3233530"/>
            <a:ext cx="159026" cy="40419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2FDE72-575E-9BFE-48B7-9F31418F9506}"/>
              </a:ext>
            </a:extLst>
          </p:cNvPr>
          <p:cNvSpPr/>
          <p:nvPr/>
        </p:nvSpPr>
        <p:spPr>
          <a:xfrm>
            <a:off x="549965" y="4909930"/>
            <a:ext cx="2716695" cy="1855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Request Bus to Memory</a:t>
            </a:r>
            <a:endParaRPr lang="en-CA" dirty="0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23DCFC5C-634B-BB2D-9A98-BCF19D0C74E6}"/>
              </a:ext>
            </a:extLst>
          </p:cNvPr>
          <p:cNvSpPr/>
          <p:nvPr/>
        </p:nvSpPr>
        <p:spPr>
          <a:xfrm>
            <a:off x="1444487" y="4505739"/>
            <a:ext cx="159026" cy="40419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923CB6-42FE-CEB2-27EE-97703FCC73CD}"/>
              </a:ext>
            </a:extLst>
          </p:cNvPr>
          <p:cNvSpPr txBox="1"/>
          <p:nvPr/>
        </p:nvSpPr>
        <p:spPr>
          <a:xfrm>
            <a:off x="6162262" y="1703914"/>
            <a:ext cx="538700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MSI Interrupt Logger snoops the CPU response bus to detect interrupts and logs them to an area of memory.</a:t>
            </a:r>
          </a:p>
          <a:p>
            <a:endParaRPr lang="en-US" dirty="0"/>
          </a:p>
          <a:p>
            <a:r>
              <a:rPr lang="en-US" dirty="0"/>
              <a:t>The Logger acts as a bus master and is capable of filtering interrupts which were destined for a particular CPU.</a:t>
            </a:r>
          </a:p>
          <a:p>
            <a:endParaRPr lang="en-US" dirty="0"/>
          </a:p>
          <a:p>
            <a:r>
              <a:rPr lang="en-US" dirty="0"/>
              <a:t>It may also filter responses based on interrupt priority level.</a:t>
            </a:r>
            <a:endParaRPr lang="en-CA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4DD4853-54EE-82EA-EB3A-DD561334A62B}"/>
              </a:ext>
            </a:extLst>
          </p:cNvPr>
          <p:cNvSpPr txBox="1"/>
          <p:nvPr/>
        </p:nvSpPr>
        <p:spPr>
          <a:xfrm>
            <a:off x="1494181" y="3331859"/>
            <a:ext cx="80182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Snoop bus</a:t>
            </a:r>
            <a:endParaRPr lang="en-CA" sz="1000" dirty="0"/>
          </a:p>
        </p:txBody>
      </p:sp>
    </p:spTree>
    <p:extLst>
      <p:ext uri="{BB962C8B-B14F-4D97-AF65-F5344CB8AC3E}">
        <p14:creationId xmlns:p14="http://schemas.microsoft.com/office/powerpoint/2010/main" val="3789913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8446</TotalTime>
  <Words>1444</Words>
  <Application>Microsoft Office PowerPoint</Application>
  <PresentationFormat>Widescreen</PresentationFormat>
  <Paragraphs>352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Qupls4: Instruction Cache</vt:lpstr>
      <vt:lpstr>Qupls4: Instruction Fetch Stage (*_fet)</vt:lpstr>
      <vt:lpstr>Qupls4: Instruction Extract Stage (*_mux)</vt:lpstr>
      <vt:lpstr>Qupls4: Decode Stage (*_dec)</vt:lpstr>
      <vt:lpstr>Qupls4: Decode Stage (more)</vt:lpstr>
      <vt:lpstr>Qupls4: Rename Stage (*_ren)</vt:lpstr>
      <vt:lpstr>Qupls4: Execute Stage</vt:lpstr>
      <vt:lpstr>Qupls4: Reservation Stations</vt:lpstr>
      <vt:lpstr>PowerPoint Presentation</vt:lpstr>
      <vt:lpstr>Qupls4: External Interrupt Handling</vt:lpstr>
      <vt:lpstr>Qupls4: MSI Interrupt Logging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 Finch</dc:creator>
  <cp:lastModifiedBy>Robert Finch</cp:lastModifiedBy>
  <cp:revision>3</cp:revision>
  <dcterms:created xsi:type="dcterms:W3CDTF">2025-04-28T15:04:58Z</dcterms:created>
  <dcterms:modified xsi:type="dcterms:W3CDTF">2025-12-01T12:31:43Z</dcterms:modified>
</cp:coreProperties>
</file>