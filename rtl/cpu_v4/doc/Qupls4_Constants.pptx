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232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926D-FDB1-CC4F-2D22-954C286A2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F9568A-8BC7-AE58-244C-0B672BCC9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5A0AF-D585-587E-9064-132C8355C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BEEBA-E432-4074-A456-287C5ED1D19C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602EC-5D33-93AD-68F4-922134429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B163E-B4D9-484E-C449-73490B3A6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FA466-DAA0-4DD3-83F3-E3C55721E9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6066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B78B9-058B-D437-0028-85CBE2A7F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97EFD-E2E7-2F9C-B5F0-F0A4116F6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FF7F4-49B2-3EBF-484C-1D9BB659E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BEEBA-E432-4074-A456-287C5ED1D19C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7CC41-1FB4-1F92-0698-B3A0B1305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80CE5-379D-3175-B1DC-CE7C1A1E9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FA466-DAA0-4DD3-83F3-E3C55721E9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9177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E37B9-FF9A-2FB5-2C70-BB5DFA54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4B869-9F8A-6200-6585-94881B19F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1726F-264C-073F-F01E-E9BBC5D86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BEEBA-E432-4074-A456-287C5ED1D19C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40954-FEE2-D1A0-79F3-DC775D0BE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A09F4-1691-F638-027A-1258E7EC8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FA466-DAA0-4DD3-83F3-E3C55721E9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226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EDC3D-E0F9-2323-DB1C-B0270A2EF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B1ED2-8F6C-AF77-3CF0-CE936F4E10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FF28F-860B-E75E-B7B8-C4BBDA185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029A2-D2D2-AC23-DF18-8961F7C5C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BEEBA-E432-4074-A456-287C5ED1D19C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1C1A9-A927-3F6F-7607-8EC36166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A3EED-583B-AA89-2FFC-46AAD248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FA466-DAA0-4DD3-83F3-E3C55721E9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2628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4107-74F1-9CDF-21BA-2D2358690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85354-381C-BB0D-7A70-2927B3C9E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2701C-AD38-AE43-DC81-91D68EFEC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F286B2-07DC-908D-95C4-DF11D78BB0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410120-BDB3-4008-0F38-194D8580D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057707-46F2-0D8C-3C87-D07E0E45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BEEBA-E432-4074-A456-287C5ED1D19C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D10C65-9D66-E9E7-FE59-F33B07EC2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81ED89-1018-023E-F761-FBEAC8AC2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FA466-DAA0-4DD3-83F3-E3C55721E9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9448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B5424-1D2C-E56B-1AA0-DD453FC73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5CC458-B404-2C0D-5771-B2F898A92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BEEBA-E432-4074-A456-287C5ED1D19C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7989A-B3AF-3BDF-BD1E-574ACB84F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1B180-879D-8E48-7626-24E79CCDD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FA466-DAA0-4DD3-83F3-E3C55721E9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3663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D6E470-2446-B649-99B1-C6AA02B60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BEEBA-E432-4074-A456-287C5ED1D19C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67B02D-C4A1-A2C0-5404-119A4798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18520-1F89-2AC2-AFF8-9CBB8BB82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FA466-DAA0-4DD3-83F3-E3C55721E9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3976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F6DF0-20E6-44C9-ECFB-35BDC988D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FCA75-D319-A835-1218-326628EE3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B9E7B-DC86-229C-91A8-59CE0DCE2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DB57A-9238-6686-D230-CA70327B1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BEEBA-E432-4074-A456-287C5ED1D19C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99ADB-BC8A-133A-1496-3B447A46A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875E3-AE94-315F-35FE-3E5D99B84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FA466-DAA0-4DD3-83F3-E3C55721E9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5259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F74CA-151F-263D-EE64-3E039866C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EEFA2-9E36-22C1-641D-6ADF6E82A7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F60AB-054D-8A2C-63DA-41974D4C0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90FE3-2BA4-BC2C-C820-D3DB51962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BEEBA-E432-4074-A456-287C5ED1D19C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CCA8E-E96E-04B9-9E5B-B71F7784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439B6-4B29-03F4-1891-F2A8314CC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FA466-DAA0-4DD3-83F3-E3C55721E9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088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FDBBA-0657-10EE-DDBF-A3346E07C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146B7-05D9-7FB4-75A7-01F1801E9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AF900-EA08-BD47-AC83-AD149A0BF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BEEBA-E432-4074-A456-287C5ED1D19C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9FA79-7067-B80E-49D5-E561C42B9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08082-108F-5BF6-1296-1B88926F6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FA466-DAA0-4DD3-83F3-E3C55721E9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431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0EE6B1-7BA9-E984-3F0E-7B60D2C7C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908D1-5260-1D20-D765-E85248AF5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02DF5-8072-9556-D43B-17386FDE7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BEEBA-E432-4074-A456-287C5ED1D19C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B9926-DF48-9ABC-3FEE-1CC80EC9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C2A9C-F154-9F2C-FD08-4A89CEC6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FA466-DAA0-4DD3-83F3-E3C55721E9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361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3CADB-B4D6-DD3C-7DA4-90C87D854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F0A17-4E06-436E-1136-AD878AFF6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45C06-BE86-FC2F-0A62-0F7717ECE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BEEBA-E432-4074-A456-287C5ED1D19C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D6DC4-FAC0-76CE-C26C-003CE8BF4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1003E-82BF-0540-45CF-44BCDFB1F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FA466-DAA0-4DD3-83F3-E3C55721E9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523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32A3-C320-F19C-47D2-090AEC2E2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06" y="60045"/>
            <a:ext cx="9144000" cy="935037"/>
          </a:xfrm>
        </p:spPr>
        <p:txBody>
          <a:bodyPr/>
          <a:lstStyle/>
          <a:p>
            <a:pPr algn="l"/>
            <a:r>
              <a:rPr lang="en-US" dirty="0"/>
              <a:t>Qupls4: Constants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233DD-FB4B-F5FB-06D6-C6CDE3AD0096}"/>
              </a:ext>
            </a:extLst>
          </p:cNvPr>
          <p:cNvSpPr txBox="1"/>
          <p:nvPr/>
        </p:nvSpPr>
        <p:spPr>
          <a:xfrm>
            <a:off x="1033670" y="995082"/>
            <a:ext cx="601440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Small constants are often embedded in the instruction.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6-bits for arithmetic type instructions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16-bits for arithmetic immediate mode type instructions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16-bits for scalar load / store displacements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6-bits for vector load / store displacements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FCC91-762D-79E7-E168-3C95B21C7322}"/>
              </a:ext>
            </a:extLst>
          </p:cNvPr>
          <p:cNvSpPr txBox="1"/>
          <p:nvPr/>
        </p:nvSpPr>
        <p:spPr>
          <a:xfrm>
            <a:off x="1033670" y="2580925"/>
            <a:ext cx="9599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a larger constant is needed it follows the instruction on the cache-line in a constant zone.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08DC7-72AC-8428-B569-047EFC0B5A73}"/>
              </a:ext>
            </a:extLst>
          </p:cNvPr>
          <p:cNvSpPr txBox="1"/>
          <p:nvPr/>
        </p:nvSpPr>
        <p:spPr>
          <a:xfrm>
            <a:off x="605183" y="3058772"/>
            <a:ext cx="1009373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Constant Zones</a:t>
            </a:r>
          </a:p>
          <a:p>
            <a:pPr lvl="1"/>
            <a:r>
              <a:rPr lang="en-US" dirty="0"/>
              <a:t>Constant zones are special NOP instructions that contain constant data. Multiple constant zones may be concatenated together to form a much larger zone. A constant zone up to 240 bits in size is possible (six zone instructions).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326F4A-C7B3-DB60-0E13-D973D65092DB}"/>
              </a:ext>
            </a:extLst>
          </p:cNvPr>
          <p:cNvSpPr/>
          <p:nvPr/>
        </p:nvSpPr>
        <p:spPr>
          <a:xfrm>
            <a:off x="3560418" y="4659500"/>
            <a:ext cx="1590260" cy="27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Zone</a:t>
            </a:r>
            <a:r>
              <a:rPr lang="en-US" sz="1200" baseline="-25000" dirty="0"/>
              <a:t>40</a:t>
            </a:r>
            <a:endParaRPr lang="en-CA" sz="1200" baseline="-25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D5F990-645A-9BD0-1AE9-0796DBD36BFB}"/>
              </a:ext>
            </a:extLst>
          </p:cNvPr>
          <p:cNvSpPr/>
          <p:nvPr/>
        </p:nvSpPr>
        <p:spPr>
          <a:xfrm>
            <a:off x="5150678" y="4659500"/>
            <a:ext cx="561010" cy="27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NOP</a:t>
            </a:r>
            <a:r>
              <a:rPr lang="en-US" sz="1200" baseline="-25000" dirty="0"/>
              <a:t>8</a:t>
            </a:r>
            <a:endParaRPr lang="en-CA" sz="1200" baseline="-25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7E641B-FB45-503D-2D16-0944DC13BA00}"/>
              </a:ext>
            </a:extLst>
          </p:cNvPr>
          <p:cNvSpPr/>
          <p:nvPr/>
        </p:nvSpPr>
        <p:spPr>
          <a:xfrm>
            <a:off x="5711688" y="4659500"/>
            <a:ext cx="1590260" cy="27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Zone</a:t>
            </a:r>
            <a:r>
              <a:rPr lang="en-US" sz="1200" baseline="-25000" dirty="0"/>
              <a:t>40</a:t>
            </a:r>
            <a:endParaRPr lang="en-CA" sz="1200" baseline="-25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7B7239-4B18-BB27-DDE9-9ECC6EBDF477}"/>
              </a:ext>
            </a:extLst>
          </p:cNvPr>
          <p:cNvSpPr/>
          <p:nvPr/>
        </p:nvSpPr>
        <p:spPr>
          <a:xfrm>
            <a:off x="7301948" y="4659500"/>
            <a:ext cx="561010" cy="27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NOP</a:t>
            </a:r>
            <a:r>
              <a:rPr lang="en-US" sz="1200" baseline="-25000" dirty="0"/>
              <a:t>8</a:t>
            </a:r>
            <a:endParaRPr lang="en-CA" sz="1200" baseline="-25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DB8B7D-E0A3-07B6-81CB-473E67193E86}"/>
              </a:ext>
            </a:extLst>
          </p:cNvPr>
          <p:cNvSpPr/>
          <p:nvPr/>
        </p:nvSpPr>
        <p:spPr>
          <a:xfrm>
            <a:off x="7862958" y="4659500"/>
            <a:ext cx="1590260" cy="27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Zone</a:t>
            </a:r>
            <a:r>
              <a:rPr lang="en-US" sz="1200" baseline="-25000" dirty="0"/>
              <a:t>40</a:t>
            </a:r>
            <a:endParaRPr lang="en-CA" sz="1200" baseline="-25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4662A3-F4ED-0A17-9D86-C2101E80532E}"/>
              </a:ext>
            </a:extLst>
          </p:cNvPr>
          <p:cNvSpPr/>
          <p:nvPr/>
        </p:nvSpPr>
        <p:spPr>
          <a:xfrm>
            <a:off x="9453218" y="4659500"/>
            <a:ext cx="561010" cy="27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NOP</a:t>
            </a:r>
            <a:r>
              <a:rPr lang="en-US" sz="1200" baseline="-25000" dirty="0"/>
              <a:t>8</a:t>
            </a:r>
            <a:endParaRPr lang="en-CA" sz="1200" baseline="-25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4FBA91-BC64-99B6-19BE-D4BC810B1682}"/>
              </a:ext>
            </a:extLst>
          </p:cNvPr>
          <p:cNvSpPr/>
          <p:nvPr/>
        </p:nvSpPr>
        <p:spPr>
          <a:xfrm>
            <a:off x="1409148" y="4659500"/>
            <a:ext cx="1590260" cy="27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Instr</a:t>
            </a:r>
            <a:r>
              <a:rPr lang="en-US" sz="1200" baseline="-25000" dirty="0"/>
              <a:t>41</a:t>
            </a:r>
            <a:endParaRPr lang="en-CA" sz="1200" baseline="-25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7F8FA1-809A-DC9D-A795-C357D41F98AB}"/>
              </a:ext>
            </a:extLst>
          </p:cNvPr>
          <p:cNvSpPr/>
          <p:nvPr/>
        </p:nvSpPr>
        <p:spPr>
          <a:xfrm>
            <a:off x="2999408" y="4659500"/>
            <a:ext cx="561010" cy="27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OP</a:t>
            </a:r>
            <a:r>
              <a:rPr lang="en-US" sz="1200" baseline="-25000" dirty="0"/>
              <a:t>7</a:t>
            </a:r>
            <a:endParaRPr lang="en-CA" sz="1200" baseline="-25000" dirty="0"/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E375AFF0-87F9-30D9-223E-45E288D31478}"/>
              </a:ext>
            </a:extLst>
          </p:cNvPr>
          <p:cNvCxnSpPr>
            <a:cxnSpLocks/>
            <a:stCxn id="13" idx="0"/>
            <a:endCxn id="7" idx="0"/>
          </p:cNvCxnSpPr>
          <p:nvPr/>
        </p:nvCxnSpPr>
        <p:spPr>
          <a:xfrm rot="5400000" flipH="1" flipV="1">
            <a:off x="3279913" y="3583865"/>
            <a:ext cx="12700" cy="215127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90E038A-CE29-71CC-392B-1B2B8C0EF8B7}"/>
              </a:ext>
            </a:extLst>
          </p:cNvPr>
          <p:cNvCxnSpPr/>
          <p:nvPr/>
        </p:nvCxnSpPr>
        <p:spPr>
          <a:xfrm>
            <a:off x="3279913" y="4428277"/>
            <a:ext cx="585305" cy="22487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BEFC3B3D-837B-9C1D-553D-C12003170D95}"/>
              </a:ext>
            </a:extLst>
          </p:cNvPr>
          <p:cNvCxnSpPr>
            <a:cxnSpLocks/>
            <a:stCxn id="13" idx="0"/>
            <a:endCxn id="9" idx="0"/>
          </p:cNvCxnSpPr>
          <p:nvPr/>
        </p:nvCxnSpPr>
        <p:spPr>
          <a:xfrm rot="5400000" flipH="1" flipV="1">
            <a:off x="4355548" y="2508230"/>
            <a:ext cx="12700" cy="430254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99F6E4F-7820-6B82-ACC7-C0A97B13DC55}"/>
              </a:ext>
            </a:extLst>
          </p:cNvPr>
          <p:cNvSpPr txBox="1"/>
          <p:nvPr/>
        </p:nvSpPr>
        <p:spPr>
          <a:xfrm>
            <a:off x="855692" y="5028832"/>
            <a:ext cx="113363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Instructions contain six-bit codes for referencing constants in the constant zone following the instruction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bits indicate the size of the constant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Four bits indicate the offset of the constant in the combined zone, the constant offsets are multiples of 16-bits.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single instruction may reference multiple constants in the zone.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may be more than one constant in a zone instruction.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Constants may span multiple zone instructions.</a:t>
            </a:r>
            <a:endParaRPr lang="en-CA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4F7E26-CF43-DFD1-3C2E-3025FE1516C2}"/>
              </a:ext>
            </a:extLst>
          </p:cNvPr>
          <p:cNvSpPr txBox="1"/>
          <p:nvPr/>
        </p:nvSpPr>
        <p:spPr>
          <a:xfrm>
            <a:off x="10014228" y="461398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64802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D1494-DFB8-DF3A-14DF-5B8DABBAB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36" y="86829"/>
            <a:ext cx="10515600" cy="880969"/>
          </a:xfrm>
        </p:spPr>
        <p:txBody>
          <a:bodyPr/>
          <a:lstStyle/>
          <a:p>
            <a:r>
              <a:rPr lang="en-US" dirty="0"/>
              <a:t>Qupls4: Constants</a:t>
            </a:r>
            <a:endParaRPr lang="en-C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C33378-CD05-51B3-9D18-723EF023F58C}"/>
              </a:ext>
            </a:extLst>
          </p:cNvPr>
          <p:cNvSpPr txBox="1"/>
          <p:nvPr/>
        </p:nvSpPr>
        <p:spPr>
          <a:xfrm>
            <a:off x="631770" y="1255135"/>
            <a:ext cx="5736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Constants in the zone may be 16,32,48 or 64-bits in size.</a:t>
            </a:r>
            <a:endParaRPr lang="en-CA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E0BB2D-6C67-3220-E89A-01F461C1BDD5}"/>
              </a:ext>
            </a:extLst>
          </p:cNvPr>
          <p:cNvSpPr/>
          <p:nvPr/>
        </p:nvSpPr>
        <p:spPr>
          <a:xfrm>
            <a:off x="1219314" y="2562587"/>
            <a:ext cx="1590260" cy="27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Zone</a:t>
            </a:r>
            <a:r>
              <a:rPr lang="en-US" sz="1200" baseline="-25000" dirty="0"/>
              <a:t>40</a:t>
            </a:r>
            <a:endParaRPr lang="en-CA" sz="1200" baseline="-250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5BC3D8-82C8-8638-6C5C-B40EC23F479C}"/>
              </a:ext>
            </a:extLst>
          </p:cNvPr>
          <p:cNvSpPr/>
          <p:nvPr/>
        </p:nvSpPr>
        <p:spPr>
          <a:xfrm>
            <a:off x="2809574" y="2562587"/>
            <a:ext cx="561010" cy="27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NOP</a:t>
            </a:r>
            <a:r>
              <a:rPr lang="en-US" sz="1200" baseline="-25000" dirty="0"/>
              <a:t>8</a:t>
            </a:r>
            <a:endParaRPr lang="en-CA" sz="1200" baseline="-25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130566-FC7A-858E-06D7-B638739CC0CE}"/>
              </a:ext>
            </a:extLst>
          </p:cNvPr>
          <p:cNvSpPr/>
          <p:nvPr/>
        </p:nvSpPr>
        <p:spPr>
          <a:xfrm>
            <a:off x="3370584" y="2562587"/>
            <a:ext cx="1590260" cy="27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Zone</a:t>
            </a:r>
            <a:r>
              <a:rPr lang="en-US" sz="1200" baseline="-25000" dirty="0"/>
              <a:t>40</a:t>
            </a:r>
            <a:endParaRPr lang="en-CA" sz="1200" baseline="-25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9E3A189-2C59-56C5-301E-384F145865FE}"/>
              </a:ext>
            </a:extLst>
          </p:cNvPr>
          <p:cNvSpPr/>
          <p:nvPr/>
        </p:nvSpPr>
        <p:spPr>
          <a:xfrm>
            <a:off x="4960844" y="2562587"/>
            <a:ext cx="561010" cy="27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NOP</a:t>
            </a:r>
            <a:r>
              <a:rPr lang="en-US" sz="1200" baseline="-25000" dirty="0"/>
              <a:t>8</a:t>
            </a:r>
            <a:endParaRPr lang="en-CA" sz="1200" baseline="-25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95C6C7-A7B8-5CA1-8627-F94C9D69A42C}"/>
              </a:ext>
            </a:extLst>
          </p:cNvPr>
          <p:cNvSpPr/>
          <p:nvPr/>
        </p:nvSpPr>
        <p:spPr>
          <a:xfrm>
            <a:off x="5521854" y="2562587"/>
            <a:ext cx="1590260" cy="27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Zone</a:t>
            </a:r>
            <a:r>
              <a:rPr lang="en-US" sz="1200" baseline="-25000" dirty="0"/>
              <a:t>40</a:t>
            </a:r>
            <a:endParaRPr lang="en-CA" sz="1200" baseline="-25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CDE889-9415-B16E-6812-4AAF36CFF7BB}"/>
              </a:ext>
            </a:extLst>
          </p:cNvPr>
          <p:cNvSpPr/>
          <p:nvPr/>
        </p:nvSpPr>
        <p:spPr>
          <a:xfrm>
            <a:off x="7112114" y="2562587"/>
            <a:ext cx="561010" cy="27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NOP</a:t>
            </a:r>
            <a:r>
              <a:rPr lang="en-US" sz="1200" baseline="-25000" dirty="0"/>
              <a:t>8</a:t>
            </a:r>
            <a:endParaRPr lang="en-CA" sz="1200" baseline="-25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AAC239-36F4-078B-A280-0CDC87370B7F}"/>
              </a:ext>
            </a:extLst>
          </p:cNvPr>
          <p:cNvSpPr/>
          <p:nvPr/>
        </p:nvSpPr>
        <p:spPr>
          <a:xfrm>
            <a:off x="7673124" y="2562587"/>
            <a:ext cx="1590260" cy="27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Zone</a:t>
            </a:r>
            <a:r>
              <a:rPr lang="en-US" sz="1200" baseline="-25000" dirty="0"/>
              <a:t>40</a:t>
            </a:r>
            <a:endParaRPr lang="en-CA" sz="1200" baseline="-25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4F3DAF-DE55-8E8D-05E0-D781AC98D521}"/>
              </a:ext>
            </a:extLst>
          </p:cNvPr>
          <p:cNvSpPr/>
          <p:nvPr/>
        </p:nvSpPr>
        <p:spPr>
          <a:xfrm>
            <a:off x="9263384" y="2562587"/>
            <a:ext cx="561010" cy="27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NOP</a:t>
            </a:r>
            <a:r>
              <a:rPr lang="en-US" sz="1200" baseline="-25000" dirty="0"/>
              <a:t>8</a:t>
            </a:r>
            <a:endParaRPr lang="en-CA" sz="1200" baseline="-250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000209-72F6-3B71-1DCC-135E8A87ADB8}"/>
              </a:ext>
            </a:extLst>
          </p:cNvPr>
          <p:cNvSpPr/>
          <p:nvPr/>
        </p:nvSpPr>
        <p:spPr>
          <a:xfrm>
            <a:off x="1493468" y="3342257"/>
            <a:ext cx="7822809" cy="27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Zone</a:t>
            </a:r>
            <a:r>
              <a:rPr lang="en-US" sz="1200" baseline="-25000" dirty="0"/>
              <a:t>160</a:t>
            </a:r>
            <a:endParaRPr lang="en-CA" sz="1200" baseline="-250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F4445B6-6A73-0DDA-6C86-46660F1970FA}"/>
              </a:ext>
            </a:extLst>
          </p:cNvPr>
          <p:cNvCxnSpPr>
            <a:stCxn id="22" idx="2"/>
          </p:cNvCxnSpPr>
          <p:nvPr/>
        </p:nvCxnSpPr>
        <p:spPr>
          <a:xfrm>
            <a:off x="2014444" y="2840883"/>
            <a:ext cx="375365" cy="501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12D3DC2-4D23-BF06-6CCF-09B625EC2D4C}"/>
              </a:ext>
            </a:extLst>
          </p:cNvPr>
          <p:cNvCxnSpPr>
            <a:stCxn id="24" idx="2"/>
          </p:cNvCxnSpPr>
          <p:nvPr/>
        </p:nvCxnSpPr>
        <p:spPr>
          <a:xfrm>
            <a:off x="4165714" y="2840883"/>
            <a:ext cx="0" cy="501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0B26A27-0930-1751-8F57-9BE1360FFE59}"/>
              </a:ext>
            </a:extLst>
          </p:cNvPr>
          <p:cNvCxnSpPr>
            <a:stCxn id="26" idx="2"/>
          </p:cNvCxnSpPr>
          <p:nvPr/>
        </p:nvCxnSpPr>
        <p:spPr>
          <a:xfrm>
            <a:off x="6316984" y="2840883"/>
            <a:ext cx="0" cy="501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7CAE0B7-F392-FBA5-1A98-F3CA8BC0B775}"/>
              </a:ext>
            </a:extLst>
          </p:cNvPr>
          <p:cNvCxnSpPr>
            <a:stCxn id="28" idx="2"/>
          </p:cNvCxnSpPr>
          <p:nvPr/>
        </p:nvCxnSpPr>
        <p:spPr>
          <a:xfrm flipH="1">
            <a:off x="8026400" y="2840883"/>
            <a:ext cx="441854" cy="501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6E8B575-1E62-06F6-7431-9DF3A177CFBD}"/>
              </a:ext>
            </a:extLst>
          </p:cNvPr>
          <p:cNvCxnSpPr/>
          <p:nvPr/>
        </p:nvCxnSpPr>
        <p:spPr>
          <a:xfrm>
            <a:off x="3065670" y="3342257"/>
            <a:ext cx="0" cy="2782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E452964-2DD2-B79A-69C0-A09DF9277097}"/>
              </a:ext>
            </a:extLst>
          </p:cNvPr>
          <p:cNvCxnSpPr/>
          <p:nvPr/>
        </p:nvCxnSpPr>
        <p:spPr>
          <a:xfrm>
            <a:off x="5139636" y="3342257"/>
            <a:ext cx="0" cy="2782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9E049B0-EE8F-2D79-7132-B66678E4C3D3}"/>
              </a:ext>
            </a:extLst>
          </p:cNvPr>
          <p:cNvCxnSpPr/>
          <p:nvPr/>
        </p:nvCxnSpPr>
        <p:spPr>
          <a:xfrm>
            <a:off x="7202557" y="3342257"/>
            <a:ext cx="0" cy="2782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E6714DD-6054-A853-1338-43EA0B3B1B87}"/>
              </a:ext>
            </a:extLst>
          </p:cNvPr>
          <p:cNvSpPr txBox="1"/>
          <p:nvPr/>
        </p:nvSpPr>
        <p:spPr>
          <a:xfrm>
            <a:off x="631770" y="1636345"/>
            <a:ext cx="10182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Constant zones are concatenated together by the CPU to form a large zone that may be indexed into.</a:t>
            </a:r>
          </a:p>
          <a:p>
            <a:r>
              <a:rPr lang="en-US" dirty="0"/>
              <a:t>The combined zone may be up to 240-bits in size. This is enough room for 3x64 plus 1x48 bit constant.</a:t>
            </a:r>
            <a:endParaRPr lang="en-CA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FC45AB6-C101-2143-25BC-43AFC6966EB6}"/>
              </a:ext>
            </a:extLst>
          </p:cNvPr>
          <p:cNvSpPr/>
          <p:nvPr/>
        </p:nvSpPr>
        <p:spPr>
          <a:xfrm>
            <a:off x="1493467" y="4539371"/>
            <a:ext cx="7822809" cy="27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Zone</a:t>
            </a:r>
            <a:r>
              <a:rPr lang="en-US" sz="1200" baseline="-25000" dirty="0"/>
              <a:t>160</a:t>
            </a:r>
            <a:endParaRPr lang="en-CA" sz="1200" baseline="-25000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BA28DBA-4724-856B-06CB-1C50FA56E02F}"/>
              </a:ext>
            </a:extLst>
          </p:cNvPr>
          <p:cNvCxnSpPr/>
          <p:nvPr/>
        </p:nvCxnSpPr>
        <p:spPr>
          <a:xfrm>
            <a:off x="3065669" y="4539371"/>
            <a:ext cx="0" cy="2782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1B9148-4732-FAB7-05EA-382BCA619243}"/>
              </a:ext>
            </a:extLst>
          </p:cNvPr>
          <p:cNvCxnSpPr/>
          <p:nvPr/>
        </p:nvCxnSpPr>
        <p:spPr>
          <a:xfrm>
            <a:off x="5139635" y="4539371"/>
            <a:ext cx="0" cy="2782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5774F17-6F04-9E54-E546-F5E8169608BE}"/>
              </a:ext>
            </a:extLst>
          </p:cNvPr>
          <p:cNvCxnSpPr/>
          <p:nvPr/>
        </p:nvCxnSpPr>
        <p:spPr>
          <a:xfrm>
            <a:off x="7202556" y="4539371"/>
            <a:ext cx="0" cy="2782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BCA7A62-B3C8-AA00-C0E2-512DA443E3A5}"/>
              </a:ext>
            </a:extLst>
          </p:cNvPr>
          <p:cNvSpPr txBox="1"/>
          <p:nvPr/>
        </p:nvSpPr>
        <p:spPr>
          <a:xfrm>
            <a:off x="707523" y="3825722"/>
            <a:ext cx="8515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Constants may span zone instructions and are always 16-bit aligned within the zone.</a:t>
            </a:r>
            <a:endParaRPr lang="en-CA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7645F46-F396-7FC9-8A2F-D9C32F8FE251}"/>
              </a:ext>
            </a:extLst>
          </p:cNvPr>
          <p:cNvSpPr/>
          <p:nvPr/>
        </p:nvSpPr>
        <p:spPr>
          <a:xfrm>
            <a:off x="1493467" y="4400223"/>
            <a:ext cx="2442815" cy="278296"/>
          </a:xfrm>
          <a:prstGeom prst="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Constant</a:t>
            </a:r>
            <a:r>
              <a:rPr lang="en-US" sz="1200" baseline="-25000" dirty="0"/>
              <a:t>64</a:t>
            </a:r>
            <a:endParaRPr lang="en-CA" sz="1200" baseline="-250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43DF082-E3C4-7B84-3280-675B80D5B188}"/>
              </a:ext>
            </a:extLst>
          </p:cNvPr>
          <p:cNvSpPr/>
          <p:nvPr/>
        </p:nvSpPr>
        <p:spPr>
          <a:xfrm>
            <a:off x="3936283" y="4400223"/>
            <a:ext cx="1203352" cy="278296"/>
          </a:xfrm>
          <a:prstGeom prst="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Constant</a:t>
            </a:r>
            <a:r>
              <a:rPr lang="en-US" sz="1200" baseline="-25000" dirty="0"/>
              <a:t>16</a:t>
            </a:r>
            <a:endParaRPr lang="en-CA" sz="1200" baseline="-250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96C4147-CD82-ADC5-6C5C-FD3ABE8F0D23}"/>
              </a:ext>
            </a:extLst>
          </p:cNvPr>
          <p:cNvSpPr/>
          <p:nvPr/>
        </p:nvSpPr>
        <p:spPr>
          <a:xfrm>
            <a:off x="5128590" y="4400223"/>
            <a:ext cx="1203352" cy="278296"/>
          </a:xfrm>
          <a:prstGeom prst="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Constant</a:t>
            </a:r>
            <a:r>
              <a:rPr lang="en-US" sz="1200" baseline="-25000" dirty="0"/>
              <a:t>16</a:t>
            </a:r>
            <a:endParaRPr lang="en-CA" sz="1200" baseline="-250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1BA13FB-B2C1-F03E-11E3-F99E2743D35C}"/>
              </a:ext>
            </a:extLst>
          </p:cNvPr>
          <p:cNvSpPr/>
          <p:nvPr/>
        </p:nvSpPr>
        <p:spPr>
          <a:xfrm>
            <a:off x="6313886" y="4400223"/>
            <a:ext cx="3002389" cy="278296"/>
          </a:xfrm>
          <a:prstGeom prst="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Constant</a:t>
            </a:r>
            <a:r>
              <a:rPr lang="en-US" sz="1200" baseline="-25000" dirty="0"/>
              <a:t>64</a:t>
            </a:r>
            <a:endParaRPr lang="en-CA" sz="1200" baseline="-25000" dirty="0"/>
          </a:p>
        </p:txBody>
      </p:sp>
    </p:spTree>
    <p:extLst>
      <p:ext uri="{BB962C8B-B14F-4D97-AF65-F5344CB8AC3E}">
        <p14:creationId xmlns:p14="http://schemas.microsoft.com/office/powerpoint/2010/main" val="35305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265</Words>
  <Application>Microsoft Office PowerPoint</Application>
  <PresentationFormat>Widescreen</PresentationFormat>
  <Paragraphs>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Qupls4: Constants</vt:lpstr>
      <vt:lpstr>Qupls4: Constants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Finch</dc:creator>
  <cp:lastModifiedBy>Robert Finch</cp:lastModifiedBy>
  <cp:revision>1</cp:revision>
  <dcterms:created xsi:type="dcterms:W3CDTF">2025-11-22T21:47:09Z</dcterms:created>
  <dcterms:modified xsi:type="dcterms:W3CDTF">2025-11-22T22:34:11Z</dcterms:modified>
</cp:coreProperties>
</file>